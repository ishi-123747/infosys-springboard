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Lst>
  <p:sldSz cx="18288000" cy="10287000"/>
  <p:notesSz cx="6858000" cy="9144000"/>
  <p:embeddedFontLst>
    <p:embeddedFont>
      <p:font typeface="Lilita One" charset="1" panose="02000000000000000000"/>
      <p:regular r:id="rId16"/>
    </p:embeddedFont>
    <p:embeddedFont>
      <p:font typeface="Poppins Bold" charset="1" panose="00000800000000000000"/>
      <p:regular r:id="rId17"/>
    </p:embeddedFont>
    <p:embeddedFont>
      <p:font typeface="Poppins" charset="1" panose="00000500000000000000"/>
      <p:regular r:id="rId18"/>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fonts/font16.fntdata" Type="http://schemas.openxmlformats.org/officeDocument/2006/relationships/font"/><Relationship Id="rId17" Target="fonts/font17.fntdata" Type="http://schemas.openxmlformats.org/officeDocument/2006/relationships/font"/><Relationship Id="rId18" Target="fonts/font18.fntdata" Type="http://schemas.openxmlformats.org/officeDocument/2006/relationships/font"/><Relationship Id="rId2" Target="presProps.xml" Type="http://schemas.openxmlformats.org/officeDocument/2006/relationships/presProps"/><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pn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1.png" Type="http://schemas.openxmlformats.org/officeDocument/2006/relationships/image"/><Relationship Id="rId11" Target="../media/image12.svg" Type="http://schemas.openxmlformats.org/officeDocument/2006/relationships/image"/><Relationship Id="rId12" Target="../media/image13.png" Type="http://schemas.openxmlformats.org/officeDocument/2006/relationships/image"/><Relationship Id="rId13" Target="../media/image14.svg" Type="http://schemas.openxmlformats.org/officeDocument/2006/relationships/image"/><Relationship Id="rId2" Target="../media/image1.png" Type="http://schemas.openxmlformats.org/officeDocument/2006/relationships/image"/><Relationship Id="rId3" Target="../media/image2.svg" Type="http://schemas.openxmlformats.org/officeDocument/2006/relationships/image"/><Relationship Id="rId4" Target="../media/image7.png" Type="http://schemas.openxmlformats.org/officeDocument/2006/relationships/image"/><Relationship Id="rId5" Target="../media/image8.svg" Type="http://schemas.openxmlformats.org/officeDocument/2006/relationships/image"/><Relationship Id="rId6" Target="../media/image9.png" Type="http://schemas.openxmlformats.org/officeDocument/2006/relationships/image"/><Relationship Id="rId7" Target="../media/image10.svg" Type="http://schemas.openxmlformats.org/officeDocument/2006/relationships/image"/><Relationship Id="rId8" Target="../media/image5.png" Type="http://schemas.openxmlformats.org/officeDocument/2006/relationships/image"/><Relationship Id="rId9" Target="../media/image6.sv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15.png" Type="http://schemas.openxmlformats.org/officeDocument/2006/relationships/image"/><Relationship Id="rId5" Target="../media/image5.png" Type="http://schemas.openxmlformats.org/officeDocument/2006/relationships/image"/><Relationship Id="rId6" Target="../media/image6.svg" Type="http://schemas.openxmlformats.org/officeDocument/2006/relationships/image"/><Relationship Id="rId7" Target="../media/image16.pn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17.png" Type="http://schemas.openxmlformats.org/officeDocument/2006/relationships/image"/><Relationship Id="rId5" Target="../media/image5.png" Type="http://schemas.openxmlformats.org/officeDocument/2006/relationships/image"/><Relationship Id="rId6" Target="../media/image6.svg" Type="http://schemas.openxmlformats.org/officeDocument/2006/relationships/image"/><Relationship Id="rId7" Target="../media/image18.png" Type="http://schemas.openxmlformats.org/officeDocument/2006/relationships/image"/><Relationship Id="rId8" Target="../media/image19.png" Type="http://schemas.openxmlformats.org/officeDocument/2006/relationships/image"/><Relationship Id="rId9" Target="../media/image20.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21.png" Type="http://schemas.openxmlformats.org/officeDocument/2006/relationships/image"/><Relationship Id="rId5" Target="../media/image22.pn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23.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24.png" Type="http://schemas.openxmlformats.org/officeDocument/2006/relationships/image"/><Relationship Id="rId5" Target="../media/image13.png" Type="http://schemas.openxmlformats.org/officeDocument/2006/relationships/image"/><Relationship Id="rId6" Target="../media/image14.svg" Type="http://schemas.openxmlformats.org/officeDocument/2006/relationships/image"/><Relationship Id="rId7" Target="../media/image5.png" Type="http://schemas.openxmlformats.org/officeDocument/2006/relationships/image"/><Relationship Id="rId8" Target="../media/image6.sv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25.png" Type="http://schemas.openxmlformats.org/officeDocument/2006/relationships/image"/><Relationship Id="rId5" Target="../media/image5.png" Type="http://schemas.openxmlformats.org/officeDocument/2006/relationships/image"/><Relationship Id="rId6" Target="../media/image6.svg" Type="http://schemas.openxmlformats.org/officeDocument/2006/relationships/image"/><Relationship Id="rId7" Target="../media/image26.png" Type="http://schemas.openxmlformats.org/officeDocument/2006/relationships/image"/><Relationship Id="rId8" Target="../media/image27.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28.png" Type="http://schemas.openxmlformats.org/officeDocument/2006/relationships/image"/><Relationship Id="rId5" Target="../media/image29.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13.png" Type="http://schemas.openxmlformats.org/officeDocument/2006/relationships/image"/><Relationship Id="rId9" Target="../media/image14.sv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0.png" Type="http://schemas.openxmlformats.org/officeDocument/2006/relationships/image"/><Relationship Id="rId5" Target="../media/image31.png" Type="http://schemas.openxmlformats.org/officeDocument/2006/relationships/image"/><Relationship Id="rId6" Target="../media/image32.svg" Type="http://schemas.openxmlformats.org/officeDocument/2006/relationships/image"/><Relationship Id="rId7" Target="../media/image5.png" Type="http://schemas.openxmlformats.org/officeDocument/2006/relationships/image"/><Relationship Id="rId8" Target="../media/image6.sv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39.png" Type="http://schemas.openxmlformats.org/officeDocument/2006/relationships/image"/><Relationship Id="rId11" Target="../media/image5.png" Type="http://schemas.openxmlformats.org/officeDocument/2006/relationships/image"/><Relationship Id="rId12" Target="../media/image6.svg" Type="http://schemas.openxmlformats.org/officeDocument/2006/relationships/image"/><Relationship Id="rId2" Target="../media/image1.png" Type="http://schemas.openxmlformats.org/officeDocument/2006/relationships/image"/><Relationship Id="rId3" Target="../media/image2.svg" Type="http://schemas.openxmlformats.org/officeDocument/2006/relationships/image"/><Relationship Id="rId4" Target="../media/image33.png" Type="http://schemas.openxmlformats.org/officeDocument/2006/relationships/image"/><Relationship Id="rId5" Target="../media/image34.png" Type="http://schemas.openxmlformats.org/officeDocument/2006/relationships/image"/><Relationship Id="rId6" Target="../media/image35.png" Type="http://schemas.openxmlformats.org/officeDocument/2006/relationships/image"/><Relationship Id="rId7" Target="../media/image36.png" Type="http://schemas.openxmlformats.org/officeDocument/2006/relationships/image"/><Relationship Id="rId8" Target="../media/image37.png" Type="http://schemas.openxmlformats.org/officeDocument/2006/relationships/image"/><Relationship Id="rId9" Target="../media/image38.pn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263257"/>
        </a:solidFill>
      </p:bgPr>
    </p:bg>
    <p:spTree>
      <p:nvGrpSpPr>
        <p:cNvPr id="1" name=""/>
        <p:cNvGrpSpPr/>
        <p:nvPr/>
      </p:nvGrpSpPr>
      <p:grpSpPr>
        <a:xfrm>
          <a:off x="0" y="0"/>
          <a:ext cx="0" cy="0"/>
          <a:chOff x="0" y="0"/>
          <a:chExt cx="0" cy="0"/>
        </a:xfrm>
      </p:grpSpPr>
      <p:grpSp>
        <p:nvGrpSpPr>
          <p:cNvPr name="Group 2" id="2"/>
          <p:cNvGrpSpPr/>
          <p:nvPr/>
        </p:nvGrpSpPr>
        <p:grpSpPr>
          <a:xfrm rot="0">
            <a:off x="-1134441" y="0"/>
            <a:ext cx="20556882" cy="10287000"/>
            <a:chOff x="0" y="0"/>
            <a:chExt cx="27409176" cy="13716000"/>
          </a:xfrm>
        </p:grpSpPr>
        <p:sp>
          <p:nvSpPr>
            <p:cNvPr name="Freeform 3" id="3"/>
            <p:cNvSpPr/>
            <p:nvPr/>
          </p:nvSpPr>
          <p:spPr>
            <a:xfrm flipH="false" flipV="false" rot="0">
              <a:off x="0" y="0"/>
              <a:ext cx="13716000" cy="13716000"/>
            </a:xfrm>
            <a:custGeom>
              <a:avLst/>
              <a:gdLst/>
              <a:ahLst/>
              <a:cxnLst/>
              <a:rect r="r" b="b" t="t" l="l"/>
              <a:pathLst>
                <a:path h="13716000" w="13716000">
                  <a:moveTo>
                    <a:pt x="0" y="0"/>
                  </a:moveTo>
                  <a:lnTo>
                    <a:pt x="13716000" y="0"/>
                  </a:lnTo>
                  <a:lnTo>
                    <a:pt x="13716000" y="13716000"/>
                  </a:lnTo>
                  <a:lnTo>
                    <a:pt x="0" y="13716000"/>
                  </a:lnTo>
                  <a:lnTo>
                    <a:pt x="0" y="0"/>
                  </a:lnTo>
                  <a:close/>
                </a:path>
              </a:pathLst>
            </a:custGeom>
            <a:blipFill>
              <a:blip r:embed="rId2">
                <a:alphaModFix amt="15000"/>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13693176" y="0"/>
              <a:ext cx="13716000" cy="13716000"/>
            </a:xfrm>
            <a:custGeom>
              <a:avLst/>
              <a:gdLst/>
              <a:ahLst/>
              <a:cxnLst/>
              <a:rect r="r" b="b" t="t" l="l"/>
              <a:pathLst>
                <a:path h="13716000" w="13716000">
                  <a:moveTo>
                    <a:pt x="0" y="0"/>
                  </a:moveTo>
                  <a:lnTo>
                    <a:pt x="13716000" y="0"/>
                  </a:lnTo>
                  <a:lnTo>
                    <a:pt x="13716000" y="13716000"/>
                  </a:lnTo>
                  <a:lnTo>
                    <a:pt x="0" y="13716000"/>
                  </a:lnTo>
                  <a:lnTo>
                    <a:pt x="0" y="0"/>
                  </a:lnTo>
                  <a:close/>
                </a:path>
              </a:pathLst>
            </a:custGeom>
            <a:blipFill>
              <a:blip r:embed="rId2">
                <a:alphaModFix amt="15000"/>
                <a:extLst>
                  <a:ext uri="{96DAC541-7B7A-43D3-8B79-37D633B846F1}">
                    <asvg:svgBlip xmlns:asvg="http://schemas.microsoft.com/office/drawing/2016/SVG/main" r:embed="rId3"/>
                  </a:ext>
                </a:extLst>
              </a:blip>
              <a:stretch>
                <a:fillRect l="0" t="0" r="0" b="0"/>
              </a:stretch>
            </a:blipFill>
          </p:spPr>
        </p:sp>
      </p:grpSp>
      <p:grpSp>
        <p:nvGrpSpPr>
          <p:cNvPr name="Group 5" id="5"/>
          <p:cNvGrpSpPr/>
          <p:nvPr/>
        </p:nvGrpSpPr>
        <p:grpSpPr>
          <a:xfrm rot="0">
            <a:off x="1028700" y="5466189"/>
            <a:ext cx="10517354" cy="869445"/>
            <a:chOff x="0" y="0"/>
            <a:chExt cx="2770003" cy="228990"/>
          </a:xfrm>
        </p:grpSpPr>
        <p:sp>
          <p:nvSpPr>
            <p:cNvPr name="Freeform 6" id="6"/>
            <p:cNvSpPr/>
            <p:nvPr/>
          </p:nvSpPr>
          <p:spPr>
            <a:xfrm flipH="false" flipV="false" rot="0">
              <a:off x="0" y="0"/>
              <a:ext cx="2770003" cy="228990"/>
            </a:xfrm>
            <a:custGeom>
              <a:avLst/>
              <a:gdLst/>
              <a:ahLst/>
              <a:cxnLst/>
              <a:rect r="r" b="b" t="t" l="l"/>
              <a:pathLst>
                <a:path h="228990" w="2770003">
                  <a:moveTo>
                    <a:pt x="73611" y="0"/>
                  </a:moveTo>
                  <a:lnTo>
                    <a:pt x="2696392" y="0"/>
                  </a:lnTo>
                  <a:cubicBezTo>
                    <a:pt x="2715914" y="0"/>
                    <a:pt x="2734638" y="7755"/>
                    <a:pt x="2748443" y="21560"/>
                  </a:cubicBezTo>
                  <a:cubicBezTo>
                    <a:pt x="2762247" y="35365"/>
                    <a:pt x="2770003" y="54088"/>
                    <a:pt x="2770003" y="73611"/>
                  </a:cubicBezTo>
                  <a:lnTo>
                    <a:pt x="2770003" y="155379"/>
                  </a:lnTo>
                  <a:cubicBezTo>
                    <a:pt x="2770003" y="174902"/>
                    <a:pt x="2762247" y="193625"/>
                    <a:pt x="2748443" y="207429"/>
                  </a:cubicBezTo>
                  <a:cubicBezTo>
                    <a:pt x="2734638" y="221234"/>
                    <a:pt x="2715914" y="228990"/>
                    <a:pt x="2696392" y="228990"/>
                  </a:cubicBezTo>
                  <a:lnTo>
                    <a:pt x="73611" y="228990"/>
                  </a:lnTo>
                  <a:cubicBezTo>
                    <a:pt x="54088" y="228990"/>
                    <a:pt x="35365" y="221234"/>
                    <a:pt x="21560" y="207429"/>
                  </a:cubicBezTo>
                  <a:cubicBezTo>
                    <a:pt x="7755" y="193625"/>
                    <a:pt x="0" y="174902"/>
                    <a:pt x="0" y="155379"/>
                  </a:cubicBezTo>
                  <a:lnTo>
                    <a:pt x="0" y="73611"/>
                  </a:lnTo>
                  <a:cubicBezTo>
                    <a:pt x="0" y="54088"/>
                    <a:pt x="7755" y="35365"/>
                    <a:pt x="21560" y="21560"/>
                  </a:cubicBezTo>
                  <a:cubicBezTo>
                    <a:pt x="35365" y="7755"/>
                    <a:pt x="54088" y="0"/>
                    <a:pt x="73611" y="0"/>
                  </a:cubicBezTo>
                  <a:close/>
                </a:path>
              </a:pathLst>
            </a:custGeom>
            <a:solidFill>
              <a:srgbClr val="F26B0F"/>
            </a:solidFill>
          </p:spPr>
        </p:sp>
        <p:sp>
          <p:nvSpPr>
            <p:cNvPr name="TextBox 7" id="7"/>
            <p:cNvSpPr txBox="true"/>
            <p:nvPr/>
          </p:nvSpPr>
          <p:spPr>
            <a:xfrm>
              <a:off x="0" y="-28575"/>
              <a:ext cx="2770003" cy="257565"/>
            </a:xfrm>
            <a:prstGeom prst="rect">
              <a:avLst/>
            </a:prstGeom>
          </p:spPr>
          <p:txBody>
            <a:bodyPr anchor="ctr" rtlCol="false" tIns="50800" lIns="50800" bIns="50800" rIns="50800"/>
            <a:lstStyle/>
            <a:p>
              <a:pPr algn="ctr" marL="0" indent="0" lvl="0">
                <a:lnSpc>
                  <a:spcPts val="2100"/>
                </a:lnSpc>
              </a:pPr>
            </a:p>
          </p:txBody>
        </p:sp>
      </p:grpSp>
      <p:grpSp>
        <p:nvGrpSpPr>
          <p:cNvPr name="Group 8" id="8"/>
          <p:cNvGrpSpPr/>
          <p:nvPr/>
        </p:nvGrpSpPr>
        <p:grpSpPr>
          <a:xfrm rot="0">
            <a:off x="-2889006" y="9258300"/>
            <a:ext cx="24066013" cy="1630186"/>
            <a:chOff x="0" y="0"/>
            <a:chExt cx="6338374" cy="429349"/>
          </a:xfrm>
        </p:grpSpPr>
        <p:sp>
          <p:nvSpPr>
            <p:cNvPr name="Freeform 9" id="9"/>
            <p:cNvSpPr/>
            <p:nvPr/>
          </p:nvSpPr>
          <p:spPr>
            <a:xfrm flipH="false" flipV="false" rot="0">
              <a:off x="0" y="0"/>
              <a:ext cx="6338374" cy="429349"/>
            </a:xfrm>
            <a:custGeom>
              <a:avLst/>
              <a:gdLst/>
              <a:ahLst/>
              <a:cxnLst/>
              <a:rect r="r" b="b" t="t" l="l"/>
              <a:pathLst>
                <a:path h="429349" w="6338374">
                  <a:moveTo>
                    <a:pt x="3169187" y="0"/>
                  </a:moveTo>
                  <a:cubicBezTo>
                    <a:pt x="1418893" y="0"/>
                    <a:pt x="0" y="96113"/>
                    <a:pt x="0" y="214675"/>
                  </a:cubicBezTo>
                  <a:cubicBezTo>
                    <a:pt x="0" y="333236"/>
                    <a:pt x="1418893" y="429349"/>
                    <a:pt x="3169187" y="429349"/>
                  </a:cubicBezTo>
                  <a:cubicBezTo>
                    <a:pt x="4919480" y="429349"/>
                    <a:pt x="6338374" y="333236"/>
                    <a:pt x="6338374" y="214675"/>
                  </a:cubicBezTo>
                  <a:cubicBezTo>
                    <a:pt x="6338374" y="96113"/>
                    <a:pt x="4919480" y="0"/>
                    <a:pt x="3169187" y="0"/>
                  </a:cubicBezTo>
                  <a:close/>
                </a:path>
              </a:pathLst>
            </a:custGeom>
            <a:solidFill>
              <a:srgbClr val="FFDE59"/>
            </a:solidFill>
          </p:spPr>
        </p:sp>
        <p:sp>
          <p:nvSpPr>
            <p:cNvPr name="TextBox 10" id="10"/>
            <p:cNvSpPr txBox="true"/>
            <p:nvPr/>
          </p:nvSpPr>
          <p:spPr>
            <a:xfrm>
              <a:off x="594223" y="2152"/>
              <a:ext cx="5149929" cy="386946"/>
            </a:xfrm>
            <a:prstGeom prst="rect">
              <a:avLst/>
            </a:prstGeom>
          </p:spPr>
          <p:txBody>
            <a:bodyPr anchor="ctr" rtlCol="false" tIns="50800" lIns="50800" bIns="50800" rIns="50800"/>
            <a:lstStyle/>
            <a:p>
              <a:pPr algn="ctr" marL="0" indent="0" lvl="0">
                <a:lnSpc>
                  <a:spcPts val="2659"/>
                </a:lnSpc>
              </a:pPr>
            </a:p>
          </p:txBody>
        </p:sp>
      </p:grpSp>
      <p:sp>
        <p:nvSpPr>
          <p:cNvPr name="Freeform 11" id="11"/>
          <p:cNvSpPr/>
          <p:nvPr/>
        </p:nvSpPr>
        <p:spPr>
          <a:xfrm flipH="false" flipV="false" rot="0">
            <a:off x="12930973" y="5010223"/>
            <a:ext cx="4510861" cy="4482669"/>
          </a:xfrm>
          <a:custGeom>
            <a:avLst/>
            <a:gdLst/>
            <a:ahLst/>
            <a:cxnLst/>
            <a:rect r="r" b="b" t="t" l="l"/>
            <a:pathLst>
              <a:path h="4482669" w="4510861">
                <a:moveTo>
                  <a:pt x="0" y="0"/>
                </a:moveTo>
                <a:lnTo>
                  <a:pt x="4510861" y="0"/>
                </a:lnTo>
                <a:lnTo>
                  <a:pt x="4510861" y="4482668"/>
                </a:lnTo>
                <a:lnTo>
                  <a:pt x="0" y="4482668"/>
                </a:lnTo>
                <a:lnTo>
                  <a:pt x="0" y="0"/>
                </a:lnTo>
                <a:close/>
              </a:path>
            </a:pathLst>
          </a:custGeom>
          <a:blipFill>
            <a:blip r:embed="rId4"/>
            <a:stretch>
              <a:fillRect l="0" t="0" r="0" b="0"/>
            </a:stretch>
          </a:blipFill>
        </p:spPr>
      </p:sp>
      <p:sp>
        <p:nvSpPr>
          <p:cNvPr name="Freeform 12" id="12"/>
          <p:cNvSpPr/>
          <p:nvPr/>
        </p:nvSpPr>
        <p:spPr>
          <a:xfrm flipH="false" flipV="false" rot="0">
            <a:off x="15462922" y="1286973"/>
            <a:ext cx="4114872" cy="3770252"/>
          </a:xfrm>
          <a:custGeom>
            <a:avLst/>
            <a:gdLst/>
            <a:ahLst/>
            <a:cxnLst/>
            <a:rect r="r" b="b" t="t" l="l"/>
            <a:pathLst>
              <a:path h="3770252" w="4114872">
                <a:moveTo>
                  <a:pt x="0" y="0"/>
                </a:moveTo>
                <a:lnTo>
                  <a:pt x="4114872" y="0"/>
                </a:lnTo>
                <a:lnTo>
                  <a:pt x="4114872" y="3770252"/>
                </a:lnTo>
                <a:lnTo>
                  <a:pt x="0" y="3770252"/>
                </a:lnTo>
                <a:lnTo>
                  <a:pt x="0" y="0"/>
                </a:lnTo>
                <a:close/>
              </a:path>
            </a:pathLst>
          </a:custGeom>
          <a:blipFill>
            <a:blip r:embed="rId5"/>
            <a:stretch>
              <a:fillRect l="0" t="0" r="0" b="0"/>
            </a:stretch>
          </a:blipFill>
        </p:spPr>
      </p:sp>
      <p:sp>
        <p:nvSpPr>
          <p:cNvPr name="TextBox 13" id="13"/>
          <p:cNvSpPr txBox="true"/>
          <p:nvPr/>
        </p:nvSpPr>
        <p:spPr>
          <a:xfrm rot="0">
            <a:off x="1028700" y="2348709"/>
            <a:ext cx="13926768" cy="2426972"/>
          </a:xfrm>
          <a:prstGeom prst="rect">
            <a:avLst/>
          </a:prstGeom>
        </p:spPr>
        <p:txBody>
          <a:bodyPr anchor="t" rtlCol="false" tIns="0" lIns="0" bIns="0" rIns="0">
            <a:spAutoFit/>
          </a:bodyPr>
          <a:lstStyle/>
          <a:p>
            <a:pPr algn="l" marL="0" indent="0" lvl="0">
              <a:lnSpc>
                <a:spcPts val="9240"/>
              </a:lnSpc>
            </a:pPr>
            <a:r>
              <a:rPr lang="en-US" sz="9625">
                <a:solidFill>
                  <a:srgbClr val="FFFFFF"/>
                </a:solidFill>
                <a:latin typeface="Lilita One"/>
                <a:ea typeface="Lilita One"/>
                <a:cs typeface="Lilita One"/>
                <a:sym typeface="Lilita One"/>
              </a:rPr>
              <a:t>BENGALURU TRANSPORT</a:t>
            </a:r>
          </a:p>
          <a:p>
            <a:pPr algn="l" marL="0" indent="0" lvl="0">
              <a:lnSpc>
                <a:spcPts val="9240"/>
              </a:lnSpc>
            </a:pPr>
            <a:r>
              <a:rPr lang="en-US" sz="9625">
                <a:solidFill>
                  <a:srgbClr val="FFFFFF"/>
                </a:solidFill>
                <a:latin typeface="Lilita One"/>
                <a:ea typeface="Lilita One"/>
                <a:cs typeface="Lilita One"/>
                <a:sym typeface="Lilita One"/>
              </a:rPr>
              <a:t>PERFORMANCE ANALYSIS</a:t>
            </a:r>
          </a:p>
        </p:txBody>
      </p:sp>
      <p:sp>
        <p:nvSpPr>
          <p:cNvPr name="TextBox 14" id="14"/>
          <p:cNvSpPr txBox="true"/>
          <p:nvPr/>
        </p:nvSpPr>
        <p:spPr>
          <a:xfrm rot="0">
            <a:off x="1028700" y="5513562"/>
            <a:ext cx="10517354" cy="566484"/>
          </a:xfrm>
          <a:prstGeom prst="rect">
            <a:avLst/>
          </a:prstGeom>
        </p:spPr>
        <p:txBody>
          <a:bodyPr anchor="t" rtlCol="false" tIns="0" lIns="0" bIns="0" rIns="0">
            <a:spAutoFit/>
          </a:bodyPr>
          <a:lstStyle/>
          <a:p>
            <a:pPr algn="ctr" marL="0" indent="0" lvl="0">
              <a:lnSpc>
                <a:spcPts val="4476"/>
              </a:lnSpc>
            </a:pPr>
            <a:r>
              <a:rPr lang="en-US" b="true" sz="3197">
                <a:solidFill>
                  <a:srgbClr val="FFFFFF"/>
                </a:solidFill>
                <a:latin typeface="Poppins Bold"/>
                <a:ea typeface="Poppins Bold"/>
                <a:cs typeface="Poppins Bold"/>
                <a:sym typeface="Poppins Bold"/>
              </a:rPr>
              <a:t>Milestone 2 – Data Visualization Using Power BI</a:t>
            </a:r>
          </a:p>
        </p:txBody>
      </p:sp>
      <p:sp>
        <p:nvSpPr>
          <p:cNvPr name="TextBox 15" id="15"/>
          <p:cNvSpPr txBox="true"/>
          <p:nvPr/>
        </p:nvSpPr>
        <p:spPr>
          <a:xfrm rot="0">
            <a:off x="1028700" y="1059802"/>
            <a:ext cx="13926768" cy="625537"/>
          </a:xfrm>
          <a:prstGeom prst="rect">
            <a:avLst/>
          </a:prstGeom>
        </p:spPr>
        <p:txBody>
          <a:bodyPr anchor="t" rtlCol="false" tIns="0" lIns="0" bIns="0" rIns="0">
            <a:spAutoFit/>
          </a:bodyPr>
          <a:lstStyle/>
          <a:p>
            <a:pPr algn="l" marL="0" indent="0" lvl="0">
              <a:lnSpc>
                <a:spcPts val="4896"/>
              </a:lnSpc>
            </a:pPr>
            <a:r>
              <a:rPr lang="en-US" b="true" sz="3497">
                <a:solidFill>
                  <a:srgbClr val="FFFFFF"/>
                </a:solidFill>
                <a:latin typeface="Poppins Bold"/>
                <a:ea typeface="Poppins Bold"/>
                <a:cs typeface="Poppins Bold"/>
                <a:sym typeface="Poppins Bold"/>
              </a:rPr>
              <a:t>Milestone 2</a:t>
            </a:r>
          </a:p>
        </p:txBody>
      </p:sp>
      <p:sp>
        <p:nvSpPr>
          <p:cNvPr name="Freeform 16" id="16"/>
          <p:cNvSpPr/>
          <p:nvPr/>
        </p:nvSpPr>
        <p:spPr>
          <a:xfrm flipH="false" flipV="false" rot="-1617912">
            <a:off x="13302929" y="745015"/>
            <a:ext cx="1501463" cy="2152634"/>
          </a:xfrm>
          <a:custGeom>
            <a:avLst/>
            <a:gdLst/>
            <a:ahLst/>
            <a:cxnLst/>
            <a:rect r="r" b="b" t="t" l="l"/>
            <a:pathLst>
              <a:path h="2152634" w="1501463">
                <a:moveTo>
                  <a:pt x="0" y="0"/>
                </a:moveTo>
                <a:lnTo>
                  <a:pt x="1501463" y="0"/>
                </a:lnTo>
                <a:lnTo>
                  <a:pt x="1501463" y="2152635"/>
                </a:lnTo>
                <a:lnTo>
                  <a:pt x="0" y="2152635"/>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263257"/>
        </a:solidFill>
      </p:bgPr>
    </p:bg>
    <p:spTree>
      <p:nvGrpSpPr>
        <p:cNvPr id="1" name=""/>
        <p:cNvGrpSpPr/>
        <p:nvPr/>
      </p:nvGrpSpPr>
      <p:grpSpPr>
        <a:xfrm>
          <a:off x="0" y="0"/>
          <a:ext cx="0" cy="0"/>
          <a:chOff x="0" y="0"/>
          <a:chExt cx="0" cy="0"/>
        </a:xfrm>
      </p:grpSpPr>
      <p:grpSp>
        <p:nvGrpSpPr>
          <p:cNvPr name="Group 2" id="2"/>
          <p:cNvGrpSpPr/>
          <p:nvPr/>
        </p:nvGrpSpPr>
        <p:grpSpPr>
          <a:xfrm rot="0">
            <a:off x="-1134441" y="0"/>
            <a:ext cx="20556882" cy="10287000"/>
            <a:chOff x="0" y="0"/>
            <a:chExt cx="27409176" cy="13716000"/>
          </a:xfrm>
        </p:grpSpPr>
        <p:sp>
          <p:nvSpPr>
            <p:cNvPr name="Freeform 3" id="3"/>
            <p:cNvSpPr/>
            <p:nvPr/>
          </p:nvSpPr>
          <p:spPr>
            <a:xfrm flipH="false" flipV="false" rot="0">
              <a:off x="0" y="0"/>
              <a:ext cx="13716000" cy="13716000"/>
            </a:xfrm>
            <a:custGeom>
              <a:avLst/>
              <a:gdLst/>
              <a:ahLst/>
              <a:cxnLst/>
              <a:rect r="r" b="b" t="t" l="l"/>
              <a:pathLst>
                <a:path h="13716000" w="13716000">
                  <a:moveTo>
                    <a:pt x="0" y="0"/>
                  </a:moveTo>
                  <a:lnTo>
                    <a:pt x="13716000" y="0"/>
                  </a:lnTo>
                  <a:lnTo>
                    <a:pt x="13716000" y="13716000"/>
                  </a:lnTo>
                  <a:lnTo>
                    <a:pt x="0" y="13716000"/>
                  </a:lnTo>
                  <a:lnTo>
                    <a:pt x="0" y="0"/>
                  </a:lnTo>
                  <a:close/>
                </a:path>
              </a:pathLst>
            </a:custGeom>
            <a:blipFill>
              <a:blip r:embed="rId2">
                <a:alphaModFix amt="15000"/>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13693176" y="0"/>
              <a:ext cx="13716000" cy="13716000"/>
            </a:xfrm>
            <a:custGeom>
              <a:avLst/>
              <a:gdLst/>
              <a:ahLst/>
              <a:cxnLst/>
              <a:rect r="r" b="b" t="t" l="l"/>
              <a:pathLst>
                <a:path h="13716000" w="13716000">
                  <a:moveTo>
                    <a:pt x="0" y="0"/>
                  </a:moveTo>
                  <a:lnTo>
                    <a:pt x="13716000" y="0"/>
                  </a:lnTo>
                  <a:lnTo>
                    <a:pt x="13716000" y="13716000"/>
                  </a:lnTo>
                  <a:lnTo>
                    <a:pt x="0" y="13716000"/>
                  </a:lnTo>
                  <a:lnTo>
                    <a:pt x="0" y="0"/>
                  </a:lnTo>
                  <a:close/>
                </a:path>
              </a:pathLst>
            </a:custGeom>
            <a:blipFill>
              <a:blip r:embed="rId2">
                <a:alphaModFix amt="15000"/>
                <a:extLst>
                  <a:ext uri="{96DAC541-7B7A-43D3-8B79-37D633B846F1}">
                    <asvg:svgBlip xmlns:asvg="http://schemas.microsoft.com/office/drawing/2016/SVG/main" r:embed="rId3"/>
                  </a:ext>
                </a:extLst>
              </a:blip>
              <a:stretch>
                <a:fillRect l="0" t="0" r="0" b="0"/>
              </a:stretch>
            </a:blipFill>
          </p:spPr>
        </p:sp>
      </p:grpSp>
      <p:grpSp>
        <p:nvGrpSpPr>
          <p:cNvPr name="Group 5" id="5"/>
          <p:cNvGrpSpPr/>
          <p:nvPr/>
        </p:nvGrpSpPr>
        <p:grpSpPr>
          <a:xfrm rot="0">
            <a:off x="-2889006" y="9258300"/>
            <a:ext cx="24066013" cy="1630186"/>
            <a:chOff x="0" y="0"/>
            <a:chExt cx="6338374" cy="429349"/>
          </a:xfrm>
        </p:grpSpPr>
        <p:sp>
          <p:nvSpPr>
            <p:cNvPr name="Freeform 6" id="6"/>
            <p:cNvSpPr/>
            <p:nvPr/>
          </p:nvSpPr>
          <p:spPr>
            <a:xfrm flipH="false" flipV="false" rot="0">
              <a:off x="0" y="0"/>
              <a:ext cx="6338374" cy="429349"/>
            </a:xfrm>
            <a:custGeom>
              <a:avLst/>
              <a:gdLst/>
              <a:ahLst/>
              <a:cxnLst/>
              <a:rect r="r" b="b" t="t" l="l"/>
              <a:pathLst>
                <a:path h="429349" w="6338374">
                  <a:moveTo>
                    <a:pt x="3169187" y="0"/>
                  </a:moveTo>
                  <a:cubicBezTo>
                    <a:pt x="1418893" y="0"/>
                    <a:pt x="0" y="96113"/>
                    <a:pt x="0" y="214675"/>
                  </a:cubicBezTo>
                  <a:cubicBezTo>
                    <a:pt x="0" y="333236"/>
                    <a:pt x="1418893" y="429349"/>
                    <a:pt x="3169187" y="429349"/>
                  </a:cubicBezTo>
                  <a:cubicBezTo>
                    <a:pt x="4919480" y="429349"/>
                    <a:pt x="6338374" y="333236"/>
                    <a:pt x="6338374" y="214675"/>
                  </a:cubicBezTo>
                  <a:cubicBezTo>
                    <a:pt x="6338374" y="96113"/>
                    <a:pt x="4919480" y="0"/>
                    <a:pt x="3169187" y="0"/>
                  </a:cubicBezTo>
                  <a:close/>
                </a:path>
              </a:pathLst>
            </a:custGeom>
            <a:solidFill>
              <a:srgbClr val="FFDE59"/>
            </a:solidFill>
          </p:spPr>
        </p:sp>
        <p:sp>
          <p:nvSpPr>
            <p:cNvPr name="TextBox 7" id="7"/>
            <p:cNvSpPr txBox="true"/>
            <p:nvPr/>
          </p:nvSpPr>
          <p:spPr>
            <a:xfrm>
              <a:off x="594223" y="2152"/>
              <a:ext cx="5149929" cy="386946"/>
            </a:xfrm>
            <a:prstGeom prst="rect">
              <a:avLst/>
            </a:prstGeom>
          </p:spPr>
          <p:txBody>
            <a:bodyPr anchor="ctr" rtlCol="false" tIns="50800" lIns="50800" bIns="50800" rIns="50800"/>
            <a:lstStyle/>
            <a:p>
              <a:pPr algn="ctr" marL="0" indent="0" lvl="0">
                <a:lnSpc>
                  <a:spcPts val="2659"/>
                </a:lnSpc>
              </a:pPr>
            </a:p>
          </p:txBody>
        </p:sp>
      </p:grpSp>
      <p:grpSp>
        <p:nvGrpSpPr>
          <p:cNvPr name="Group 8" id="8"/>
          <p:cNvGrpSpPr/>
          <p:nvPr/>
        </p:nvGrpSpPr>
        <p:grpSpPr>
          <a:xfrm rot="0">
            <a:off x="1028700" y="3229219"/>
            <a:ext cx="9900735" cy="3058314"/>
            <a:chOff x="0" y="0"/>
            <a:chExt cx="2607601" cy="805482"/>
          </a:xfrm>
        </p:grpSpPr>
        <p:sp>
          <p:nvSpPr>
            <p:cNvPr name="Freeform 9" id="9"/>
            <p:cNvSpPr/>
            <p:nvPr/>
          </p:nvSpPr>
          <p:spPr>
            <a:xfrm flipH="false" flipV="false" rot="0">
              <a:off x="0" y="0"/>
              <a:ext cx="2607601" cy="805482"/>
            </a:xfrm>
            <a:custGeom>
              <a:avLst/>
              <a:gdLst/>
              <a:ahLst/>
              <a:cxnLst/>
              <a:rect r="r" b="b" t="t" l="l"/>
              <a:pathLst>
                <a:path h="805482" w="2607601">
                  <a:moveTo>
                    <a:pt x="39098" y="0"/>
                  </a:moveTo>
                  <a:lnTo>
                    <a:pt x="2568503" y="0"/>
                  </a:lnTo>
                  <a:cubicBezTo>
                    <a:pt x="2590097" y="0"/>
                    <a:pt x="2607601" y="17505"/>
                    <a:pt x="2607601" y="39098"/>
                  </a:cubicBezTo>
                  <a:lnTo>
                    <a:pt x="2607601" y="766384"/>
                  </a:lnTo>
                  <a:cubicBezTo>
                    <a:pt x="2607601" y="787977"/>
                    <a:pt x="2590097" y="805482"/>
                    <a:pt x="2568503" y="805482"/>
                  </a:cubicBezTo>
                  <a:lnTo>
                    <a:pt x="39098" y="805482"/>
                  </a:lnTo>
                  <a:cubicBezTo>
                    <a:pt x="17505" y="805482"/>
                    <a:pt x="0" y="787977"/>
                    <a:pt x="0" y="766384"/>
                  </a:cubicBezTo>
                  <a:lnTo>
                    <a:pt x="0" y="39098"/>
                  </a:lnTo>
                  <a:cubicBezTo>
                    <a:pt x="0" y="17505"/>
                    <a:pt x="17505" y="0"/>
                    <a:pt x="39098" y="0"/>
                  </a:cubicBezTo>
                  <a:close/>
                </a:path>
              </a:pathLst>
            </a:custGeom>
            <a:solidFill>
              <a:srgbClr val="F26B0F"/>
            </a:solidFill>
          </p:spPr>
        </p:sp>
        <p:sp>
          <p:nvSpPr>
            <p:cNvPr name="TextBox 10" id="10"/>
            <p:cNvSpPr txBox="true"/>
            <p:nvPr/>
          </p:nvSpPr>
          <p:spPr>
            <a:xfrm>
              <a:off x="0" y="-38100"/>
              <a:ext cx="2607601" cy="843582"/>
            </a:xfrm>
            <a:prstGeom prst="rect">
              <a:avLst/>
            </a:prstGeom>
          </p:spPr>
          <p:txBody>
            <a:bodyPr anchor="ctr" rtlCol="false" tIns="50800" lIns="50800" bIns="50800" rIns="50800"/>
            <a:lstStyle/>
            <a:p>
              <a:pPr algn="ctr" marL="0" indent="0" lvl="0">
                <a:lnSpc>
                  <a:spcPts val="2659"/>
                </a:lnSpc>
              </a:pPr>
            </a:p>
          </p:txBody>
        </p:sp>
      </p:grpSp>
      <p:sp>
        <p:nvSpPr>
          <p:cNvPr name="Freeform 11" id="11"/>
          <p:cNvSpPr/>
          <p:nvPr/>
        </p:nvSpPr>
        <p:spPr>
          <a:xfrm flipH="true" flipV="false" rot="0">
            <a:off x="11499813" y="3956352"/>
            <a:ext cx="7736362" cy="4865636"/>
          </a:xfrm>
          <a:custGeom>
            <a:avLst/>
            <a:gdLst/>
            <a:ahLst/>
            <a:cxnLst/>
            <a:rect r="r" b="b" t="t" l="l"/>
            <a:pathLst>
              <a:path h="4865636" w="7736362">
                <a:moveTo>
                  <a:pt x="7736362" y="0"/>
                </a:moveTo>
                <a:lnTo>
                  <a:pt x="0" y="0"/>
                </a:lnTo>
                <a:lnTo>
                  <a:pt x="0" y="4865636"/>
                </a:lnTo>
                <a:lnTo>
                  <a:pt x="7736362" y="4865636"/>
                </a:lnTo>
                <a:lnTo>
                  <a:pt x="7736362"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2" id="12"/>
          <p:cNvSpPr/>
          <p:nvPr/>
        </p:nvSpPr>
        <p:spPr>
          <a:xfrm flipH="false" flipV="false" rot="-1838311">
            <a:off x="16411279" y="868299"/>
            <a:ext cx="2290639" cy="4721839"/>
          </a:xfrm>
          <a:custGeom>
            <a:avLst/>
            <a:gdLst/>
            <a:ahLst/>
            <a:cxnLst/>
            <a:rect r="r" b="b" t="t" l="l"/>
            <a:pathLst>
              <a:path h="4721839" w="2290639">
                <a:moveTo>
                  <a:pt x="0" y="0"/>
                </a:moveTo>
                <a:lnTo>
                  <a:pt x="2290638" y="0"/>
                </a:lnTo>
                <a:lnTo>
                  <a:pt x="2290638" y="4721839"/>
                </a:lnTo>
                <a:lnTo>
                  <a:pt x="0" y="4721839"/>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13" id="13"/>
          <p:cNvSpPr txBox="true"/>
          <p:nvPr/>
        </p:nvSpPr>
        <p:spPr>
          <a:xfrm rot="0">
            <a:off x="1028700" y="1181100"/>
            <a:ext cx="13926768" cy="1756260"/>
          </a:xfrm>
          <a:prstGeom prst="rect">
            <a:avLst/>
          </a:prstGeom>
        </p:spPr>
        <p:txBody>
          <a:bodyPr anchor="t" rtlCol="false" tIns="0" lIns="0" bIns="0" rIns="0">
            <a:spAutoFit/>
          </a:bodyPr>
          <a:lstStyle/>
          <a:p>
            <a:pPr algn="l" marL="0" indent="0" lvl="0">
              <a:lnSpc>
                <a:spcPts val="6715"/>
              </a:lnSpc>
            </a:pPr>
            <a:r>
              <a:rPr lang="en-US" sz="6995">
                <a:solidFill>
                  <a:srgbClr val="FFFFFF"/>
                </a:solidFill>
                <a:latin typeface="Lilita One"/>
                <a:ea typeface="Lilita One"/>
                <a:cs typeface="Lilita One"/>
                <a:sym typeface="Lilita One"/>
              </a:rPr>
              <a:t>BENGALURU TRANSPORT</a:t>
            </a:r>
          </a:p>
          <a:p>
            <a:pPr algn="l" marL="0" indent="0" lvl="0">
              <a:lnSpc>
                <a:spcPts val="6715"/>
              </a:lnSpc>
            </a:pPr>
            <a:r>
              <a:rPr lang="en-US" sz="6995">
                <a:solidFill>
                  <a:srgbClr val="FFFFFF"/>
                </a:solidFill>
                <a:latin typeface="Lilita One"/>
                <a:ea typeface="Lilita One"/>
                <a:cs typeface="Lilita One"/>
                <a:sym typeface="Lilita One"/>
              </a:rPr>
              <a:t>PERFORMANCE ANALYSIS</a:t>
            </a:r>
          </a:p>
        </p:txBody>
      </p:sp>
      <p:sp>
        <p:nvSpPr>
          <p:cNvPr name="Freeform 14" id="14"/>
          <p:cNvSpPr/>
          <p:nvPr/>
        </p:nvSpPr>
        <p:spPr>
          <a:xfrm flipH="false" flipV="false" rot="-4330008">
            <a:off x="12882801" y="698264"/>
            <a:ext cx="1551947" cy="2225014"/>
          </a:xfrm>
          <a:custGeom>
            <a:avLst/>
            <a:gdLst/>
            <a:ahLst/>
            <a:cxnLst/>
            <a:rect r="r" b="b" t="t" l="l"/>
            <a:pathLst>
              <a:path h="2225014" w="1551947">
                <a:moveTo>
                  <a:pt x="0" y="0"/>
                </a:moveTo>
                <a:lnTo>
                  <a:pt x="1551948" y="0"/>
                </a:lnTo>
                <a:lnTo>
                  <a:pt x="1551948" y="2225014"/>
                </a:lnTo>
                <a:lnTo>
                  <a:pt x="0" y="2225014"/>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15" id="15"/>
          <p:cNvSpPr/>
          <p:nvPr/>
        </p:nvSpPr>
        <p:spPr>
          <a:xfrm flipH="false" flipV="false" rot="-6706372">
            <a:off x="1711459" y="6923795"/>
            <a:ext cx="1280517" cy="1835866"/>
          </a:xfrm>
          <a:custGeom>
            <a:avLst/>
            <a:gdLst/>
            <a:ahLst/>
            <a:cxnLst/>
            <a:rect r="r" b="b" t="t" l="l"/>
            <a:pathLst>
              <a:path h="1835866" w="1280517">
                <a:moveTo>
                  <a:pt x="0" y="0"/>
                </a:moveTo>
                <a:lnTo>
                  <a:pt x="1280517" y="0"/>
                </a:lnTo>
                <a:lnTo>
                  <a:pt x="1280517" y="1835866"/>
                </a:lnTo>
                <a:lnTo>
                  <a:pt x="0" y="1835866"/>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16" id="16"/>
          <p:cNvSpPr/>
          <p:nvPr/>
        </p:nvSpPr>
        <p:spPr>
          <a:xfrm flipH="true" flipV="false" rot="0">
            <a:off x="9144000" y="7093960"/>
            <a:ext cx="3494494" cy="2576968"/>
          </a:xfrm>
          <a:custGeom>
            <a:avLst/>
            <a:gdLst/>
            <a:ahLst/>
            <a:cxnLst/>
            <a:rect r="r" b="b" t="t" l="l"/>
            <a:pathLst>
              <a:path h="2576968" w="3494494">
                <a:moveTo>
                  <a:pt x="3494494" y="0"/>
                </a:moveTo>
                <a:lnTo>
                  <a:pt x="0" y="0"/>
                </a:lnTo>
                <a:lnTo>
                  <a:pt x="0" y="2576968"/>
                </a:lnTo>
                <a:lnTo>
                  <a:pt x="3494494" y="2576968"/>
                </a:lnTo>
                <a:lnTo>
                  <a:pt x="3494494"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17" id="17"/>
          <p:cNvSpPr/>
          <p:nvPr/>
        </p:nvSpPr>
        <p:spPr>
          <a:xfrm flipH="false" flipV="false" rot="0">
            <a:off x="4256196" y="7438361"/>
            <a:ext cx="3362124" cy="2232567"/>
          </a:xfrm>
          <a:custGeom>
            <a:avLst/>
            <a:gdLst/>
            <a:ahLst/>
            <a:cxnLst/>
            <a:rect r="r" b="b" t="t" l="l"/>
            <a:pathLst>
              <a:path h="2232567" w="3362124">
                <a:moveTo>
                  <a:pt x="0" y="0"/>
                </a:moveTo>
                <a:lnTo>
                  <a:pt x="3362124" y="0"/>
                </a:lnTo>
                <a:lnTo>
                  <a:pt x="3362124" y="2232567"/>
                </a:lnTo>
                <a:lnTo>
                  <a:pt x="0" y="2232567"/>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TextBox 18" id="18"/>
          <p:cNvSpPr txBox="true"/>
          <p:nvPr/>
        </p:nvSpPr>
        <p:spPr>
          <a:xfrm rot="0">
            <a:off x="1590644" y="3450573"/>
            <a:ext cx="13364824" cy="651574"/>
          </a:xfrm>
          <a:prstGeom prst="rect">
            <a:avLst/>
          </a:prstGeom>
        </p:spPr>
        <p:txBody>
          <a:bodyPr anchor="t" rtlCol="false" tIns="0" lIns="0" bIns="0" rIns="0">
            <a:spAutoFit/>
          </a:bodyPr>
          <a:lstStyle/>
          <a:p>
            <a:pPr algn="l" marL="0" indent="0" lvl="0">
              <a:lnSpc>
                <a:spcPts val="5036"/>
              </a:lnSpc>
            </a:pPr>
            <a:r>
              <a:rPr lang="en-US" b="true" sz="3597">
                <a:solidFill>
                  <a:srgbClr val="FFFFFF"/>
                </a:solidFill>
                <a:latin typeface="Poppins Bold"/>
                <a:ea typeface="Poppins Bold"/>
                <a:cs typeface="Poppins Bold"/>
                <a:sym typeface="Poppins Bold"/>
              </a:rPr>
              <a:t>Introduction – Project Overview</a:t>
            </a:r>
          </a:p>
        </p:txBody>
      </p:sp>
      <p:sp>
        <p:nvSpPr>
          <p:cNvPr name="TextBox 19" id="19"/>
          <p:cNvSpPr txBox="true"/>
          <p:nvPr/>
        </p:nvSpPr>
        <p:spPr>
          <a:xfrm rot="0">
            <a:off x="1590644" y="4205629"/>
            <a:ext cx="8776848" cy="1499423"/>
          </a:xfrm>
          <a:prstGeom prst="rect">
            <a:avLst/>
          </a:prstGeom>
        </p:spPr>
        <p:txBody>
          <a:bodyPr anchor="t" rtlCol="false" tIns="0" lIns="0" bIns="0" rIns="0">
            <a:spAutoFit/>
          </a:bodyPr>
          <a:lstStyle/>
          <a:p>
            <a:pPr algn="just" marL="0" indent="0" lvl="0">
              <a:lnSpc>
                <a:spcPts val="2929"/>
              </a:lnSpc>
            </a:pPr>
            <a:r>
              <a:rPr lang="en-US" sz="2092">
                <a:solidFill>
                  <a:srgbClr val="FFFFFF"/>
                </a:solidFill>
                <a:latin typeface="Poppins"/>
                <a:ea typeface="Poppins"/>
                <a:cs typeface="Poppins"/>
                <a:sym typeface="Poppins"/>
              </a:rPr>
              <a:t>This project analyzes Bengaluru's public transport system using route, passenger, stop, trip, and direction data. Leveraging Power BI, Power Query, and DAX, the study aims to uncover performance patterns and support data-driven transit planning decisions.</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263257"/>
        </a:solidFill>
      </p:bgPr>
    </p:bg>
    <p:spTree>
      <p:nvGrpSpPr>
        <p:cNvPr id="1" name=""/>
        <p:cNvGrpSpPr/>
        <p:nvPr/>
      </p:nvGrpSpPr>
      <p:grpSpPr>
        <a:xfrm>
          <a:off x="0" y="0"/>
          <a:ext cx="0" cy="0"/>
          <a:chOff x="0" y="0"/>
          <a:chExt cx="0" cy="0"/>
        </a:xfrm>
      </p:grpSpPr>
      <p:grpSp>
        <p:nvGrpSpPr>
          <p:cNvPr name="Group 2" id="2"/>
          <p:cNvGrpSpPr/>
          <p:nvPr/>
        </p:nvGrpSpPr>
        <p:grpSpPr>
          <a:xfrm rot="0">
            <a:off x="-1134441" y="0"/>
            <a:ext cx="20556882" cy="10287000"/>
            <a:chOff x="0" y="0"/>
            <a:chExt cx="27409176" cy="13716000"/>
          </a:xfrm>
        </p:grpSpPr>
        <p:sp>
          <p:nvSpPr>
            <p:cNvPr name="Freeform 3" id="3"/>
            <p:cNvSpPr/>
            <p:nvPr/>
          </p:nvSpPr>
          <p:spPr>
            <a:xfrm flipH="false" flipV="false" rot="0">
              <a:off x="0" y="0"/>
              <a:ext cx="13716000" cy="13716000"/>
            </a:xfrm>
            <a:custGeom>
              <a:avLst/>
              <a:gdLst/>
              <a:ahLst/>
              <a:cxnLst/>
              <a:rect r="r" b="b" t="t" l="l"/>
              <a:pathLst>
                <a:path h="13716000" w="13716000">
                  <a:moveTo>
                    <a:pt x="0" y="0"/>
                  </a:moveTo>
                  <a:lnTo>
                    <a:pt x="13716000" y="0"/>
                  </a:lnTo>
                  <a:lnTo>
                    <a:pt x="13716000" y="13716000"/>
                  </a:lnTo>
                  <a:lnTo>
                    <a:pt x="0" y="13716000"/>
                  </a:lnTo>
                  <a:lnTo>
                    <a:pt x="0" y="0"/>
                  </a:lnTo>
                  <a:close/>
                </a:path>
              </a:pathLst>
            </a:custGeom>
            <a:blipFill>
              <a:blip r:embed="rId2">
                <a:alphaModFix amt="15000"/>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13693176" y="0"/>
              <a:ext cx="13716000" cy="13716000"/>
            </a:xfrm>
            <a:custGeom>
              <a:avLst/>
              <a:gdLst/>
              <a:ahLst/>
              <a:cxnLst/>
              <a:rect r="r" b="b" t="t" l="l"/>
              <a:pathLst>
                <a:path h="13716000" w="13716000">
                  <a:moveTo>
                    <a:pt x="0" y="0"/>
                  </a:moveTo>
                  <a:lnTo>
                    <a:pt x="13716000" y="0"/>
                  </a:lnTo>
                  <a:lnTo>
                    <a:pt x="13716000" y="13716000"/>
                  </a:lnTo>
                  <a:lnTo>
                    <a:pt x="0" y="13716000"/>
                  </a:lnTo>
                  <a:lnTo>
                    <a:pt x="0" y="0"/>
                  </a:lnTo>
                  <a:close/>
                </a:path>
              </a:pathLst>
            </a:custGeom>
            <a:blipFill>
              <a:blip r:embed="rId2">
                <a:alphaModFix amt="15000"/>
                <a:extLst>
                  <a:ext uri="{96DAC541-7B7A-43D3-8B79-37D633B846F1}">
                    <asvg:svgBlip xmlns:asvg="http://schemas.microsoft.com/office/drawing/2016/SVG/main" r:embed="rId3"/>
                  </a:ext>
                </a:extLst>
              </a:blip>
              <a:stretch>
                <a:fillRect l="0" t="0" r="0" b="0"/>
              </a:stretch>
            </a:blipFill>
          </p:spPr>
        </p:sp>
      </p:grpSp>
      <p:grpSp>
        <p:nvGrpSpPr>
          <p:cNvPr name="Group 5" id="5"/>
          <p:cNvGrpSpPr/>
          <p:nvPr/>
        </p:nvGrpSpPr>
        <p:grpSpPr>
          <a:xfrm rot="0">
            <a:off x="9986329" y="4471770"/>
            <a:ext cx="6863424" cy="665162"/>
            <a:chOff x="0" y="0"/>
            <a:chExt cx="1807651" cy="175187"/>
          </a:xfrm>
        </p:grpSpPr>
        <p:sp>
          <p:nvSpPr>
            <p:cNvPr name="Freeform 6" id="6"/>
            <p:cNvSpPr/>
            <p:nvPr/>
          </p:nvSpPr>
          <p:spPr>
            <a:xfrm flipH="false" flipV="false" rot="0">
              <a:off x="0" y="0"/>
              <a:ext cx="1807651" cy="175187"/>
            </a:xfrm>
            <a:custGeom>
              <a:avLst/>
              <a:gdLst/>
              <a:ahLst/>
              <a:cxnLst/>
              <a:rect r="r" b="b" t="t" l="l"/>
              <a:pathLst>
                <a:path h="175187" w="1807651">
                  <a:moveTo>
                    <a:pt x="31584" y="0"/>
                  </a:moveTo>
                  <a:lnTo>
                    <a:pt x="1776067" y="0"/>
                  </a:lnTo>
                  <a:cubicBezTo>
                    <a:pt x="1784443" y="0"/>
                    <a:pt x="1792477" y="3328"/>
                    <a:pt x="1798400" y="9251"/>
                  </a:cubicBezTo>
                  <a:cubicBezTo>
                    <a:pt x="1804323" y="15174"/>
                    <a:pt x="1807651" y="23207"/>
                    <a:pt x="1807651" y="31584"/>
                  </a:cubicBezTo>
                  <a:lnTo>
                    <a:pt x="1807651" y="143603"/>
                  </a:lnTo>
                  <a:cubicBezTo>
                    <a:pt x="1807651" y="161046"/>
                    <a:pt x="1793510" y="175187"/>
                    <a:pt x="1776067" y="175187"/>
                  </a:cubicBezTo>
                  <a:lnTo>
                    <a:pt x="31584" y="175187"/>
                  </a:lnTo>
                  <a:cubicBezTo>
                    <a:pt x="14141" y="175187"/>
                    <a:pt x="0" y="161046"/>
                    <a:pt x="0" y="143603"/>
                  </a:cubicBezTo>
                  <a:lnTo>
                    <a:pt x="0" y="31584"/>
                  </a:lnTo>
                  <a:cubicBezTo>
                    <a:pt x="0" y="14141"/>
                    <a:pt x="14141" y="0"/>
                    <a:pt x="31584" y="0"/>
                  </a:cubicBezTo>
                  <a:close/>
                </a:path>
              </a:pathLst>
            </a:custGeom>
            <a:solidFill>
              <a:srgbClr val="F26B0F"/>
            </a:solidFill>
          </p:spPr>
        </p:sp>
        <p:sp>
          <p:nvSpPr>
            <p:cNvPr name="TextBox 7" id="7"/>
            <p:cNvSpPr txBox="true"/>
            <p:nvPr/>
          </p:nvSpPr>
          <p:spPr>
            <a:xfrm>
              <a:off x="0" y="-38100"/>
              <a:ext cx="1807651" cy="213287"/>
            </a:xfrm>
            <a:prstGeom prst="rect">
              <a:avLst/>
            </a:prstGeom>
          </p:spPr>
          <p:txBody>
            <a:bodyPr anchor="ctr" rtlCol="false" tIns="50800" lIns="50800" bIns="50800" rIns="50800"/>
            <a:lstStyle/>
            <a:p>
              <a:pPr algn="ctr" marL="0" indent="0" lvl="0">
                <a:lnSpc>
                  <a:spcPts val="2659"/>
                </a:lnSpc>
              </a:pPr>
            </a:p>
          </p:txBody>
        </p:sp>
      </p:grpSp>
      <p:grpSp>
        <p:nvGrpSpPr>
          <p:cNvPr name="Group 8" id="8"/>
          <p:cNvGrpSpPr/>
          <p:nvPr/>
        </p:nvGrpSpPr>
        <p:grpSpPr>
          <a:xfrm rot="0">
            <a:off x="9986329" y="5325272"/>
            <a:ext cx="6863424" cy="665162"/>
            <a:chOff x="0" y="0"/>
            <a:chExt cx="1807651" cy="175187"/>
          </a:xfrm>
        </p:grpSpPr>
        <p:sp>
          <p:nvSpPr>
            <p:cNvPr name="Freeform 9" id="9"/>
            <p:cNvSpPr/>
            <p:nvPr/>
          </p:nvSpPr>
          <p:spPr>
            <a:xfrm flipH="false" flipV="false" rot="0">
              <a:off x="0" y="0"/>
              <a:ext cx="1807651" cy="175187"/>
            </a:xfrm>
            <a:custGeom>
              <a:avLst/>
              <a:gdLst/>
              <a:ahLst/>
              <a:cxnLst/>
              <a:rect r="r" b="b" t="t" l="l"/>
              <a:pathLst>
                <a:path h="175187" w="1807651">
                  <a:moveTo>
                    <a:pt x="31584" y="0"/>
                  </a:moveTo>
                  <a:lnTo>
                    <a:pt x="1776067" y="0"/>
                  </a:lnTo>
                  <a:cubicBezTo>
                    <a:pt x="1784443" y="0"/>
                    <a:pt x="1792477" y="3328"/>
                    <a:pt x="1798400" y="9251"/>
                  </a:cubicBezTo>
                  <a:cubicBezTo>
                    <a:pt x="1804323" y="15174"/>
                    <a:pt x="1807651" y="23207"/>
                    <a:pt x="1807651" y="31584"/>
                  </a:cubicBezTo>
                  <a:lnTo>
                    <a:pt x="1807651" y="143603"/>
                  </a:lnTo>
                  <a:cubicBezTo>
                    <a:pt x="1807651" y="161046"/>
                    <a:pt x="1793510" y="175187"/>
                    <a:pt x="1776067" y="175187"/>
                  </a:cubicBezTo>
                  <a:lnTo>
                    <a:pt x="31584" y="175187"/>
                  </a:lnTo>
                  <a:cubicBezTo>
                    <a:pt x="14141" y="175187"/>
                    <a:pt x="0" y="161046"/>
                    <a:pt x="0" y="143603"/>
                  </a:cubicBezTo>
                  <a:lnTo>
                    <a:pt x="0" y="31584"/>
                  </a:lnTo>
                  <a:cubicBezTo>
                    <a:pt x="0" y="14141"/>
                    <a:pt x="14141" y="0"/>
                    <a:pt x="31584" y="0"/>
                  </a:cubicBezTo>
                  <a:close/>
                </a:path>
              </a:pathLst>
            </a:custGeom>
            <a:solidFill>
              <a:srgbClr val="F26B0F"/>
            </a:solidFill>
          </p:spPr>
        </p:sp>
        <p:sp>
          <p:nvSpPr>
            <p:cNvPr name="TextBox 10" id="10"/>
            <p:cNvSpPr txBox="true"/>
            <p:nvPr/>
          </p:nvSpPr>
          <p:spPr>
            <a:xfrm>
              <a:off x="0" y="-38100"/>
              <a:ext cx="1807651" cy="213287"/>
            </a:xfrm>
            <a:prstGeom prst="rect">
              <a:avLst/>
            </a:prstGeom>
          </p:spPr>
          <p:txBody>
            <a:bodyPr anchor="ctr" rtlCol="false" tIns="50800" lIns="50800" bIns="50800" rIns="50800"/>
            <a:lstStyle/>
            <a:p>
              <a:pPr algn="ctr" marL="0" indent="0" lvl="0">
                <a:lnSpc>
                  <a:spcPts val="2659"/>
                </a:lnSpc>
              </a:pPr>
            </a:p>
          </p:txBody>
        </p:sp>
      </p:grpSp>
      <p:grpSp>
        <p:nvGrpSpPr>
          <p:cNvPr name="Group 11" id="11"/>
          <p:cNvGrpSpPr/>
          <p:nvPr/>
        </p:nvGrpSpPr>
        <p:grpSpPr>
          <a:xfrm rot="0">
            <a:off x="-2889006" y="9258300"/>
            <a:ext cx="24066013" cy="1630186"/>
            <a:chOff x="0" y="0"/>
            <a:chExt cx="6338374" cy="429349"/>
          </a:xfrm>
        </p:grpSpPr>
        <p:sp>
          <p:nvSpPr>
            <p:cNvPr name="Freeform 12" id="12"/>
            <p:cNvSpPr/>
            <p:nvPr/>
          </p:nvSpPr>
          <p:spPr>
            <a:xfrm flipH="false" flipV="false" rot="0">
              <a:off x="0" y="0"/>
              <a:ext cx="6338374" cy="429349"/>
            </a:xfrm>
            <a:custGeom>
              <a:avLst/>
              <a:gdLst/>
              <a:ahLst/>
              <a:cxnLst/>
              <a:rect r="r" b="b" t="t" l="l"/>
              <a:pathLst>
                <a:path h="429349" w="6338374">
                  <a:moveTo>
                    <a:pt x="3169187" y="0"/>
                  </a:moveTo>
                  <a:cubicBezTo>
                    <a:pt x="1418893" y="0"/>
                    <a:pt x="0" y="96113"/>
                    <a:pt x="0" y="214675"/>
                  </a:cubicBezTo>
                  <a:cubicBezTo>
                    <a:pt x="0" y="333236"/>
                    <a:pt x="1418893" y="429349"/>
                    <a:pt x="3169187" y="429349"/>
                  </a:cubicBezTo>
                  <a:cubicBezTo>
                    <a:pt x="4919480" y="429349"/>
                    <a:pt x="6338374" y="333236"/>
                    <a:pt x="6338374" y="214675"/>
                  </a:cubicBezTo>
                  <a:cubicBezTo>
                    <a:pt x="6338374" y="96113"/>
                    <a:pt x="4919480" y="0"/>
                    <a:pt x="3169187" y="0"/>
                  </a:cubicBezTo>
                  <a:close/>
                </a:path>
              </a:pathLst>
            </a:custGeom>
            <a:solidFill>
              <a:srgbClr val="FFDE59"/>
            </a:solidFill>
          </p:spPr>
        </p:sp>
        <p:sp>
          <p:nvSpPr>
            <p:cNvPr name="TextBox 13" id="13"/>
            <p:cNvSpPr txBox="true"/>
            <p:nvPr/>
          </p:nvSpPr>
          <p:spPr>
            <a:xfrm>
              <a:off x="594223" y="2152"/>
              <a:ext cx="5149929" cy="386946"/>
            </a:xfrm>
            <a:prstGeom prst="rect">
              <a:avLst/>
            </a:prstGeom>
          </p:spPr>
          <p:txBody>
            <a:bodyPr anchor="ctr" rtlCol="false" tIns="50800" lIns="50800" bIns="50800" rIns="50800"/>
            <a:lstStyle/>
            <a:p>
              <a:pPr algn="ctr" marL="0" indent="0" lvl="0">
                <a:lnSpc>
                  <a:spcPts val="2659"/>
                </a:lnSpc>
              </a:pPr>
            </a:p>
          </p:txBody>
        </p:sp>
      </p:grpSp>
      <p:grpSp>
        <p:nvGrpSpPr>
          <p:cNvPr name="Group 14" id="14"/>
          <p:cNvGrpSpPr/>
          <p:nvPr/>
        </p:nvGrpSpPr>
        <p:grpSpPr>
          <a:xfrm rot="0">
            <a:off x="9986329" y="6178774"/>
            <a:ext cx="6863424" cy="665162"/>
            <a:chOff x="0" y="0"/>
            <a:chExt cx="1807651" cy="175187"/>
          </a:xfrm>
        </p:grpSpPr>
        <p:sp>
          <p:nvSpPr>
            <p:cNvPr name="Freeform 15" id="15"/>
            <p:cNvSpPr/>
            <p:nvPr/>
          </p:nvSpPr>
          <p:spPr>
            <a:xfrm flipH="false" flipV="false" rot="0">
              <a:off x="0" y="0"/>
              <a:ext cx="1807651" cy="175187"/>
            </a:xfrm>
            <a:custGeom>
              <a:avLst/>
              <a:gdLst/>
              <a:ahLst/>
              <a:cxnLst/>
              <a:rect r="r" b="b" t="t" l="l"/>
              <a:pathLst>
                <a:path h="175187" w="1807651">
                  <a:moveTo>
                    <a:pt x="31584" y="0"/>
                  </a:moveTo>
                  <a:lnTo>
                    <a:pt x="1776067" y="0"/>
                  </a:lnTo>
                  <a:cubicBezTo>
                    <a:pt x="1784443" y="0"/>
                    <a:pt x="1792477" y="3328"/>
                    <a:pt x="1798400" y="9251"/>
                  </a:cubicBezTo>
                  <a:cubicBezTo>
                    <a:pt x="1804323" y="15174"/>
                    <a:pt x="1807651" y="23207"/>
                    <a:pt x="1807651" y="31584"/>
                  </a:cubicBezTo>
                  <a:lnTo>
                    <a:pt x="1807651" y="143603"/>
                  </a:lnTo>
                  <a:cubicBezTo>
                    <a:pt x="1807651" y="161046"/>
                    <a:pt x="1793510" y="175187"/>
                    <a:pt x="1776067" y="175187"/>
                  </a:cubicBezTo>
                  <a:lnTo>
                    <a:pt x="31584" y="175187"/>
                  </a:lnTo>
                  <a:cubicBezTo>
                    <a:pt x="14141" y="175187"/>
                    <a:pt x="0" y="161046"/>
                    <a:pt x="0" y="143603"/>
                  </a:cubicBezTo>
                  <a:lnTo>
                    <a:pt x="0" y="31584"/>
                  </a:lnTo>
                  <a:cubicBezTo>
                    <a:pt x="0" y="14141"/>
                    <a:pt x="14141" y="0"/>
                    <a:pt x="31584" y="0"/>
                  </a:cubicBezTo>
                  <a:close/>
                </a:path>
              </a:pathLst>
            </a:custGeom>
            <a:solidFill>
              <a:srgbClr val="F26B0F"/>
            </a:solidFill>
          </p:spPr>
        </p:sp>
        <p:sp>
          <p:nvSpPr>
            <p:cNvPr name="TextBox 16" id="16"/>
            <p:cNvSpPr txBox="true"/>
            <p:nvPr/>
          </p:nvSpPr>
          <p:spPr>
            <a:xfrm>
              <a:off x="0" y="-38100"/>
              <a:ext cx="1807651" cy="213287"/>
            </a:xfrm>
            <a:prstGeom prst="rect">
              <a:avLst/>
            </a:prstGeom>
          </p:spPr>
          <p:txBody>
            <a:bodyPr anchor="ctr" rtlCol="false" tIns="50800" lIns="50800" bIns="50800" rIns="50800"/>
            <a:lstStyle/>
            <a:p>
              <a:pPr algn="ctr" marL="0" indent="0" lvl="0">
                <a:lnSpc>
                  <a:spcPts val="2659"/>
                </a:lnSpc>
              </a:pPr>
            </a:p>
          </p:txBody>
        </p:sp>
      </p:grpSp>
      <p:grpSp>
        <p:nvGrpSpPr>
          <p:cNvPr name="Group 17" id="17"/>
          <p:cNvGrpSpPr/>
          <p:nvPr/>
        </p:nvGrpSpPr>
        <p:grpSpPr>
          <a:xfrm rot="0">
            <a:off x="9986329" y="7032275"/>
            <a:ext cx="6863424" cy="665162"/>
            <a:chOff x="0" y="0"/>
            <a:chExt cx="1807651" cy="175187"/>
          </a:xfrm>
        </p:grpSpPr>
        <p:sp>
          <p:nvSpPr>
            <p:cNvPr name="Freeform 18" id="18"/>
            <p:cNvSpPr/>
            <p:nvPr/>
          </p:nvSpPr>
          <p:spPr>
            <a:xfrm flipH="false" flipV="false" rot="0">
              <a:off x="0" y="0"/>
              <a:ext cx="1807651" cy="175187"/>
            </a:xfrm>
            <a:custGeom>
              <a:avLst/>
              <a:gdLst/>
              <a:ahLst/>
              <a:cxnLst/>
              <a:rect r="r" b="b" t="t" l="l"/>
              <a:pathLst>
                <a:path h="175187" w="1807651">
                  <a:moveTo>
                    <a:pt x="31584" y="0"/>
                  </a:moveTo>
                  <a:lnTo>
                    <a:pt x="1776067" y="0"/>
                  </a:lnTo>
                  <a:cubicBezTo>
                    <a:pt x="1784443" y="0"/>
                    <a:pt x="1792477" y="3328"/>
                    <a:pt x="1798400" y="9251"/>
                  </a:cubicBezTo>
                  <a:cubicBezTo>
                    <a:pt x="1804323" y="15174"/>
                    <a:pt x="1807651" y="23207"/>
                    <a:pt x="1807651" y="31584"/>
                  </a:cubicBezTo>
                  <a:lnTo>
                    <a:pt x="1807651" y="143603"/>
                  </a:lnTo>
                  <a:cubicBezTo>
                    <a:pt x="1807651" y="161046"/>
                    <a:pt x="1793510" y="175187"/>
                    <a:pt x="1776067" y="175187"/>
                  </a:cubicBezTo>
                  <a:lnTo>
                    <a:pt x="31584" y="175187"/>
                  </a:lnTo>
                  <a:cubicBezTo>
                    <a:pt x="14141" y="175187"/>
                    <a:pt x="0" y="161046"/>
                    <a:pt x="0" y="143603"/>
                  </a:cubicBezTo>
                  <a:lnTo>
                    <a:pt x="0" y="31584"/>
                  </a:lnTo>
                  <a:cubicBezTo>
                    <a:pt x="0" y="14141"/>
                    <a:pt x="14141" y="0"/>
                    <a:pt x="31584" y="0"/>
                  </a:cubicBezTo>
                  <a:close/>
                </a:path>
              </a:pathLst>
            </a:custGeom>
            <a:solidFill>
              <a:srgbClr val="F26B0F"/>
            </a:solidFill>
          </p:spPr>
        </p:sp>
        <p:sp>
          <p:nvSpPr>
            <p:cNvPr name="TextBox 19" id="19"/>
            <p:cNvSpPr txBox="true"/>
            <p:nvPr/>
          </p:nvSpPr>
          <p:spPr>
            <a:xfrm>
              <a:off x="0" y="-38100"/>
              <a:ext cx="1807651" cy="213287"/>
            </a:xfrm>
            <a:prstGeom prst="rect">
              <a:avLst/>
            </a:prstGeom>
          </p:spPr>
          <p:txBody>
            <a:bodyPr anchor="ctr" rtlCol="false" tIns="50800" lIns="50800" bIns="50800" rIns="50800"/>
            <a:lstStyle/>
            <a:p>
              <a:pPr algn="ctr" marL="0" indent="0" lvl="0">
                <a:lnSpc>
                  <a:spcPts val="2659"/>
                </a:lnSpc>
              </a:pPr>
            </a:p>
          </p:txBody>
        </p:sp>
      </p:grpSp>
      <p:grpSp>
        <p:nvGrpSpPr>
          <p:cNvPr name="Group 20" id="20"/>
          <p:cNvGrpSpPr/>
          <p:nvPr/>
        </p:nvGrpSpPr>
        <p:grpSpPr>
          <a:xfrm rot="0">
            <a:off x="9330146" y="4588747"/>
            <a:ext cx="472735" cy="472735"/>
            <a:chOff x="0" y="0"/>
            <a:chExt cx="812800" cy="812800"/>
          </a:xfrm>
        </p:grpSpPr>
        <p:sp>
          <p:nvSpPr>
            <p:cNvPr name="Freeform 21" id="21"/>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DE59"/>
            </a:solidFill>
          </p:spPr>
        </p:sp>
        <p:sp>
          <p:nvSpPr>
            <p:cNvPr name="TextBox 22" id="22"/>
            <p:cNvSpPr txBox="true"/>
            <p:nvPr/>
          </p:nvSpPr>
          <p:spPr>
            <a:xfrm>
              <a:off x="76200" y="38100"/>
              <a:ext cx="660400" cy="698500"/>
            </a:xfrm>
            <a:prstGeom prst="rect">
              <a:avLst/>
            </a:prstGeom>
          </p:spPr>
          <p:txBody>
            <a:bodyPr anchor="ctr" rtlCol="false" tIns="50800" lIns="50800" bIns="50800" rIns="50800"/>
            <a:lstStyle/>
            <a:p>
              <a:pPr algn="ctr" marL="0" indent="0" lvl="0">
                <a:lnSpc>
                  <a:spcPts val="2659"/>
                </a:lnSpc>
              </a:pPr>
            </a:p>
          </p:txBody>
        </p:sp>
      </p:grpSp>
      <p:grpSp>
        <p:nvGrpSpPr>
          <p:cNvPr name="Group 23" id="23"/>
          <p:cNvGrpSpPr/>
          <p:nvPr/>
        </p:nvGrpSpPr>
        <p:grpSpPr>
          <a:xfrm rot="0">
            <a:off x="9330146" y="5431867"/>
            <a:ext cx="472735" cy="472735"/>
            <a:chOff x="0" y="0"/>
            <a:chExt cx="812800" cy="812800"/>
          </a:xfrm>
        </p:grpSpPr>
        <p:sp>
          <p:nvSpPr>
            <p:cNvPr name="Freeform 24" id="24"/>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DE59"/>
            </a:solidFill>
          </p:spPr>
        </p:sp>
        <p:sp>
          <p:nvSpPr>
            <p:cNvPr name="TextBox 25" id="25"/>
            <p:cNvSpPr txBox="true"/>
            <p:nvPr/>
          </p:nvSpPr>
          <p:spPr>
            <a:xfrm>
              <a:off x="76200" y="38100"/>
              <a:ext cx="660400" cy="698500"/>
            </a:xfrm>
            <a:prstGeom prst="rect">
              <a:avLst/>
            </a:prstGeom>
          </p:spPr>
          <p:txBody>
            <a:bodyPr anchor="ctr" rtlCol="false" tIns="50800" lIns="50800" bIns="50800" rIns="50800"/>
            <a:lstStyle/>
            <a:p>
              <a:pPr algn="ctr" marL="0" indent="0" lvl="0">
                <a:lnSpc>
                  <a:spcPts val="2659"/>
                </a:lnSpc>
              </a:pPr>
            </a:p>
          </p:txBody>
        </p:sp>
      </p:grpSp>
      <p:grpSp>
        <p:nvGrpSpPr>
          <p:cNvPr name="Group 26" id="26"/>
          <p:cNvGrpSpPr/>
          <p:nvPr/>
        </p:nvGrpSpPr>
        <p:grpSpPr>
          <a:xfrm rot="0">
            <a:off x="9330146" y="6274987"/>
            <a:ext cx="472735" cy="472735"/>
            <a:chOff x="0" y="0"/>
            <a:chExt cx="812800" cy="812800"/>
          </a:xfrm>
        </p:grpSpPr>
        <p:sp>
          <p:nvSpPr>
            <p:cNvPr name="Freeform 27" id="2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DE59"/>
            </a:solidFill>
          </p:spPr>
        </p:sp>
        <p:sp>
          <p:nvSpPr>
            <p:cNvPr name="TextBox 28" id="28"/>
            <p:cNvSpPr txBox="true"/>
            <p:nvPr/>
          </p:nvSpPr>
          <p:spPr>
            <a:xfrm>
              <a:off x="76200" y="38100"/>
              <a:ext cx="660400" cy="698500"/>
            </a:xfrm>
            <a:prstGeom prst="rect">
              <a:avLst/>
            </a:prstGeom>
          </p:spPr>
          <p:txBody>
            <a:bodyPr anchor="ctr" rtlCol="false" tIns="50800" lIns="50800" bIns="50800" rIns="50800"/>
            <a:lstStyle/>
            <a:p>
              <a:pPr algn="ctr" marL="0" indent="0" lvl="0">
                <a:lnSpc>
                  <a:spcPts val="2659"/>
                </a:lnSpc>
              </a:pPr>
            </a:p>
          </p:txBody>
        </p:sp>
      </p:grpSp>
      <p:grpSp>
        <p:nvGrpSpPr>
          <p:cNvPr name="Group 29" id="29"/>
          <p:cNvGrpSpPr/>
          <p:nvPr/>
        </p:nvGrpSpPr>
        <p:grpSpPr>
          <a:xfrm rot="0">
            <a:off x="9330146" y="7118106"/>
            <a:ext cx="472735" cy="472735"/>
            <a:chOff x="0" y="0"/>
            <a:chExt cx="812800" cy="812800"/>
          </a:xfrm>
        </p:grpSpPr>
        <p:sp>
          <p:nvSpPr>
            <p:cNvPr name="Freeform 30" id="30"/>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DE59"/>
            </a:solidFill>
          </p:spPr>
        </p:sp>
        <p:sp>
          <p:nvSpPr>
            <p:cNvPr name="TextBox 31" id="31"/>
            <p:cNvSpPr txBox="true"/>
            <p:nvPr/>
          </p:nvSpPr>
          <p:spPr>
            <a:xfrm>
              <a:off x="76200" y="38100"/>
              <a:ext cx="660400" cy="698500"/>
            </a:xfrm>
            <a:prstGeom prst="rect">
              <a:avLst/>
            </a:prstGeom>
          </p:spPr>
          <p:txBody>
            <a:bodyPr anchor="ctr" rtlCol="false" tIns="50800" lIns="50800" bIns="50800" rIns="50800"/>
            <a:lstStyle/>
            <a:p>
              <a:pPr algn="ctr" marL="0" indent="0" lvl="0">
                <a:lnSpc>
                  <a:spcPts val="2659"/>
                </a:lnSpc>
              </a:pPr>
            </a:p>
          </p:txBody>
        </p:sp>
      </p:grpSp>
      <p:sp>
        <p:nvSpPr>
          <p:cNvPr name="Freeform 32" id="32"/>
          <p:cNvSpPr/>
          <p:nvPr/>
        </p:nvSpPr>
        <p:spPr>
          <a:xfrm flipH="false" flipV="false" rot="0">
            <a:off x="1203799" y="1821814"/>
            <a:ext cx="7066485" cy="7507554"/>
          </a:xfrm>
          <a:custGeom>
            <a:avLst/>
            <a:gdLst/>
            <a:ahLst/>
            <a:cxnLst/>
            <a:rect r="r" b="b" t="t" l="l"/>
            <a:pathLst>
              <a:path h="7507554" w="7066485">
                <a:moveTo>
                  <a:pt x="0" y="0"/>
                </a:moveTo>
                <a:lnTo>
                  <a:pt x="7066485" y="0"/>
                </a:lnTo>
                <a:lnTo>
                  <a:pt x="7066485" y="7507554"/>
                </a:lnTo>
                <a:lnTo>
                  <a:pt x="0" y="7507554"/>
                </a:lnTo>
                <a:lnTo>
                  <a:pt x="0" y="0"/>
                </a:lnTo>
                <a:close/>
              </a:path>
            </a:pathLst>
          </a:custGeom>
          <a:blipFill>
            <a:blip r:embed="rId4"/>
            <a:stretch>
              <a:fillRect l="0" t="0" r="0" b="0"/>
            </a:stretch>
          </a:blipFill>
        </p:spPr>
      </p:sp>
      <p:sp>
        <p:nvSpPr>
          <p:cNvPr name="Freeform 33" id="33"/>
          <p:cNvSpPr/>
          <p:nvPr/>
        </p:nvSpPr>
        <p:spPr>
          <a:xfrm flipH="false" flipV="false" rot="-8624752">
            <a:off x="785499" y="3828383"/>
            <a:ext cx="1085674" cy="1556523"/>
          </a:xfrm>
          <a:custGeom>
            <a:avLst/>
            <a:gdLst/>
            <a:ahLst/>
            <a:cxnLst/>
            <a:rect r="r" b="b" t="t" l="l"/>
            <a:pathLst>
              <a:path h="1556523" w="1085674">
                <a:moveTo>
                  <a:pt x="0" y="0"/>
                </a:moveTo>
                <a:lnTo>
                  <a:pt x="1085675" y="0"/>
                </a:lnTo>
                <a:lnTo>
                  <a:pt x="1085675" y="1556523"/>
                </a:lnTo>
                <a:lnTo>
                  <a:pt x="0" y="1556523"/>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34" id="34"/>
          <p:cNvSpPr/>
          <p:nvPr/>
        </p:nvSpPr>
        <p:spPr>
          <a:xfrm flipH="false" flipV="false" rot="3736269">
            <a:off x="7443072" y="6750963"/>
            <a:ext cx="856381" cy="1227787"/>
          </a:xfrm>
          <a:custGeom>
            <a:avLst/>
            <a:gdLst/>
            <a:ahLst/>
            <a:cxnLst/>
            <a:rect r="r" b="b" t="t" l="l"/>
            <a:pathLst>
              <a:path h="1227787" w="856381">
                <a:moveTo>
                  <a:pt x="0" y="0"/>
                </a:moveTo>
                <a:lnTo>
                  <a:pt x="856381" y="0"/>
                </a:lnTo>
                <a:lnTo>
                  <a:pt x="856381" y="1227786"/>
                </a:lnTo>
                <a:lnTo>
                  <a:pt x="0" y="1227786"/>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35" id="35"/>
          <p:cNvSpPr/>
          <p:nvPr/>
        </p:nvSpPr>
        <p:spPr>
          <a:xfrm flipH="false" flipV="false" rot="0">
            <a:off x="-709819" y="-85275"/>
            <a:ext cx="3262322" cy="3175198"/>
          </a:xfrm>
          <a:custGeom>
            <a:avLst/>
            <a:gdLst/>
            <a:ahLst/>
            <a:cxnLst/>
            <a:rect r="r" b="b" t="t" l="l"/>
            <a:pathLst>
              <a:path h="3175198" w="3262322">
                <a:moveTo>
                  <a:pt x="0" y="0"/>
                </a:moveTo>
                <a:lnTo>
                  <a:pt x="3262322" y="0"/>
                </a:lnTo>
                <a:lnTo>
                  <a:pt x="3262322" y="3175197"/>
                </a:lnTo>
                <a:lnTo>
                  <a:pt x="0" y="3175197"/>
                </a:lnTo>
                <a:lnTo>
                  <a:pt x="0" y="0"/>
                </a:lnTo>
                <a:close/>
              </a:path>
            </a:pathLst>
          </a:custGeom>
          <a:blipFill>
            <a:blip r:embed="rId7"/>
            <a:stretch>
              <a:fillRect l="0" t="0" r="0" b="0"/>
            </a:stretch>
          </a:blipFill>
        </p:spPr>
      </p:sp>
      <p:sp>
        <p:nvSpPr>
          <p:cNvPr name="TextBox 36" id="36"/>
          <p:cNvSpPr txBox="true"/>
          <p:nvPr/>
        </p:nvSpPr>
        <p:spPr>
          <a:xfrm rot="0">
            <a:off x="9330146" y="1578076"/>
            <a:ext cx="8957854" cy="908535"/>
          </a:xfrm>
          <a:prstGeom prst="rect">
            <a:avLst/>
          </a:prstGeom>
        </p:spPr>
        <p:txBody>
          <a:bodyPr anchor="t" rtlCol="false" tIns="0" lIns="0" bIns="0" rIns="0">
            <a:spAutoFit/>
          </a:bodyPr>
          <a:lstStyle/>
          <a:p>
            <a:pPr algn="l" marL="0" indent="0" lvl="0">
              <a:lnSpc>
                <a:spcPts val="6715"/>
              </a:lnSpc>
            </a:pPr>
            <a:r>
              <a:rPr lang="en-US" sz="6995">
                <a:solidFill>
                  <a:srgbClr val="FFFFFF"/>
                </a:solidFill>
                <a:latin typeface="Lilita One"/>
                <a:ea typeface="Lilita One"/>
                <a:cs typeface="Lilita One"/>
                <a:sym typeface="Lilita One"/>
              </a:rPr>
              <a:t>OBJECTIVES</a:t>
            </a:r>
          </a:p>
        </p:txBody>
      </p:sp>
      <p:sp>
        <p:nvSpPr>
          <p:cNvPr name="TextBox 37" id="37"/>
          <p:cNvSpPr txBox="true"/>
          <p:nvPr/>
        </p:nvSpPr>
        <p:spPr>
          <a:xfrm rot="0">
            <a:off x="9358897" y="2705836"/>
            <a:ext cx="8929103" cy="1289749"/>
          </a:xfrm>
          <a:prstGeom prst="rect">
            <a:avLst/>
          </a:prstGeom>
        </p:spPr>
        <p:txBody>
          <a:bodyPr anchor="t" rtlCol="false" tIns="0" lIns="0" bIns="0" rIns="0">
            <a:spAutoFit/>
          </a:bodyPr>
          <a:lstStyle/>
          <a:p>
            <a:pPr algn="l" marL="0" indent="0" lvl="0">
              <a:lnSpc>
                <a:spcPts val="5036"/>
              </a:lnSpc>
            </a:pPr>
            <a:r>
              <a:rPr lang="en-US" b="true" sz="3597">
                <a:solidFill>
                  <a:srgbClr val="FFFFFF"/>
                </a:solidFill>
                <a:latin typeface="Poppins Bold"/>
                <a:ea typeface="Poppins Bold"/>
                <a:cs typeface="Poppins Bold"/>
                <a:sym typeface="Poppins Bold"/>
              </a:rPr>
              <a:t>Project Goals &amp;</a:t>
            </a:r>
          </a:p>
          <a:p>
            <a:pPr algn="l" marL="0" indent="0" lvl="0">
              <a:lnSpc>
                <a:spcPts val="5036"/>
              </a:lnSpc>
            </a:pPr>
            <a:r>
              <a:rPr lang="en-US" b="true" sz="3597">
                <a:solidFill>
                  <a:srgbClr val="FFFFFF"/>
                </a:solidFill>
                <a:latin typeface="Poppins Bold"/>
                <a:ea typeface="Poppins Bold"/>
                <a:cs typeface="Poppins Bold"/>
                <a:sym typeface="Poppins Bold"/>
              </a:rPr>
              <a:t>Research Objectives</a:t>
            </a:r>
          </a:p>
        </p:txBody>
      </p:sp>
      <p:sp>
        <p:nvSpPr>
          <p:cNvPr name="Freeform 38" id="38"/>
          <p:cNvSpPr/>
          <p:nvPr/>
        </p:nvSpPr>
        <p:spPr>
          <a:xfrm flipH="false" flipV="false" rot="7612064">
            <a:off x="17420867" y="2450918"/>
            <a:ext cx="1085674" cy="1556523"/>
          </a:xfrm>
          <a:custGeom>
            <a:avLst/>
            <a:gdLst/>
            <a:ahLst/>
            <a:cxnLst/>
            <a:rect r="r" b="b" t="t" l="l"/>
            <a:pathLst>
              <a:path h="1556523" w="1085674">
                <a:moveTo>
                  <a:pt x="0" y="0"/>
                </a:moveTo>
                <a:lnTo>
                  <a:pt x="1085675" y="0"/>
                </a:lnTo>
                <a:lnTo>
                  <a:pt x="1085675" y="1556522"/>
                </a:lnTo>
                <a:lnTo>
                  <a:pt x="0" y="1556522"/>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TextBox 39" id="39"/>
          <p:cNvSpPr txBox="true"/>
          <p:nvPr/>
        </p:nvSpPr>
        <p:spPr>
          <a:xfrm rot="0">
            <a:off x="10390267" y="4559020"/>
            <a:ext cx="7175839" cy="283755"/>
          </a:xfrm>
          <a:prstGeom prst="rect">
            <a:avLst/>
          </a:prstGeom>
        </p:spPr>
        <p:txBody>
          <a:bodyPr anchor="t" rtlCol="false" tIns="0" lIns="0" bIns="0" rIns="0">
            <a:spAutoFit/>
          </a:bodyPr>
          <a:lstStyle/>
          <a:p>
            <a:pPr algn="just" marL="0" indent="0" lvl="0">
              <a:lnSpc>
                <a:spcPts val="2209"/>
              </a:lnSpc>
            </a:pPr>
            <a:r>
              <a:rPr lang="en-US" sz="1578">
                <a:solidFill>
                  <a:srgbClr val="FFFFFF"/>
                </a:solidFill>
                <a:latin typeface="Poppins"/>
                <a:ea typeface="Poppins"/>
                <a:cs typeface="Poppins"/>
                <a:sym typeface="Poppins"/>
              </a:rPr>
              <a:t>Evaluate route-wise passenger performance across Bengaluru</a:t>
            </a:r>
          </a:p>
        </p:txBody>
      </p:sp>
      <p:sp>
        <p:nvSpPr>
          <p:cNvPr name="TextBox 40" id="40"/>
          <p:cNvSpPr txBox="true"/>
          <p:nvPr/>
        </p:nvSpPr>
        <p:spPr>
          <a:xfrm rot="0">
            <a:off x="10390267" y="5412521"/>
            <a:ext cx="7175839" cy="283755"/>
          </a:xfrm>
          <a:prstGeom prst="rect">
            <a:avLst/>
          </a:prstGeom>
        </p:spPr>
        <p:txBody>
          <a:bodyPr anchor="t" rtlCol="false" tIns="0" lIns="0" bIns="0" rIns="0">
            <a:spAutoFit/>
          </a:bodyPr>
          <a:lstStyle/>
          <a:p>
            <a:pPr algn="just" marL="0" indent="0" lvl="0">
              <a:lnSpc>
                <a:spcPts val="2209"/>
              </a:lnSpc>
            </a:pPr>
            <a:r>
              <a:rPr lang="en-US" sz="1578">
                <a:solidFill>
                  <a:srgbClr val="FFFFFF"/>
                </a:solidFill>
                <a:latin typeface="Poppins"/>
                <a:ea typeface="Poppins"/>
                <a:cs typeface="Poppins"/>
                <a:sym typeface="Poppins"/>
              </a:rPr>
              <a:t>Identify passenger intensity patterns using heat map analysis</a:t>
            </a:r>
          </a:p>
        </p:txBody>
      </p:sp>
      <p:sp>
        <p:nvSpPr>
          <p:cNvPr name="TextBox 41" id="41"/>
          <p:cNvSpPr txBox="true"/>
          <p:nvPr/>
        </p:nvSpPr>
        <p:spPr>
          <a:xfrm rot="0">
            <a:off x="10390267" y="6275548"/>
            <a:ext cx="7175839" cy="257720"/>
          </a:xfrm>
          <a:prstGeom prst="rect">
            <a:avLst/>
          </a:prstGeom>
        </p:spPr>
        <p:txBody>
          <a:bodyPr anchor="t" rtlCol="false" tIns="0" lIns="0" bIns="0" rIns="0">
            <a:spAutoFit/>
          </a:bodyPr>
          <a:lstStyle/>
          <a:p>
            <a:pPr algn="just" marL="0" indent="0" lvl="0">
              <a:lnSpc>
                <a:spcPts val="2069"/>
              </a:lnSpc>
            </a:pPr>
            <a:r>
              <a:rPr lang="en-US" sz="1478">
                <a:solidFill>
                  <a:srgbClr val="FFFFFF"/>
                </a:solidFill>
                <a:latin typeface="Poppins"/>
                <a:ea typeface="Poppins"/>
                <a:cs typeface="Poppins"/>
                <a:sym typeface="Poppins"/>
              </a:rPr>
              <a:t>Study movement and route connectivity via flow map analysis</a:t>
            </a:r>
          </a:p>
        </p:txBody>
      </p:sp>
      <p:sp>
        <p:nvSpPr>
          <p:cNvPr name="TextBox 42" id="42"/>
          <p:cNvSpPr txBox="true"/>
          <p:nvPr/>
        </p:nvSpPr>
        <p:spPr>
          <a:xfrm rot="0">
            <a:off x="10390267" y="7119524"/>
            <a:ext cx="7175839" cy="283755"/>
          </a:xfrm>
          <a:prstGeom prst="rect">
            <a:avLst/>
          </a:prstGeom>
        </p:spPr>
        <p:txBody>
          <a:bodyPr anchor="t" rtlCol="false" tIns="0" lIns="0" bIns="0" rIns="0">
            <a:spAutoFit/>
          </a:bodyPr>
          <a:lstStyle/>
          <a:p>
            <a:pPr algn="just" marL="0" indent="0" lvl="0">
              <a:lnSpc>
                <a:spcPts val="2209"/>
              </a:lnSpc>
            </a:pPr>
            <a:r>
              <a:rPr lang="en-US" sz="1578">
                <a:solidFill>
                  <a:srgbClr val="FFFFFF"/>
                </a:solidFill>
                <a:latin typeface="Poppins"/>
                <a:ea typeface="Poppins"/>
                <a:cs typeface="Poppins"/>
                <a:sym typeface="Poppins"/>
              </a:rPr>
              <a:t>Generate actionable insights for transport planning decisions</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263257"/>
        </a:solidFill>
      </p:bgPr>
    </p:bg>
    <p:spTree>
      <p:nvGrpSpPr>
        <p:cNvPr id="1" name=""/>
        <p:cNvGrpSpPr/>
        <p:nvPr/>
      </p:nvGrpSpPr>
      <p:grpSpPr>
        <a:xfrm>
          <a:off x="0" y="0"/>
          <a:ext cx="0" cy="0"/>
          <a:chOff x="0" y="0"/>
          <a:chExt cx="0" cy="0"/>
        </a:xfrm>
      </p:grpSpPr>
      <p:grpSp>
        <p:nvGrpSpPr>
          <p:cNvPr name="Group 2" id="2"/>
          <p:cNvGrpSpPr/>
          <p:nvPr/>
        </p:nvGrpSpPr>
        <p:grpSpPr>
          <a:xfrm rot="0">
            <a:off x="-1134441" y="0"/>
            <a:ext cx="20556882" cy="10287000"/>
            <a:chOff x="0" y="0"/>
            <a:chExt cx="27409176" cy="13716000"/>
          </a:xfrm>
        </p:grpSpPr>
        <p:sp>
          <p:nvSpPr>
            <p:cNvPr name="Freeform 3" id="3"/>
            <p:cNvSpPr/>
            <p:nvPr/>
          </p:nvSpPr>
          <p:spPr>
            <a:xfrm flipH="false" flipV="false" rot="0">
              <a:off x="0" y="0"/>
              <a:ext cx="13716000" cy="13716000"/>
            </a:xfrm>
            <a:custGeom>
              <a:avLst/>
              <a:gdLst/>
              <a:ahLst/>
              <a:cxnLst/>
              <a:rect r="r" b="b" t="t" l="l"/>
              <a:pathLst>
                <a:path h="13716000" w="13716000">
                  <a:moveTo>
                    <a:pt x="0" y="0"/>
                  </a:moveTo>
                  <a:lnTo>
                    <a:pt x="13716000" y="0"/>
                  </a:lnTo>
                  <a:lnTo>
                    <a:pt x="13716000" y="13716000"/>
                  </a:lnTo>
                  <a:lnTo>
                    <a:pt x="0" y="13716000"/>
                  </a:lnTo>
                  <a:lnTo>
                    <a:pt x="0" y="0"/>
                  </a:lnTo>
                  <a:close/>
                </a:path>
              </a:pathLst>
            </a:custGeom>
            <a:blipFill>
              <a:blip r:embed="rId2">
                <a:alphaModFix amt="15000"/>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13693176" y="0"/>
              <a:ext cx="13716000" cy="13716000"/>
            </a:xfrm>
            <a:custGeom>
              <a:avLst/>
              <a:gdLst/>
              <a:ahLst/>
              <a:cxnLst/>
              <a:rect r="r" b="b" t="t" l="l"/>
              <a:pathLst>
                <a:path h="13716000" w="13716000">
                  <a:moveTo>
                    <a:pt x="0" y="0"/>
                  </a:moveTo>
                  <a:lnTo>
                    <a:pt x="13716000" y="0"/>
                  </a:lnTo>
                  <a:lnTo>
                    <a:pt x="13716000" y="13716000"/>
                  </a:lnTo>
                  <a:lnTo>
                    <a:pt x="0" y="13716000"/>
                  </a:lnTo>
                  <a:lnTo>
                    <a:pt x="0" y="0"/>
                  </a:lnTo>
                  <a:close/>
                </a:path>
              </a:pathLst>
            </a:custGeom>
            <a:blipFill>
              <a:blip r:embed="rId2">
                <a:alphaModFix amt="15000"/>
                <a:extLst>
                  <a:ext uri="{96DAC541-7B7A-43D3-8B79-37D633B846F1}">
                    <asvg:svgBlip xmlns:asvg="http://schemas.microsoft.com/office/drawing/2016/SVG/main" r:embed="rId3"/>
                  </a:ext>
                </a:extLst>
              </a:blip>
              <a:stretch>
                <a:fillRect l="0" t="0" r="0" b="0"/>
              </a:stretch>
            </a:blipFill>
          </p:spPr>
        </p:sp>
      </p:grpSp>
      <p:grpSp>
        <p:nvGrpSpPr>
          <p:cNvPr name="Group 5" id="5"/>
          <p:cNvGrpSpPr/>
          <p:nvPr/>
        </p:nvGrpSpPr>
        <p:grpSpPr>
          <a:xfrm rot="0">
            <a:off x="6695887" y="5667073"/>
            <a:ext cx="10561141" cy="2840255"/>
            <a:chOff x="0" y="0"/>
            <a:chExt cx="2781535" cy="748051"/>
          </a:xfrm>
        </p:grpSpPr>
        <p:sp>
          <p:nvSpPr>
            <p:cNvPr name="Freeform 6" id="6"/>
            <p:cNvSpPr/>
            <p:nvPr/>
          </p:nvSpPr>
          <p:spPr>
            <a:xfrm flipH="false" flipV="false" rot="0">
              <a:off x="0" y="0"/>
              <a:ext cx="2781535" cy="748051"/>
            </a:xfrm>
            <a:custGeom>
              <a:avLst/>
              <a:gdLst/>
              <a:ahLst/>
              <a:cxnLst/>
              <a:rect r="r" b="b" t="t" l="l"/>
              <a:pathLst>
                <a:path h="748051" w="2781535">
                  <a:moveTo>
                    <a:pt x="36653" y="0"/>
                  </a:moveTo>
                  <a:lnTo>
                    <a:pt x="2744882" y="0"/>
                  </a:lnTo>
                  <a:cubicBezTo>
                    <a:pt x="2765125" y="0"/>
                    <a:pt x="2781535" y="16410"/>
                    <a:pt x="2781535" y="36653"/>
                  </a:cubicBezTo>
                  <a:lnTo>
                    <a:pt x="2781535" y="711398"/>
                  </a:lnTo>
                  <a:cubicBezTo>
                    <a:pt x="2781535" y="731641"/>
                    <a:pt x="2765125" y="748051"/>
                    <a:pt x="2744882" y="748051"/>
                  </a:cubicBezTo>
                  <a:lnTo>
                    <a:pt x="36653" y="748051"/>
                  </a:lnTo>
                  <a:cubicBezTo>
                    <a:pt x="16410" y="748051"/>
                    <a:pt x="0" y="731641"/>
                    <a:pt x="0" y="711398"/>
                  </a:cubicBezTo>
                  <a:lnTo>
                    <a:pt x="0" y="36653"/>
                  </a:lnTo>
                  <a:cubicBezTo>
                    <a:pt x="0" y="16410"/>
                    <a:pt x="16410" y="0"/>
                    <a:pt x="36653" y="0"/>
                  </a:cubicBezTo>
                  <a:close/>
                </a:path>
              </a:pathLst>
            </a:custGeom>
            <a:solidFill>
              <a:srgbClr val="F26B0F"/>
            </a:solidFill>
          </p:spPr>
        </p:sp>
        <p:sp>
          <p:nvSpPr>
            <p:cNvPr name="TextBox 7" id="7"/>
            <p:cNvSpPr txBox="true"/>
            <p:nvPr/>
          </p:nvSpPr>
          <p:spPr>
            <a:xfrm>
              <a:off x="0" y="-38100"/>
              <a:ext cx="2781535" cy="786151"/>
            </a:xfrm>
            <a:prstGeom prst="rect">
              <a:avLst/>
            </a:prstGeom>
          </p:spPr>
          <p:txBody>
            <a:bodyPr anchor="ctr" rtlCol="false" tIns="50800" lIns="50800" bIns="50800" rIns="50800"/>
            <a:lstStyle/>
            <a:p>
              <a:pPr algn="ctr" marL="0" indent="0" lvl="0">
                <a:lnSpc>
                  <a:spcPts val="2659"/>
                </a:lnSpc>
              </a:pPr>
            </a:p>
          </p:txBody>
        </p:sp>
      </p:grpSp>
      <p:grpSp>
        <p:nvGrpSpPr>
          <p:cNvPr name="Group 8" id="8"/>
          <p:cNvGrpSpPr/>
          <p:nvPr/>
        </p:nvGrpSpPr>
        <p:grpSpPr>
          <a:xfrm rot="0">
            <a:off x="-2889006" y="9258300"/>
            <a:ext cx="24066013" cy="1630186"/>
            <a:chOff x="0" y="0"/>
            <a:chExt cx="6338374" cy="429349"/>
          </a:xfrm>
        </p:grpSpPr>
        <p:sp>
          <p:nvSpPr>
            <p:cNvPr name="Freeform 9" id="9"/>
            <p:cNvSpPr/>
            <p:nvPr/>
          </p:nvSpPr>
          <p:spPr>
            <a:xfrm flipH="false" flipV="false" rot="0">
              <a:off x="0" y="0"/>
              <a:ext cx="6338374" cy="429349"/>
            </a:xfrm>
            <a:custGeom>
              <a:avLst/>
              <a:gdLst/>
              <a:ahLst/>
              <a:cxnLst/>
              <a:rect r="r" b="b" t="t" l="l"/>
              <a:pathLst>
                <a:path h="429349" w="6338374">
                  <a:moveTo>
                    <a:pt x="3169187" y="0"/>
                  </a:moveTo>
                  <a:cubicBezTo>
                    <a:pt x="1418893" y="0"/>
                    <a:pt x="0" y="96113"/>
                    <a:pt x="0" y="214675"/>
                  </a:cubicBezTo>
                  <a:cubicBezTo>
                    <a:pt x="0" y="333236"/>
                    <a:pt x="1418893" y="429349"/>
                    <a:pt x="3169187" y="429349"/>
                  </a:cubicBezTo>
                  <a:cubicBezTo>
                    <a:pt x="4919480" y="429349"/>
                    <a:pt x="6338374" y="333236"/>
                    <a:pt x="6338374" y="214675"/>
                  </a:cubicBezTo>
                  <a:cubicBezTo>
                    <a:pt x="6338374" y="96113"/>
                    <a:pt x="4919480" y="0"/>
                    <a:pt x="3169187" y="0"/>
                  </a:cubicBezTo>
                  <a:close/>
                </a:path>
              </a:pathLst>
            </a:custGeom>
            <a:solidFill>
              <a:srgbClr val="FFDE59"/>
            </a:solidFill>
          </p:spPr>
        </p:sp>
        <p:sp>
          <p:nvSpPr>
            <p:cNvPr name="TextBox 10" id="10"/>
            <p:cNvSpPr txBox="true"/>
            <p:nvPr/>
          </p:nvSpPr>
          <p:spPr>
            <a:xfrm>
              <a:off x="594223" y="2152"/>
              <a:ext cx="5149929" cy="386946"/>
            </a:xfrm>
            <a:prstGeom prst="rect">
              <a:avLst/>
            </a:prstGeom>
          </p:spPr>
          <p:txBody>
            <a:bodyPr anchor="ctr" rtlCol="false" tIns="50800" lIns="50800" bIns="50800" rIns="50800"/>
            <a:lstStyle/>
            <a:p>
              <a:pPr algn="ctr" marL="0" indent="0" lvl="0">
                <a:lnSpc>
                  <a:spcPts val="2659"/>
                </a:lnSpc>
              </a:pPr>
            </a:p>
          </p:txBody>
        </p:sp>
      </p:grpSp>
      <p:sp>
        <p:nvSpPr>
          <p:cNvPr name="TextBox 11" id="11"/>
          <p:cNvSpPr txBox="true"/>
          <p:nvPr/>
        </p:nvSpPr>
        <p:spPr>
          <a:xfrm rot="0">
            <a:off x="6695887" y="3608759"/>
            <a:ext cx="11592113" cy="1756260"/>
          </a:xfrm>
          <a:prstGeom prst="rect">
            <a:avLst/>
          </a:prstGeom>
        </p:spPr>
        <p:txBody>
          <a:bodyPr anchor="t" rtlCol="false" tIns="0" lIns="0" bIns="0" rIns="0">
            <a:spAutoFit/>
          </a:bodyPr>
          <a:lstStyle/>
          <a:p>
            <a:pPr algn="l" marL="0" indent="0" lvl="0">
              <a:lnSpc>
                <a:spcPts val="6715"/>
              </a:lnSpc>
            </a:pPr>
            <a:r>
              <a:rPr lang="en-US" sz="6995">
                <a:solidFill>
                  <a:srgbClr val="FFFFFF"/>
                </a:solidFill>
                <a:latin typeface="Lilita One"/>
                <a:ea typeface="Lilita One"/>
                <a:cs typeface="Lilita One"/>
                <a:sym typeface="Lilita One"/>
              </a:rPr>
              <a:t>DATASET</a:t>
            </a:r>
          </a:p>
          <a:p>
            <a:pPr algn="l" marL="0" indent="0" lvl="0">
              <a:lnSpc>
                <a:spcPts val="6715"/>
              </a:lnSpc>
            </a:pPr>
            <a:r>
              <a:rPr lang="en-US" sz="6995">
                <a:solidFill>
                  <a:srgbClr val="FFFFFF"/>
                </a:solidFill>
                <a:latin typeface="Lilita One"/>
                <a:ea typeface="Lilita One"/>
                <a:cs typeface="Lilita One"/>
                <a:sym typeface="Lilita One"/>
              </a:rPr>
              <a:t>OVERVIEW</a:t>
            </a:r>
          </a:p>
        </p:txBody>
      </p:sp>
      <p:sp>
        <p:nvSpPr>
          <p:cNvPr name="Freeform 12" id="12"/>
          <p:cNvSpPr/>
          <p:nvPr/>
        </p:nvSpPr>
        <p:spPr>
          <a:xfrm flipH="false" flipV="false" rot="-628614">
            <a:off x="1006240" y="1731352"/>
            <a:ext cx="1765134" cy="3394489"/>
          </a:xfrm>
          <a:custGeom>
            <a:avLst/>
            <a:gdLst/>
            <a:ahLst/>
            <a:cxnLst/>
            <a:rect r="r" b="b" t="t" l="l"/>
            <a:pathLst>
              <a:path h="3394489" w="1765134">
                <a:moveTo>
                  <a:pt x="0" y="0"/>
                </a:moveTo>
                <a:lnTo>
                  <a:pt x="1765134" y="0"/>
                </a:lnTo>
                <a:lnTo>
                  <a:pt x="1765134" y="3394489"/>
                </a:lnTo>
                <a:lnTo>
                  <a:pt x="0" y="3394489"/>
                </a:lnTo>
                <a:lnTo>
                  <a:pt x="0" y="0"/>
                </a:lnTo>
                <a:close/>
              </a:path>
            </a:pathLst>
          </a:custGeom>
          <a:blipFill>
            <a:blip r:embed="rId4"/>
            <a:stretch>
              <a:fillRect l="0" t="0" r="0" b="0"/>
            </a:stretch>
          </a:blipFill>
        </p:spPr>
      </p:sp>
      <p:sp>
        <p:nvSpPr>
          <p:cNvPr name="Freeform 13" id="13"/>
          <p:cNvSpPr/>
          <p:nvPr/>
        </p:nvSpPr>
        <p:spPr>
          <a:xfrm flipH="false" flipV="false" rot="-5319134">
            <a:off x="12697604" y="598946"/>
            <a:ext cx="1468803" cy="2105811"/>
          </a:xfrm>
          <a:custGeom>
            <a:avLst/>
            <a:gdLst/>
            <a:ahLst/>
            <a:cxnLst/>
            <a:rect r="r" b="b" t="t" l="l"/>
            <a:pathLst>
              <a:path h="2105811" w="1468803">
                <a:moveTo>
                  <a:pt x="0" y="0"/>
                </a:moveTo>
                <a:lnTo>
                  <a:pt x="1468803" y="0"/>
                </a:lnTo>
                <a:lnTo>
                  <a:pt x="1468803" y="2105811"/>
                </a:lnTo>
                <a:lnTo>
                  <a:pt x="0" y="2105811"/>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14" id="14"/>
          <p:cNvSpPr/>
          <p:nvPr/>
        </p:nvSpPr>
        <p:spPr>
          <a:xfrm flipH="false" flipV="false" rot="-6706372">
            <a:off x="7559286" y="471613"/>
            <a:ext cx="1646432" cy="2360475"/>
          </a:xfrm>
          <a:custGeom>
            <a:avLst/>
            <a:gdLst/>
            <a:ahLst/>
            <a:cxnLst/>
            <a:rect r="r" b="b" t="t" l="l"/>
            <a:pathLst>
              <a:path h="2360475" w="1646432">
                <a:moveTo>
                  <a:pt x="0" y="0"/>
                </a:moveTo>
                <a:lnTo>
                  <a:pt x="1646432" y="0"/>
                </a:lnTo>
                <a:lnTo>
                  <a:pt x="1646432" y="2360476"/>
                </a:lnTo>
                <a:lnTo>
                  <a:pt x="0" y="2360476"/>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15" id="15"/>
          <p:cNvSpPr/>
          <p:nvPr/>
        </p:nvSpPr>
        <p:spPr>
          <a:xfrm flipH="false" flipV="false" rot="0">
            <a:off x="521744" y="3799689"/>
            <a:ext cx="6385720" cy="5715219"/>
          </a:xfrm>
          <a:custGeom>
            <a:avLst/>
            <a:gdLst/>
            <a:ahLst/>
            <a:cxnLst/>
            <a:rect r="r" b="b" t="t" l="l"/>
            <a:pathLst>
              <a:path h="5715219" w="6385720">
                <a:moveTo>
                  <a:pt x="0" y="0"/>
                </a:moveTo>
                <a:lnTo>
                  <a:pt x="6385720" y="0"/>
                </a:lnTo>
                <a:lnTo>
                  <a:pt x="6385720" y="5715219"/>
                </a:lnTo>
                <a:lnTo>
                  <a:pt x="0" y="5715219"/>
                </a:lnTo>
                <a:lnTo>
                  <a:pt x="0" y="0"/>
                </a:lnTo>
                <a:close/>
              </a:path>
            </a:pathLst>
          </a:custGeom>
          <a:blipFill>
            <a:blip r:embed="rId7"/>
            <a:stretch>
              <a:fillRect l="0" t="0" r="0" b="0"/>
            </a:stretch>
          </a:blipFill>
        </p:spPr>
      </p:sp>
      <p:sp>
        <p:nvSpPr>
          <p:cNvPr name="TextBox 16" id="16"/>
          <p:cNvSpPr txBox="true"/>
          <p:nvPr/>
        </p:nvSpPr>
        <p:spPr>
          <a:xfrm rot="0">
            <a:off x="7257831" y="5897952"/>
            <a:ext cx="11030169" cy="592519"/>
          </a:xfrm>
          <a:prstGeom prst="rect">
            <a:avLst/>
          </a:prstGeom>
        </p:spPr>
        <p:txBody>
          <a:bodyPr anchor="t" rtlCol="false" tIns="0" lIns="0" bIns="0" rIns="0">
            <a:spAutoFit/>
          </a:bodyPr>
          <a:lstStyle/>
          <a:p>
            <a:pPr algn="l" marL="0" indent="0" lvl="0">
              <a:lnSpc>
                <a:spcPts val="4616"/>
              </a:lnSpc>
            </a:pPr>
            <a:r>
              <a:rPr lang="en-US" b="true" sz="3297">
                <a:solidFill>
                  <a:srgbClr val="FFFFFF"/>
                </a:solidFill>
                <a:latin typeface="Poppins Bold"/>
                <a:ea typeface="Poppins Bold"/>
                <a:cs typeface="Poppins Bold"/>
                <a:sym typeface="Poppins Bold"/>
              </a:rPr>
              <a:t>Route, Passenger, Stop, Trip &amp; Direction Data</a:t>
            </a:r>
          </a:p>
        </p:txBody>
      </p:sp>
      <p:sp>
        <p:nvSpPr>
          <p:cNvPr name="TextBox 17" id="17"/>
          <p:cNvSpPr txBox="true"/>
          <p:nvPr/>
        </p:nvSpPr>
        <p:spPr>
          <a:xfrm rot="0">
            <a:off x="7257831" y="6662534"/>
            <a:ext cx="9337573" cy="1296521"/>
          </a:xfrm>
          <a:prstGeom prst="rect">
            <a:avLst/>
          </a:prstGeom>
        </p:spPr>
        <p:txBody>
          <a:bodyPr anchor="t" rtlCol="false" tIns="0" lIns="0" bIns="0" rIns="0">
            <a:spAutoFit/>
          </a:bodyPr>
          <a:lstStyle/>
          <a:p>
            <a:pPr algn="just" marL="0" indent="0" lvl="0">
              <a:lnSpc>
                <a:spcPts val="2563"/>
              </a:lnSpc>
            </a:pPr>
            <a:r>
              <a:rPr lang="en-US" sz="1830">
                <a:solidFill>
                  <a:srgbClr val="FFFFFF"/>
                </a:solidFill>
                <a:latin typeface="Poppins"/>
                <a:ea typeface="Poppins"/>
                <a:cs typeface="Poppins"/>
                <a:sym typeface="Poppins"/>
              </a:rPr>
              <a:t>Five core data tables sourced for analysis: Route Data (route IDs, names, types), Passenger Data (boardings, alightings), Stop Data (stop locations, sequences), Trip Data (schedules, frequencies), and Direction Data (inbound/outbound flows).</a:t>
            </a:r>
          </a:p>
        </p:txBody>
      </p:sp>
      <p:sp>
        <p:nvSpPr>
          <p:cNvPr name="Freeform 18" id="18"/>
          <p:cNvSpPr/>
          <p:nvPr/>
        </p:nvSpPr>
        <p:spPr>
          <a:xfrm flipH="false" flipV="false" rot="458970">
            <a:off x="3254220" y="668297"/>
            <a:ext cx="2293629" cy="2992050"/>
          </a:xfrm>
          <a:custGeom>
            <a:avLst/>
            <a:gdLst/>
            <a:ahLst/>
            <a:cxnLst/>
            <a:rect r="r" b="b" t="t" l="l"/>
            <a:pathLst>
              <a:path h="2992050" w="2293629">
                <a:moveTo>
                  <a:pt x="0" y="0"/>
                </a:moveTo>
                <a:lnTo>
                  <a:pt x="2293629" y="0"/>
                </a:lnTo>
                <a:lnTo>
                  <a:pt x="2293629" y="2992049"/>
                </a:lnTo>
                <a:lnTo>
                  <a:pt x="0" y="2992049"/>
                </a:lnTo>
                <a:lnTo>
                  <a:pt x="0" y="0"/>
                </a:lnTo>
                <a:close/>
              </a:path>
            </a:pathLst>
          </a:custGeom>
          <a:blipFill>
            <a:blip r:embed="rId8"/>
            <a:stretch>
              <a:fillRect l="0" t="0" r="0" b="0"/>
            </a:stretch>
          </a:blipFill>
        </p:spPr>
      </p:sp>
      <p:sp>
        <p:nvSpPr>
          <p:cNvPr name="Freeform 19" id="19"/>
          <p:cNvSpPr/>
          <p:nvPr/>
        </p:nvSpPr>
        <p:spPr>
          <a:xfrm flipH="false" flipV="false" rot="0">
            <a:off x="15713689" y="1196074"/>
            <a:ext cx="4277857" cy="4390730"/>
          </a:xfrm>
          <a:custGeom>
            <a:avLst/>
            <a:gdLst/>
            <a:ahLst/>
            <a:cxnLst/>
            <a:rect r="r" b="b" t="t" l="l"/>
            <a:pathLst>
              <a:path h="4390730" w="4277857">
                <a:moveTo>
                  <a:pt x="0" y="0"/>
                </a:moveTo>
                <a:lnTo>
                  <a:pt x="4277858" y="0"/>
                </a:lnTo>
                <a:lnTo>
                  <a:pt x="4277858" y="4390729"/>
                </a:lnTo>
                <a:lnTo>
                  <a:pt x="0" y="4390729"/>
                </a:lnTo>
                <a:lnTo>
                  <a:pt x="0" y="0"/>
                </a:lnTo>
                <a:close/>
              </a:path>
            </a:pathLst>
          </a:custGeom>
          <a:blipFill>
            <a:blip r:embed="rId9"/>
            <a:stretch>
              <a:fillRect l="0" t="0" r="0" b="0"/>
            </a:stretch>
          </a:blipFill>
        </p:spPr>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263257"/>
        </a:solidFill>
      </p:bgPr>
    </p:bg>
    <p:spTree>
      <p:nvGrpSpPr>
        <p:cNvPr id="1" name=""/>
        <p:cNvGrpSpPr/>
        <p:nvPr/>
      </p:nvGrpSpPr>
      <p:grpSpPr>
        <a:xfrm>
          <a:off x="0" y="0"/>
          <a:ext cx="0" cy="0"/>
          <a:chOff x="0" y="0"/>
          <a:chExt cx="0" cy="0"/>
        </a:xfrm>
      </p:grpSpPr>
      <p:grpSp>
        <p:nvGrpSpPr>
          <p:cNvPr name="Group 2" id="2"/>
          <p:cNvGrpSpPr/>
          <p:nvPr/>
        </p:nvGrpSpPr>
        <p:grpSpPr>
          <a:xfrm rot="0">
            <a:off x="-1134441" y="0"/>
            <a:ext cx="20556882" cy="10287000"/>
            <a:chOff x="0" y="0"/>
            <a:chExt cx="27409176" cy="13716000"/>
          </a:xfrm>
        </p:grpSpPr>
        <p:sp>
          <p:nvSpPr>
            <p:cNvPr name="Freeform 3" id="3"/>
            <p:cNvSpPr/>
            <p:nvPr/>
          </p:nvSpPr>
          <p:spPr>
            <a:xfrm flipH="false" flipV="false" rot="0">
              <a:off x="0" y="0"/>
              <a:ext cx="13716000" cy="13716000"/>
            </a:xfrm>
            <a:custGeom>
              <a:avLst/>
              <a:gdLst/>
              <a:ahLst/>
              <a:cxnLst/>
              <a:rect r="r" b="b" t="t" l="l"/>
              <a:pathLst>
                <a:path h="13716000" w="13716000">
                  <a:moveTo>
                    <a:pt x="0" y="0"/>
                  </a:moveTo>
                  <a:lnTo>
                    <a:pt x="13716000" y="0"/>
                  </a:lnTo>
                  <a:lnTo>
                    <a:pt x="13716000" y="13716000"/>
                  </a:lnTo>
                  <a:lnTo>
                    <a:pt x="0" y="13716000"/>
                  </a:lnTo>
                  <a:lnTo>
                    <a:pt x="0" y="0"/>
                  </a:lnTo>
                  <a:close/>
                </a:path>
              </a:pathLst>
            </a:custGeom>
            <a:blipFill>
              <a:blip r:embed="rId2">
                <a:alphaModFix amt="15000"/>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13693176" y="0"/>
              <a:ext cx="13716000" cy="13716000"/>
            </a:xfrm>
            <a:custGeom>
              <a:avLst/>
              <a:gdLst/>
              <a:ahLst/>
              <a:cxnLst/>
              <a:rect r="r" b="b" t="t" l="l"/>
              <a:pathLst>
                <a:path h="13716000" w="13716000">
                  <a:moveTo>
                    <a:pt x="0" y="0"/>
                  </a:moveTo>
                  <a:lnTo>
                    <a:pt x="13716000" y="0"/>
                  </a:lnTo>
                  <a:lnTo>
                    <a:pt x="13716000" y="13716000"/>
                  </a:lnTo>
                  <a:lnTo>
                    <a:pt x="0" y="13716000"/>
                  </a:lnTo>
                  <a:lnTo>
                    <a:pt x="0" y="0"/>
                  </a:lnTo>
                  <a:close/>
                </a:path>
              </a:pathLst>
            </a:custGeom>
            <a:blipFill>
              <a:blip r:embed="rId2">
                <a:alphaModFix amt="15000"/>
                <a:extLst>
                  <a:ext uri="{96DAC541-7B7A-43D3-8B79-37D633B846F1}">
                    <asvg:svgBlip xmlns:asvg="http://schemas.microsoft.com/office/drawing/2016/SVG/main" r:embed="rId3"/>
                  </a:ext>
                </a:extLst>
              </a:blip>
              <a:stretch>
                <a:fillRect l="0" t="0" r="0" b="0"/>
              </a:stretch>
            </a:blipFill>
          </p:spPr>
        </p:sp>
      </p:grpSp>
      <p:grpSp>
        <p:nvGrpSpPr>
          <p:cNvPr name="Group 5" id="5"/>
          <p:cNvGrpSpPr/>
          <p:nvPr/>
        </p:nvGrpSpPr>
        <p:grpSpPr>
          <a:xfrm rot="0">
            <a:off x="1028700" y="3229219"/>
            <a:ext cx="9900735" cy="2735123"/>
            <a:chOff x="0" y="0"/>
            <a:chExt cx="2607601" cy="720362"/>
          </a:xfrm>
        </p:grpSpPr>
        <p:sp>
          <p:nvSpPr>
            <p:cNvPr name="Freeform 6" id="6"/>
            <p:cNvSpPr/>
            <p:nvPr/>
          </p:nvSpPr>
          <p:spPr>
            <a:xfrm flipH="false" flipV="false" rot="0">
              <a:off x="0" y="0"/>
              <a:ext cx="2607601" cy="720362"/>
            </a:xfrm>
            <a:custGeom>
              <a:avLst/>
              <a:gdLst/>
              <a:ahLst/>
              <a:cxnLst/>
              <a:rect r="r" b="b" t="t" l="l"/>
              <a:pathLst>
                <a:path h="720362" w="2607601">
                  <a:moveTo>
                    <a:pt x="39098" y="0"/>
                  </a:moveTo>
                  <a:lnTo>
                    <a:pt x="2568503" y="0"/>
                  </a:lnTo>
                  <a:cubicBezTo>
                    <a:pt x="2590097" y="0"/>
                    <a:pt x="2607601" y="17505"/>
                    <a:pt x="2607601" y="39098"/>
                  </a:cubicBezTo>
                  <a:lnTo>
                    <a:pt x="2607601" y="681264"/>
                  </a:lnTo>
                  <a:cubicBezTo>
                    <a:pt x="2607601" y="702857"/>
                    <a:pt x="2590097" y="720362"/>
                    <a:pt x="2568503" y="720362"/>
                  </a:cubicBezTo>
                  <a:lnTo>
                    <a:pt x="39098" y="720362"/>
                  </a:lnTo>
                  <a:cubicBezTo>
                    <a:pt x="17505" y="720362"/>
                    <a:pt x="0" y="702857"/>
                    <a:pt x="0" y="681264"/>
                  </a:cubicBezTo>
                  <a:lnTo>
                    <a:pt x="0" y="39098"/>
                  </a:lnTo>
                  <a:cubicBezTo>
                    <a:pt x="0" y="17505"/>
                    <a:pt x="17505" y="0"/>
                    <a:pt x="39098" y="0"/>
                  </a:cubicBezTo>
                  <a:close/>
                </a:path>
              </a:pathLst>
            </a:custGeom>
            <a:solidFill>
              <a:srgbClr val="F26B0F"/>
            </a:solidFill>
          </p:spPr>
        </p:sp>
        <p:sp>
          <p:nvSpPr>
            <p:cNvPr name="TextBox 7" id="7"/>
            <p:cNvSpPr txBox="true"/>
            <p:nvPr/>
          </p:nvSpPr>
          <p:spPr>
            <a:xfrm>
              <a:off x="0" y="-38100"/>
              <a:ext cx="2607601" cy="758462"/>
            </a:xfrm>
            <a:prstGeom prst="rect">
              <a:avLst/>
            </a:prstGeom>
          </p:spPr>
          <p:txBody>
            <a:bodyPr anchor="ctr" rtlCol="false" tIns="50800" lIns="50800" bIns="50800" rIns="50800"/>
            <a:lstStyle/>
            <a:p>
              <a:pPr algn="ctr" marL="0" indent="0" lvl="0">
                <a:lnSpc>
                  <a:spcPts val="2659"/>
                </a:lnSpc>
              </a:pPr>
            </a:p>
          </p:txBody>
        </p:sp>
      </p:grpSp>
      <p:grpSp>
        <p:nvGrpSpPr>
          <p:cNvPr name="Group 8" id="8"/>
          <p:cNvGrpSpPr/>
          <p:nvPr/>
        </p:nvGrpSpPr>
        <p:grpSpPr>
          <a:xfrm rot="0">
            <a:off x="-2889006" y="9258300"/>
            <a:ext cx="24066013" cy="1630186"/>
            <a:chOff x="0" y="0"/>
            <a:chExt cx="6338374" cy="429349"/>
          </a:xfrm>
        </p:grpSpPr>
        <p:sp>
          <p:nvSpPr>
            <p:cNvPr name="Freeform 9" id="9"/>
            <p:cNvSpPr/>
            <p:nvPr/>
          </p:nvSpPr>
          <p:spPr>
            <a:xfrm flipH="false" flipV="false" rot="0">
              <a:off x="0" y="0"/>
              <a:ext cx="6338374" cy="429349"/>
            </a:xfrm>
            <a:custGeom>
              <a:avLst/>
              <a:gdLst/>
              <a:ahLst/>
              <a:cxnLst/>
              <a:rect r="r" b="b" t="t" l="l"/>
              <a:pathLst>
                <a:path h="429349" w="6338374">
                  <a:moveTo>
                    <a:pt x="3169187" y="0"/>
                  </a:moveTo>
                  <a:cubicBezTo>
                    <a:pt x="1418893" y="0"/>
                    <a:pt x="0" y="96113"/>
                    <a:pt x="0" y="214675"/>
                  </a:cubicBezTo>
                  <a:cubicBezTo>
                    <a:pt x="0" y="333236"/>
                    <a:pt x="1418893" y="429349"/>
                    <a:pt x="3169187" y="429349"/>
                  </a:cubicBezTo>
                  <a:cubicBezTo>
                    <a:pt x="4919480" y="429349"/>
                    <a:pt x="6338374" y="333236"/>
                    <a:pt x="6338374" y="214675"/>
                  </a:cubicBezTo>
                  <a:cubicBezTo>
                    <a:pt x="6338374" y="96113"/>
                    <a:pt x="4919480" y="0"/>
                    <a:pt x="3169187" y="0"/>
                  </a:cubicBezTo>
                  <a:close/>
                </a:path>
              </a:pathLst>
            </a:custGeom>
            <a:solidFill>
              <a:srgbClr val="FFDE59"/>
            </a:solidFill>
          </p:spPr>
        </p:sp>
        <p:sp>
          <p:nvSpPr>
            <p:cNvPr name="TextBox 10" id="10"/>
            <p:cNvSpPr txBox="true"/>
            <p:nvPr/>
          </p:nvSpPr>
          <p:spPr>
            <a:xfrm>
              <a:off x="594223" y="2152"/>
              <a:ext cx="5149929" cy="386946"/>
            </a:xfrm>
            <a:prstGeom prst="rect">
              <a:avLst/>
            </a:prstGeom>
          </p:spPr>
          <p:txBody>
            <a:bodyPr anchor="ctr" rtlCol="false" tIns="50800" lIns="50800" bIns="50800" rIns="50800"/>
            <a:lstStyle/>
            <a:p>
              <a:pPr algn="ctr" marL="0" indent="0" lvl="0">
                <a:lnSpc>
                  <a:spcPts val="2659"/>
                </a:lnSpc>
              </a:pPr>
            </a:p>
          </p:txBody>
        </p:sp>
      </p:grpSp>
      <p:sp>
        <p:nvSpPr>
          <p:cNvPr name="Freeform 11" id="11"/>
          <p:cNvSpPr/>
          <p:nvPr/>
        </p:nvSpPr>
        <p:spPr>
          <a:xfrm flipH="false" flipV="false" rot="0">
            <a:off x="9561224" y="3918029"/>
            <a:ext cx="8437846" cy="5864303"/>
          </a:xfrm>
          <a:custGeom>
            <a:avLst/>
            <a:gdLst/>
            <a:ahLst/>
            <a:cxnLst/>
            <a:rect r="r" b="b" t="t" l="l"/>
            <a:pathLst>
              <a:path h="5864303" w="8437846">
                <a:moveTo>
                  <a:pt x="0" y="0"/>
                </a:moveTo>
                <a:lnTo>
                  <a:pt x="8437846" y="0"/>
                </a:lnTo>
                <a:lnTo>
                  <a:pt x="8437846" y="5864303"/>
                </a:lnTo>
                <a:lnTo>
                  <a:pt x="0" y="5864303"/>
                </a:lnTo>
                <a:lnTo>
                  <a:pt x="0" y="0"/>
                </a:lnTo>
                <a:close/>
              </a:path>
            </a:pathLst>
          </a:custGeom>
          <a:blipFill>
            <a:blip r:embed="rId4"/>
            <a:stretch>
              <a:fillRect l="0" t="0" r="0" b="0"/>
            </a:stretch>
          </a:blipFill>
        </p:spPr>
      </p:sp>
      <p:sp>
        <p:nvSpPr>
          <p:cNvPr name="TextBox 12" id="12"/>
          <p:cNvSpPr txBox="true"/>
          <p:nvPr/>
        </p:nvSpPr>
        <p:spPr>
          <a:xfrm rot="0">
            <a:off x="1028700" y="1181100"/>
            <a:ext cx="13926768" cy="908685"/>
          </a:xfrm>
          <a:prstGeom prst="rect">
            <a:avLst/>
          </a:prstGeom>
        </p:spPr>
        <p:txBody>
          <a:bodyPr anchor="t" rtlCol="false" tIns="0" lIns="0" bIns="0" rIns="0">
            <a:spAutoFit/>
          </a:bodyPr>
          <a:lstStyle/>
          <a:p>
            <a:pPr algn="l" marL="0" indent="0" lvl="0">
              <a:lnSpc>
                <a:spcPts val="6719"/>
              </a:lnSpc>
            </a:pPr>
            <a:r>
              <a:rPr lang="en-US" sz="6999">
                <a:solidFill>
                  <a:srgbClr val="FFFFFF"/>
                </a:solidFill>
                <a:latin typeface="Lilita One"/>
                <a:ea typeface="Lilita One"/>
                <a:cs typeface="Lilita One"/>
                <a:sym typeface="Lilita One"/>
              </a:rPr>
              <a:t>TOOLS &amp; TECHNOLOGIES USED</a:t>
            </a:r>
          </a:p>
        </p:txBody>
      </p:sp>
      <p:sp>
        <p:nvSpPr>
          <p:cNvPr name="TextBox 13" id="13"/>
          <p:cNvSpPr txBox="true"/>
          <p:nvPr/>
        </p:nvSpPr>
        <p:spPr>
          <a:xfrm rot="0">
            <a:off x="1590644" y="3508052"/>
            <a:ext cx="13364824" cy="651574"/>
          </a:xfrm>
          <a:prstGeom prst="rect">
            <a:avLst/>
          </a:prstGeom>
        </p:spPr>
        <p:txBody>
          <a:bodyPr anchor="t" rtlCol="false" tIns="0" lIns="0" bIns="0" rIns="0">
            <a:spAutoFit/>
          </a:bodyPr>
          <a:lstStyle/>
          <a:p>
            <a:pPr algn="l" marL="0" indent="0" lvl="0">
              <a:lnSpc>
                <a:spcPts val="5036"/>
              </a:lnSpc>
            </a:pPr>
            <a:r>
              <a:rPr lang="en-US" b="true" sz="3597">
                <a:solidFill>
                  <a:srgbClr val="FFFFFF"/>
                </a:solidFill>
                <a:latin typeface="Poppins Bold"/>
                <a:ea typeface="Poppins Bold"/>
                <a:cs typeface="Poppins Bold"/>
                <a:sym typeface="Poppins Bold"/>
              </a:rPr>
              <a:t>Power BI | Power Query | DAX</a:t>
            </a:r>
          </a:p>
        </p:txBody>
      </p:sp>
      <p:sp>
        <p:nvSpPr>
          <p:cNvPr name="TextBox 14" id="14"/>
          <p:cNvSpPr txBox="true"/>
          <p:nvPr/>
        </p:nvSpPr>
        <p:spPr>
          <a:xfrm rot="0">
            <a:off x="1590644" y="4282159"/>
            <a:ext cx="8776848" cy="1296521"/>
          </a:xfrm>
          <a:prstGeom prst="rect">
            <a:avLst/>
          </a:prstGeom>
        </p:spPr>
        <p:txBody>
          <a:bodyPr anchor="t" rtlCol="false" tIns="0" lIns="0" bIns="0" rIns="0">
            <a:spAutoFit/>
          </a:bodyPr>
          <a:lstStyle/>
          <a:p>
            <a:pPr algn="just" marL="0" indent="0" lvl="0">
              <a:lnSpc>
                <a:spcPts val="2563"/>
              </a:lnSpc>
            </a:pPr>
            <a:r>
              <a:rPr lang="en-US" sz="1830">
                <a:solidFill>
                  <a:srgbClr val="FFFFFF"/>
                </a:solidFill>
                <a:latin typeface="Poppins"/>
                <a:ea typeface="Poppins"/>
                <a:cs typeface="Poppins"/>
                <a:sym typeface="Poppins"/>
              </a:rPr>
              <a:t>Power BI enables interactive dashboards and transport visualizations. Power Query handles data cleaning and transformation of route, stop, and trip datasets. DAX (Data Analysis Expressions) powers calculated metrics, KPIs, and dynamic analysis for Bengaluru transit performance.</a:t>
            </a:r>
          </a:p>
        </p:txBody>
      </p:sp>
      <p:sp>
        <p:nvSpPr>
          <p:cNvPr name="Freeform 15" id="15"/>
          <p:cNvSpPr/>
          <p:nvPr/>
        </p:nvSpPr>
        <p:spPr>
          <a:xfrm flipH="false" flipV="false" rot="-800299">
            <a:off x="15787927" y="650401"/>
            <a:ext cx="2958255" cy="2908813"/>
          </a:xfrm>
          <a:custGeom>
            <a:avLst/>
            <a:gdLst/>
            <a:ahLst/>
            <a:cxnLst/>
            <a:rect r="r" b="b" t="t" l="l"/>
            <a:pathLst>
              <a:path h="2908813" w="2958255">
                <a:moveTo>
                  <a:pt x="0" y="0"/>
                </a:moveTo>
                <a:lnTo>
                  <a:pt x="2958255" y="0"/>
                </a:lnTo>
                <a:lnTo>
                  <a:pt x="2958255" y="2908813"/>
                </a:lnTo>
                <a:lnTo>
                  <a:pt x="0" y="2908813"/>
                </a:lnTo>
                <a:lnTo>
                  <a:pt x="0" y="0"/>
                </a:lnTo>
                <a:close/>
              </a:path>
            </a:pathLst>
          </a:custGeom>
          <a:blipFill>
            <a:blip r:embed="rId5"/>
            <a:stretch>
              <a:fillRect l="0" t="0" r="0" b="0"/>
            </a:stretch>
          </a:blipFill>
        </p:spPr>
      </p:sp>
      <p:sp>
        <p:nvSpPr>
          <p:cNvPr name="Freeform 16" id="16"/>
          <p:cNvSpPr/>
          <p:nvPr/>
        </p:nvSpPr>
        <p:spPr>
          <a:xfrm flipH="false" flipV="false" rot="-6189716">
            <a:off x="4638662" y="6851132"/>
            <a:ext cx="1571284" cy="2252737"/>
          </a:xfrm>
          <a:custGeom>
            <a:avLst/>
            <a:gdLst/>
            <a:ahLst/>
            <a:cxnLst/>
            <a:rect r="r" b="b" t="t" l="l"/>
            <a:pathLst>
              <a:path h="2252737" w="1571284">
                <a:moveTo>
                  <a:pt x="0" y="0"/>
                </a:moveTo>
                <a:lnTo>
                  <a:pt x="1571284" y="0"/>
                </a:lnTo>
                <a:lnTo>
                  <a:pt x="1571284" y="2252737"/>
                </a:lnTo>
                <a:lnTo>
                  <a:pt x="0" y="2252737"/>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17" id="17"/>
          <p:cNvSpPr/>
          <p:nvPr/>
        </p:nvSpPr>
        <p:spPr>
          <a:xfrm flipH="false" flipV="false" rot="3303562">
            <a:off x="13112836" y="1141059"/>
            <a:ext cx="1341076" cy="1922690"/>
          </a:xfrm>
          <a:custGeom>
            <a:avLst/>
            <a:gdLst/>
            <a:ahLst/>
            <a:cxnLst/>
            <a:rect r="r" b="b" t="t" l="l"/>
            <a:pathLst>
              <a:path h="1922690" w="1341076">
                <a:moveTo>
                  <a:pt x="0" y="0"/>
                </a:moveTo>
                <a:lnTo>
                  <a:pt x="1341076" y="0"/>
                </a:lnTo>
                <a:lnTo>
                  <a:pt x="1341076" y="1922690"/>
                </a:lnTo>
                <a:lnTo>
                  <a:pt x="0" y="1922690"/>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18" id="18"/>
          <p:cNvSpPr/>
          <p:nvPr/>
        </p:nvSpPr>
        <p:spPr>
          <a:xfrm flipH="false" flipV="false" rot="0">
            <a:off x="658695" y="7059004"/>
            <a:ext cx="3119398" cy="2805040"/>
          </a:xfrm>
          <a:custGeom>
            <a:avLst/>
            <a:gdLst/>
            <a:ahLst/>
            <a:cxnLst/>
            <a:rect r="r" b="b" t="t" l="l"/>
            <a:pathLst>
              <a:path h="2805040" w="3119398">
                <a:moveTo>
                  <a:pt x="0" y="0"/>
                </a:moveTo>
                <a:lnTo>
                  <a:pt x="3119399" y="0"/>
                </a:lnTo>
                <a:lnTo>
                  <a:pt x="3119399" y="2805040"/>
                </a:lnTo>
                <a:lnTo>
                  <a:pt x="0" y="2805040"/>
                </a:lnTo>
                <a:lnTo>
                  <a:pt x="0" y="0"/>
                </a:lnTo>
                <a:close/>
              </a:path>
            </a:pathLst>
          </a:custGeom>
          <a:blipFill>
            <a:blip r:embed="rId8"/>
            <a:stretch>
              <a:fillRect l="0" t="0" r="0" b="0"/>
            </a:stretch>
          </a:blipFill>
        </p:spPr>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263257"/>
        </a:solidFill>
      </p:bgPr>
    </p:bg>
    <p:spTree>
      <p:nvGrpSpPr>
        <p:cNvPr id="1" name=""/>
        <p:cNvGrpSpPr/>
        <p:nvPr/>
      </p:nvGrpSpPr>
      <p:grpSpPr>
        <a:xfrm>
          <a:off x="0" y="0"/>
          <a:ext cx="0" cy="0"/>
          <a:chOff x="0" y="0"/>
          <a:chExt cx="0" cy="0"/>
        </a:xfrm>
      </p:grpSpPr>
      <p:grpSp>
        <p:nvGrpSpPr>
          <p:cNvPr name="Group 2" id="2"/>
          <p:cNvGrpSpPr/>
          <p:nvPr/>
        </p:nvGrpSpPr>
        <p:grpSpPr>
          <a:xfrm rot="0">
            <a:off x="-1134441" y="0"/>
            <a:ext cx="20556882" cy="10287000"/>
            <a:chOff x="0" y="0"/>
            <a:chExt cx="27409176" cy="13716000"/>
          </a:xfrm>
        </p:grpSpPr>
        <p:sp>
          <p:nvSpPr>
            <p:cNvPr name="Freeform 3" id="3"/>
            <p:cNvSpPr/>
            <p:nvPr/>
          </p:nvSpPr>
          <p:spPr>
            <a:xfrm flipH="false" flipV="false" rot="0">
              <a:off x="0" y="0"/>
              <a:ext cx="13716000" cy="13716000"/>
            </a:xfrm>
            <a:custGeom>
              <a:avLst/>
              <a:gdLst/>
              <a:ahLst/>
              <a:cxnLst/>
              <a:rect r="r" b="b" t="t" l="l"/>
              <a:pathLst>
                <a:path h="13716000" w="13716000">
                  <a:moveTo>
                    <a:pt x="0" y="0"/>
                  </a:moveTo>
                  <a:lnTo>
                    <a:pt x="13716000" y="0"/>
                  </a:lnTo>
                  <a:lnTo>
                    <a:pt x="13716000" y="13716000"/>
                  </a:lnTo>
                  <a:lnTo>
                    <a:pt x="0" y="13716000"/>
                  </a:lnTo>
                  <a:lnTo>
                    <a:pt x="0" y="0"/>
                  </a:lnTo>
                  <a:close/>
                </a:path>
              </a:pathLst>
            </a:custGeom>
            <a:blipFill>
              <a:blip r:embed="rId2">
                <a:alphaModFix amt="15000"/>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13693176" y="0"/>
              <a:ext cx="13716000" cy="13716000"/>
            </a:xfrm>
            <a:custGeom>
              <a:avLst/>
              <a:gdLst/>
              <a:ahLst/>
              <a:cxnLst/>
              <a:rect r="r" b="b" t="t" l="l"/>
              <a:pathLst>
                <a:path h="13716000" w="13716000">
                  <a:moveTo>
                    <a:pt x="0" y="0"/>
                  </a:moveTo>
                  <a:lnTo>
                    <a:pt x="13716000" y="0"/>
                  </a:lnTo>
                  <a:lnTo>
                    <a:pt x="13716000" y="13716000"/>
                  </a:lnTo>
                  <a:lnTo>
                    <a:pt x="0" y="13716000"/>
                  </a:lnTo>
                  <a:lnTo>
                    <a:pt x="0" y="0"/>
                  </a:lnTo>
                  <a:close/>
                </a:path>
              </a:pathLst>
            </a:custGeom>
            <a:blipFill>
              <a:blip r:embed="rId2">
                <a:alphaModFix amt="15000"/>
                <a:extLst>
                  <a:ext uri="{96DAC541-7B7A-43D3-8B79-37D633B846F1}">
                    <asvg:svgBlip xmlns:asvg="http://schemas.microsoft.com/office/drawing/2016/SVG/main" r:embed="rId3"/>
                  </a:ext>
                </a:extLst>
              </a:blip>
              <a:stretch>
                <a:fillRect l="0" t="0" r="0" b="0"/>
              </a:stretch>
            </a:blipFill>
          </p:spPr>
        </p:sp>
      </p:grpSp>
      <p:grpSp>
        <p:nvGrpSpPr>
          <p:cNvPr name="Group 5" id="5"/>
          <p:cNvGrpSpPr/>
          <p:nvPr/>
        </p:nvGrpSpPr>
        <p:grpSpPr>
          <a:xfrm rot="0">
            <a:off x="1028700" y="5292223"/>
            <a:ext cx="8477268" cy="3244459"/>
            <a:chOff x="0" y="0"/>
            <a:chExt cx="2232696" cy="854508"/>
          </a:xfrm>
        </p:grpSpPr>
        <p:sp>
          <p:nvSpPr>
            <p:cNvPr name="Freeform 6" id="6"/>
            <p:cNvSpPr/>
            <p:nvPr/>
          </p:nvSpPr>
          <p:spPr>
            <a:xfrm flipH="false" flipV="false" rot="0">
              <a:off x="0" y="0"/>
              <a:ext cx="2232696" cy="854508"/>
            </a:xfrm>
            <a:custGeom>
              <a:avLst/>
              <a:gdLst/>
              <a:ahLst/>
              <a:cxnLst/>
              <a:rect r="r" b="b" t="t" l="l"/>
              <a:pathLst>
                <a:path h="854508" w="2232696">
                  <a:moveTo>
                    <a:pt x="45663" y="0"/>
                  </a:moveTo>
                  <a:lnTo>
                    <a:pt x="2187033" y="0"/>
                  </a:lnTo>
                  <a:cubicBezTo>
                    <a:pt x="2199144" y="0"/>
                    <a:pt x="2210758" y="4811"/>
                    <a:pt x="2219322" y="13374"/>
                  </a:cubicBezTo>
                  <a:cubicBezTo>
                    <a:pt x="2227885" y="21938"/>
                    <a:pt x="2232696" y="33552"/>
                    <a:pt x="2232696" y="45663"/>
                  </a:cubicBezTo>
                  <a:lnTo>
                    <a:pt x="2232696" y="808845"/>
                  </a:lnTo>
                  <a:cubicBezTo>
                    <a:pt x="2232696" y="820956"/>
                    <a:pt x="2227885" y="832570"/>
                    <a:pt x="2219322" y="841133"/>
                  </a:cubicBezTo>
                  <a:cubicBezTo>
                    <a:pt x="2210758" y="849697"/>
                    <a:pt x="2199144" y="854508"/>
                    <a:pt x="2187033" y="854508"/>
                  </a:cubicBezTo>
                  <a:lnTo>
                    <a:pt x="45663" y="854508"/>
                  </a:lnTo>
                  <a:cubicBezTo>
                    <a:pt x="33552" y="854508"/>
                    <a:pt x="21938" y="849697"/>
                    <a:pt x="13374" y="841133"/>
                  </a:cubicBezTo>
                  <a:cubicBezTo>
                    <a:pt x="4811" y="832570"/>
                    <a:pt x="0" y="820956"/>
                    <a:pt x="0" y="808845"/>
                  </a:cubicBezTo>
                  <a:lnTo>
                    <a:pt x="0" y="45663"/>
                  </a:lnTo>
                  <a:cubicBezTo>
                    <a:pt x="0" y="33552"/>
                    <a:pt x="4811" y="21938"/>
                    <a:pt x="13374" y="13374"/>
                  </a:cubicBezTo>
                  <a:cubicBezTo>
                    <a:pt x="21938" y="4811"/>
                    <a:pt x="33552" y="0"/>
                    <a:pt x="45663" y="0"/>
                  </a:cubicBezTo>
                  <a:close/>
                </a:path>
              </a:pathLst>
            </a:custGeom>
            <a:solidFill>
              <a:srgbClr val="F26B0F"/>
            </a:solidFill>
          </p:spPr>
        </p:sp>
        <p:sp>
          <p:nvSpPr>
            <p:cNvPr name="TextBox 7" id="7"/>
            <p:cNvSpPr txBox="true"/>
            <p:nvPr/>
          </p:nvSpPr>
          <p:spPr>
            <a:xfrm>
              <a:off x="0" y="-38100"/>
              <a:ext cx="2232696" cy="892608"/>
            </a:xfrm>
            <a:prstGeom prst="rect">
              <a:avLst/>
            </a:prstGeom>
          </p:spPr>
          <p:txBody>
            <a:bodyPr anchor="ctr" rtlCol="false" tIns="50800" lIns="50800" bIns="50800" rIns="50800"/>
            <a:lstStyle/>
            <a:p>
              <a:pPr algn="ctr" marL="0" indent="0" lvl="0">
                <a:lnSpc>
                  <a:spcPts val="2659"/>
                </a:lnSpc>
              </a:pPr>
            </a:p>
          </p:txBody>
        </p:sp>
      </p:grpSp>
      <p:grpSp>
        <p:nvGrpSpPr>
          <p:cNvPr name="Group 8" id="8"/>
          <p:cNvGrpSpPr/>
          <p:nvPr/>
        </p:nvGrpSpPr>
        <p:grpSpPr>
          <a:xfrm rot="0">
            <a:off x="-2889006" y="9258300"/>
            <a:ext cx="24066013" cy="1630186"/>
            <a:chOff x="0" y="0"/>
            <a:chExt cx="6338374" cy="429349"/>
          </a:xfrm>
        </p:grpSpPr>
        <p:sp>
          <p:nvSpPr>
            <p:cNvPr name="Freeform 9" id="9"/>
            <p:cNvSpPr/>
            <p:nvPr/>
          </p:nvSpPr>
          <p:spPr>
            <a:xfrm flipH="false" flipV="false" rot="0">
              <a:off x="0" y="0"/>
              <a:ext cx="6338374" cy="429349"/>
            </a:xfrm>
            <a:custGeom>
              <a:avLst/>
              <a:gdLst/>
              <a:ahLst/>
              <a:cxnLst/>
              <a:rect r="r" b="b" t="t" l="l"/>
              <a:pathLst>
                <a:path h="429349" w="6338374">
                  <a:moveTo>
                    <a:pt x="3169187" y="0"/>
                  </a:moveTo>
                  <a:cubicBezTo>
                    <a:pt x="1418893" y="0"/>
                    <a:pt x="0" y="96113"/>
                    <a:pt x="0" y="214675"/>
                  </a:cubicBezTo>
                  <a:cubicBezTo>
                    <a:pt x="0" y="333236"/>
                    <a:pt x="1418893" y="429349"/>
                    <a:pt x="3169187" y="429349"/>
                  </a:cubicBezTo>
                  <a:cubicBezTo>
                    <a:pt x="4919480" y="429349"/>
                    <a:pt x="6338374" y="333236"/>
                    <a:pt x="6338374" y="214675"/>
                  </a:cubicBezTo>
                  <a:cubicBezTo>
                    <a:pt x="6338374" y="96113"/>
                    <a:pt x="4919480" y="0"/>
                    <a:pt x="3169187" y="0"/>
                  </a:cubicBezTo>
                  <a:close/>
                </a:path>
              </a:pathLst>
            </a:custGeom>
            <a:solidFill>
              <a:srgbClr val="FFDE59"/>
            </a:solidFill>
          </p:spPr>
        </p:sp>
        <p:sp>
          <p:nvSpPr>
            <p:cNvPr name="TextBox 10" id="10"/>
            <p:cNvSpPr txBox="true"/>
            <p:nvPr/>
          </p:nvSpPr>
          <p:spPr>
            <a:xfrm>
              <a:off x="594223" y="2152"/>
              <a:ext cx="5149929" cy="386946"/>
            </a:xfrm>
            <a:prstGeom prst="rect">
              <a:avLst/>
            </a:prstGeom>
          </p:spPr>
          <p:txBody>
            <a:bodyPr anchor="ctr" rtlCol="false" tIns="50800" lIns="50800" bIns="50800" rIns="50800"/>
            <a:lstStyle/>
            <a:p>
              <a:pPr algn="ctr" marL="0" indent="0" lvl="0">
                <a:lnSpc>
                  <a:spcPts val="2659"/>
                </a:lnSpc>
              </a:pPr>
            </a:p>
          </p:txBody>
        </p:sp>
      </p:grpSp>
      <p:sp>
        <p:nvSpPr>
          <p:cNvPr name="TextBox 11" id="11"/>
          <p:cNvSpPr txBox="true"/>
          <p:nvPr/>
        </p:nvSpPr>
        <p:spPr>
          <a:xfrm rot="0">
            <a:off x="1028700" y="3244104"/>
            <a:ext cx="13926768" cy="1756260"/>
          </a:xfrm>
          <a:prstGeom prst="rect">
            <a:avLst/>
          </a:prstGeom>
        </p:spPr>
        <p:txBody>
          <a:bodyPr anchor="t" rtlCol="false" tIns="0" lIns="0" bIns="0" rIns="0">
            <a:spAutoFit/>
          </a:bodyPr>
          <a:lstStyle/>
          <a:p>
            <a:pPr algn="l" marL="0" indent="0" lvl="0">
              <a:lnSpc>
                <a:spcPts val="6715"/>
              </a:lnSpc>
            </a:pPr>
            <a:r>
              <a:rPr lang="en-US" sz="6995">
                <a:solidFill>
                  <a:srgbClr val="FFFFFF"/>
                </a:solidFill>
                <a:latin typeface="Lilita One"/>
                <a:ea typeface="Lilita One"/>
                <a:cs typeface="Lilita One"/>
                <a:sym typeface="Lilita One"/>
              </a:rPr>
              <a:t>ROUTE &amp; PASSENGER</a:t>
            </a:r>
          </a:p>
          <a:p>
            <a:pPr algn="l" marL="0" indent="0" lvl="0">
              <a:lnSpc>
                <a:spcPts val="6715"/>
              </a:lnSpc>
            </a:pPr>
            <a:r>
              <a:rPr lang="en-US" sz="6995">
                <a:solidFill>
                  <a:srgbClr val="FFFFFF"/>
                </a:solidFill>
                <a:latin typeface="Lilita One"/>
                <a:ea typeface="Lilita One"/>
                <a:cs typeface="Lilita One"/>
                <a:sym typeface="Lilita One"/>
              </a:rPr>
              <a:t>ANALYSIS</a:t>
            </a:r>
          </a:p>
        </p:txBody>
      </p:sp>
      <p:sp>
        <p:nvSpPr>
          <p:cNvPr name="TextBox 12" id="12"/>
          <p:cNvSpPr txBox="true"/>
          <p:nvPr/>
        </p:nvSpPr>
        <p:spPr>
          <a:xfrm rot="0">
            <a:off x="1519027" y="5606650"/>
            <a:ext cx="13364824" cy="651574"/>
          </a:xfrm>
          <a:prstGeom prst="rect">
            <a:avLst/>
          </a:prstGeom>
        </p:spPr>
        <p:txBody>
          <a:bodyPr anchor="t" rtlCol="false" tIns="0" lIns="0" bIns="0" rIns="0">
            <a:spAutoFit/>
          </a:bodyPr>
          <a:lstStyle/>
          <a:p>
            <a:pPr algn="l" marL="0" indent="0" lvl="0">
              <a:lnSpc>
                <a:spcPts val="5036"/>
              </a:lnSpc>
            </a:pPr>
            <a:r>
              <a:rPr lang="en-US" b="true" sz="3597">
                <a:solidFill>
                  <a:srgbClr val="FFFFFF"/>
                </a:solidFill>
                <a:latin typeface="Poppins Bold"/>
                <a:ea typeface="Poppins Bold"/>
                <a:cs typeface="Poppins Bold"/>
                <a:sym typeface="Poppins Bold"/>
              </a:rPr>
              <a:t>Route-Wise Passenger Performance</a:t>
            </a:r>
          </a:p>
        </p:txBody>
      </p:sp>
      <p:sp>
        <p:nvSpPr>
          <p:cNvPr name="TextBox 13" id="13"/>
          <p:cNvSpPr txBox="true"/>
          <p:nvPr/>
        </p:nvSpPr>
        <p:spPr>
          <a:xfrm rot="0">
            <a:off x="1519027" y="6361706"/>
            <a:ext cx="7514966" cy="1536193"/>
          </a:xfrm>
          <a:prstGeom prst="rect">
            <a:avLst/>
          </a:prstGeom>
        </p:spPr>
        <p:txBody>
          <a:bodyPr anchor="t" rtlCol="false" tIns="0" lIns="0" bIns="0" rIns="0">
            <a:spAutoFit/>
          </a:bodyPr>
          <a:lstStyle/>
          <a:p>
            <a:pPr algn="just" marL="0" indent="0" lvl="0">
              <a:lnSpc>
                <a:spcPts val="3002"/>
              </a:lnSpc>
            </a:pPr>
            <a:r>
              <a:rPr lang="en-US" sz="2144">
                <a:solidFill>
                  <a:srgbClr val="FFFFFF"/>
                </a:solidFill>
                <a:latin typeface="Poppins"/>
                <a:ea typeface="Poppins"/>
                <a:cs typeface="Poppins"/>
                <a:sym typeface="Poppins"/>
              </a:rPr>
              <a:t>Comparative analysis of passenger volumes across Route A, Route B, Route C, and Route D. Chart values represent [Passenger Count] per route. Identifies high-demand corridors for optimized resource allocation.</a:t>
            </a:r>
          </a:p>
        </p:txBody>
      </p:sp>
      <p:pic>
        <p:nvPicPr>
          <p:cNvPr name="Picture 14" id="14"/>
          <p:cNvPicPr>
            <a:picLocks noChangeAspect="true"/>
          </p:cNvPicPr>
          <p:nvPr/>
        </p:nvPicPr>
        <p:blipFill>
          <a:blip r:embed="rId4"/>
          <a:stretch>
            <a:fillRect/>
          </a:stretch>
        </p:blipFill>
        <p:spPr>
          <a:xfrm rot="0">
            <a:off x="9425934" y="514769"/>
            <a:ext cx="8818823" cy="8756816"/>
          </a:xfrm>
          <a:prstGeom prst="rect">
            <a:avLst/>
          </a:prstGeom>
        </p:spPr>
      </p:pic>
      <p:sp>
        <p:nvSpPr>
          <p:cNvPr name="Freeform 15" id="15"/>
          <p:cNvSpPr/>
          <p:nvPr/>
        </p:nvSpPr>
        <p:spPr>
          <a:xfrm flipH="false" flipV="false" rot="0">
            <a:off x="-147478" y="893863"/>
            <a:ext cx="2219676" cy="1473942"/>
          </a:xfrm>
          <a:custGeom>
            <a:avLst/>
            <a:gdLst/>
            <a:ahLst/>
            <a:cxnLst/>
            <a:rect r="r" b="b" t="t" l="l"/>
            <a:pathLst>
              <a:path h="1473942" w="2219676">
                <a:moveTo>
                  <a:pt x="0" y="0"/>
                </a:moveTo>
                <a:lnTo>
                  <a:pt x="2219675" y="0"/>
                </a:lnTo>
                <a:lnTo>
                  <a:pt x="2219675" y="1473941"/>
                </a:lnTo>
                <a:lnTo>
                  <a:pt x="0" y="1473941"/>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16" id="16"/>
          <p:cNvSpPr/>
          <p:nvPr/>
        </p:nvSpPr>
        <p:spPr>
          <a:xfrm flipH="false" flipV="false" rot="5400000">
            <a:off x="3143296" y="693639"/>
            <a:ext cx="1314030" cy="1883914"/>
          </a:xfrm>
          <a:custGeom>
            <a:avLst/>
            <a:gdLst/>
            <a:ahLst/>
            <a:cxnLst/>
            <a:rect r="r" b="b" t="t" l="l"/>
            <a:pathLst>
              <a:path h="1883914" w="1314030">
                <a:moveTo>
                  <a:pt x="0" y="0"/>
                </a:moveTo>
                <a:lnTo>
                  <a:pt x="1314030" y="0"/>
                </a:lnTo>
                <a:lnTo>
                  <a:pt x="1314030" y="1883914"/>
                </a:lnTo>
                <a:lnTo>
                  <a:pt x="0" y="1883914"/>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17" id="17"/>
          <p:cNvSpPr/>
          <p:nvPr/>
        </p:nvSpPr>
        <p:spPr>
          <a:xfrm flipH="false" flipV="false" rot="-6025177">
            <a:off x="7888706" y="780666"/>
            <a:ext cx="1185983" cy="1700334"/>
          </a:xfrm>
          <a:custGeom>
            <a:avLst/>
            <a:gdLst/>
            <a:ahLst/>
            <a:cxnLst/>
            <a:rect r="r" b="b" t="t" l="l"/>
            <a:pathLst>
              <a:path h="1700334" w="1185983">
                <a:moveTo>
                  <a:pt x="0" y="0"/>
                </a:moveTo>
                <a:lnTo>
                  <a:pt x="1185983" y="0"/>
                </a:lnTo>
                <a:lnTo>
                  <a:pt x="1185983" y="1700335"/>
                </a:lnTo>
                <a:lnTo>
                  <a:pt x="0" y="1700335"/>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263257"/>
        </a:solidFill>
      </p:bgPr>
    </p:bg>
    <p:spTree>
      <p:nvGrpSpPr>
        <p:cNvPr id="1" name=""/>
        <p:cNvGrpSpPr/>
        <p:nvPr/>
      </p:nvGrpSpPr>
      <p:grpSpPr>
        <a:xfrm>
          <a:off x="0" y="0"/>
          <a:ext cx="0" cy="0"/>
          <a:chOff x="0" y="0"/>
          <a:chExt cx="0" cy="0"/>
        </a:xfrm>
      </p:grpSpPr>
      <p:grpSp>
        <p:nvGrpSpPr>
          <p:cNvPr name="Group 2" id="2"/>
          <p:cNvGrpSpPr/>
          <p:nvPr/>
        </p:nvGrpSpPr>
        <p:grpSpPr>
          <a:xfrm rot="0">
            <a:off x="-1134441" y="0"/>
            <a:ext cx="20556882" cy="10287000"/>
            <a:chOff x="0" y="0"/>
            <a:chExt cx="27409176" cy="13716000"/>
          </a:xfrm>
        </p:grpSpPr>
        <p:sp>
          <p:nvSpPr>
            <p:cNvPr name="Freeform 3" id="3"/>
            <p:cNvSpPr/>
            <p:nvPr/>
          </p:nvSpPr>
          <p:spPr>
            <a:xfrm flipH="false" flipV="false" rot="0">
              <a:off x="0" y="0"/>
              <a:ext cx="13716000" cy="13716000"/>
            </a:xfrm>
            <a:custGeom>
              <a:avLst/>
              <a:gdLst/>
              <a:ahLst/>
              <a:cxnLst/>
              <a:rect r="r" b="b" t="t" l="l"/>
              <a:pathLst>
                <a:path h="13716000" w="13716000">
                  <a:moveTo>
                    <a:pt x="0" y="0"/>
                  </a:moveTo>
                  <a:lnTo>
                    <a:pt x="13716000" y="0"/>
                  </a:lnTo>
                  <a:lnTo>
                    <a:pt x="13716000" y="13716000"/>
                  </a:lnTo>
                  <a:lnTo>
                    <a:pt x="0" y="13716000"/>
                  </a:lnTo>
                  <a:lnTo>
                    <a:pt x="0" y="0"/>
                  </a:lnTo>
                  <a:close/>
                </a:path>
              </a:pathLst>
            </a:custGeom>
            <a:blipFill>
              <a:blip r:embed="rId2">
                <a:alphaModFix amt="15000"/>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13693176" y="0"/>
              <a:ext cx="13716000" cy="13716000"/>
            </a:xfrm>
            <a:custGeom>
              <a:avLst/>
              <a:gdLst/>
              <a:ahLst/>
              <a:cxnLst/>
              <a:rect r="r" b="b" t="t" l="l"/>
              <a:pathLst>
                <a:path h="13716000" w="13716000">
                  <a:moveTo>
                    <a:pt x="0" y="0"/>
                  </a:moveTo>
                  <a:lnTo>
                    <a:pt x="13716000" y="0"/>
                  </a:lnTo>
                  <a:lnTo>
                    <a:pt x="13716000" y="13716000"/>
                  </a:lnTo>
                  <a:lnTo>
                    <a:pt x="0" y="13716000"/>
                  </a:lnTo>
                  <a:lnTo>
                    <a:pt x="0" y="0"/>
                  </a:lnTo>
                  <a:close/>
                </a:path>
              </a:pathLst>
            </a:custGeom>
            <a:blipFill>
              <a:blip r:embed="rId2">
                <a:alphaModFix amt="15000"/>
                <a:extLst>
                  <a:ext uri="{96DAC541-7B7A-43D3-8B79-37D633B846F1}">
                    <asvg:svgBlip xmlns:asvg="http://schemas.microsoft.com/office/drawing/2016/SVG/main" r:embed="rId3"/>
                  </a:ext>
                </a:extLst>
              </a:blip>
              <a:stretch>
                <a:fillRect l="0" t="0" r="0" b="0"/>
              </a:stretch>
            </a:blipFill>
          </p:spPr>
        </p:sp>
      </p:grpSp>
      <p:grpSp>
        <p:nvGrpSpPr>
          <p:cNvPr name="Group 5" id="5"/>
          <p:cNvGrpSpPr/>
          <p:nvPr/>
        </p:nvGrpSpPr>
        <p:grpSpPr>
          <a:xfrm rot="0">
            <a:off x="1028700" y="3229219"/>
            <a:ext cx="9900735" cy="2792207"/>
            <a:chOff x="0" y="0"/>
            <a:chExt cx="2607601" cy="735396"/>
          </a:xfrm>
        </p:grpSpPr>
        <p:sp>
          <p:nvSpPr>
            <p:cNvPr name="Freeform 6" id="6"/>
            <p:cNvSpPr/>
            <p:nvPr/>
          </p:nvSpPr>
          <p:spPr>
            <a:xfrm flipH="false" flipV="false" rot="0">
              <a:off x="0" y="0"/>
              <a:ext cx="2607601" cy="735396"/>
            </a:xfrm>
            <a:custGeom>
              <a:avLst/>
              <a:gdLst/>
              <a:ahLst/>
              <a:cxnLst/>
              <a:rect r="r" b="b" t="t" l="l"/>
              <a:pathLst>
                <a:path h="735396" w="2607601">
                  <a:moveTo>
                    <a:pt x="39098" y="0"/>
                  </a:moveTo>
                  <a:lnTo>
                    <a:pt x="2568503" y="0"/>
                  </a:lnTo>
                  <a:cubicBezTo>
                    <a:pt x="2590097" y="0"/>
                    <a:pt x="2607601" y="17505"/>
                    <a:pt x="2607601" y="39098"/>
                  </a:cubicBezTo>
                  <a:lnTo>
                    <a:pt x="2607601" y="696298"/>
                  </a:lnTo>
                  <a:cubicBezTo>
                    <a:pt x="2607601" y="717891"/>
                    <a:pt x="2590097" y="735396"/>
                    <a:pt x="2568503" y="735396"/>
                  </a:cubicBezTo>
                  <a:lnTo>
                    <a:pt x="39098" y="735396"/>
                  </a:lnTo>
                  <a:cubicBezTo>
                    <a:pt x="17505" y="735396"/>
                    <a:pt x="0" y="717891"/>
                    <a:pt x="0" y="696298"/>
                  </a:cubicBezTo>
                  <a:lnTo>
                    <a:pt x="0" y="39098"/>
                  </a:lnTo>
                  <a:cubicBezTo>
                    <a:pt x="0" y="17505"/>
                    <a:pt x="17505" y="0"/>
                    <a:pt x="39098" y="0"/>
                  </a:cubicBezTo>
                  <a:close/>
                </a:path>
              </a:pathLst>
            </a:custGeom>
            <a:solidFill>
              <a:srgbClr val="F26B0F"/>
            </a:solidFill>
          </p:spPr>
        </p:sp>
        <p:sp>
          <p:nvSpPr>
            <p:cNvPr name="TextBox 7" id="7"/>
            <p:cNvSpPr txBox="true"/>
            <p:nvPr/>
          </p:nvSpPr>
          <p:spPr>
            <a:xfrm>
              <a:off x="0" y="-38100"/>
              <a:ext cx="2607601" cy="773496"/>
            </a:xfrm>
            <a:prstGeom prst="rect">
              <a:avLst/>
            </a:prstGeom>
          </p:spPr>
          <p:txBody>
            <a:bodyPr anchor="ctr" rtlCol="false" tIns="50800" lIns="50800" bIns="50800" rIns="50800"/>
            <a:lstStyle/>
            <a:p>
              <a:pPr algn="ctr" marL="0" indent="0" lvl="0">
                <a:lnSpc>
                  <a:spcPts val="2659"/>
                </a:lnSpc>
              </a:pPr>
            </a:p>
          </p:txBody>
        </p:sp>
      </p:grpSp>
      <p:grpSp>
        <p:nvGrpSpPr>
          <p:cNvPr name="Group 8" id="8"/>
          <p:cNvGrpSpPr/>
          <p:nvPr/>
        </p:nvGrpSpPr>
        <p:grpSpPr>
          <a:xfrm rot="0">
            <a:off x="-2889006" y="9258300"/>
            <a:ext cx="24066013" cy="1630186"/>
            <a:chOff x="0" y="0"/>
            <a:chExt cx="6338374" cy="429349"/>
          </a:xfrm>
        </p:grpSpPr>
        <p:sp>
          <p:nvSpPr>
            <p:cNvPr name="Freeform 9" id="9"/>
            <p:cNvSpPr/>
            <p:nvPr/>
          </p:nvSpPr>
          <p:spPr>
            <a:xfrm flipH="false" flipV="false" rot="0">
              <a:off x="0" y="0"/>
              <a:ext cx="6338374" cy="429349"/>
            </a:xfrm>
            <a:custGeom>
              <a:avLst/>
              <a:gdLst/>
              <a:ahLst/>
              <a:cxnLst/>
              <a:rect r="r" b="b" t="t" l="l"/>
              <a:pathLst>
                <a:path h="429349" w="6338374">
                  <a:moveTo>
                    <a:pt x="3169187" y="0"/>
                  </a:moveTo>
                  <a:cubicBezTo>
                    <a:pt x="1418893" y="0"/>
                    <a:pt x="0" y="96113"/>
                    <a:pt x="0" y="214675"/>
                  </a:cubicBezTo>
                  <a:cubicBezTo>
                    <a:pt x="0" y="333236"/>
                    <a:pt x="1418893" y="429349"/>
                    <a:pt x="3169187" y="429349"/>
                  </a:cubicBezTo>
                  <a:cubicBezTo>
                    <a:pt x="4919480" y="429349"/>
                    <a:pt x="6338374" y="333236"/>
                    <a:pt x="6338374" y="214675"/>
                  </a:cubicBezTo>
                  <a:cubicBezTo>
                    <a:pt x="6338374" y="96113"/>
                    <a:pt x="4919480" y="0"/>
                    <a:pt x="3169187" y="0"/>
                  </a:cubicBezTo>
                  <a:close/>
                </a:path>
              </a:pathLst>
            </a:custGeom>
            <a:solidFill>
              <a:srgbClr val="FFDE59"/>
            </a:solidFill>
          </p:spPr>
        </p:sp>
        <p:sp>
          <p:nvSpPr>
            <p:cNvPr name="TextBox 10" id="10"/>
            <p:cNvSpPr txBox="true"/>
            <p:nvPr/>
          </p:nvSpPr>
          <p:spPr>
            <a:xfrm>
              <a:off x="594223" y="2152"/>
              <a:ext cx="5149929" cy="386946"/>
            </a:xfrm>
            <a:prstGeom prst="rect">
              <a:avLst/>
            </a:prstGeom>
          </p:spPr>
          <p:txBody>
            <a:bodyPr anchor="ctr" rtlCol="false" tIns="50800" lIns="50800" bIns="50800" rIns="50800"/>
            <a:lstStyle/>
            <a:p>
              <a:pPr algn="ctr" marL="0" indent="0" lvl="0">
                <a:lnSpc>
                  <a:spcPts val="2659"/>
                </a:lnSpc>
              </a:pPr>
            </a:p>
          </p:txBody>
        </p:sp>
      </p:grpSp>
      <p:sp>
        <p:nvSpPr>
          <p:cNvPr name="Freeform 11" id="11"/>
          <p:cNvSpPr/>
          <p:nvPr/>
        </p:nvSpPr>
        <p:spPr>
          <a:xfrm flipH="false" flipV="false" rot="0">
            <a:off x="9484109" y="3127564"/>
            <a:ext cx="9592457" cy="6307040"/>
          </a:xfrm>
          <a:custGeom>
            <a:avLst/>
            <a:gdLst/>
            <a:ahLst/>
            <a:cxnLst/>
            <a:rect r="r" b="b" t="t" l="l"/>
            <a:pathLst>
              <a:path h="6307040" w="9592457">
                <a:moveTo>
                  <a:pt x="0" y="0"/>
                </a:moveTo>
                <a:lnTo>
                  <a:pt x="9592456" y="0"/>
                </a:lnTo>
                <a:lnTo>
                  <a:pt x="9592456" y="6307040"/>
                </a:lnTo>
                <a:lnTo>
                  <a:pt x="0" y="6307040"/>
                </a:lnTo>
                <a:lnTo>
                  <a:pt x="0" y="0"/>
                </a:lnTo>
                <a:close/>
              </a:path>
            </a:pathLst>
          </a:custGeom>
          <a:blipFill>
            <a:blip r:embed="rId4"/>
            <a:stretch>
              <a:fillRect l="0" t="0" r="0" b="0"/>
            </a:stretch>
          </a:blipFill>
        </p:spPr>
      </p:sp>
      <p:sp>
        <p:nvSpPr>
          <p:cNvPr name="TextBox 12" id="12"/>
          <p:cNvSpPr txBox="true"/>
          <p:nvPr/>
        </p:nvSpPr>
        <p:spPr>
          <a:xfrm rot="0">
            <a:off x="1028700" y="1181100"/>
            <a:ext cx="13926768" cy="1756260"/>
          </a:xfrm>
          <a:prstGeom prst="rect">
            <a:avLst/>
          </a:prstGeom>
        </p:spPr>
        <p:txBody>
          <a:bodyPr anchor="t" rtlCol="false" tIns="0" lIns="0" bIns="0" rIns="0">
            <a:spAutoFit/>
          </a:bodyPr>
          <a:lstStyle/>
          <a:p>
            <a:pPr algn="l" marL="0" indent="0" lvl="0">
              <a:lnSpc>
                <a:spcPts val="6715"/>
              </a:lnSpc>
            </a:pPr>
            <a:r>
              <a:rPr lang="en-US" sz="6995">
                <a:solidFill>
                  <a:srgbClr val="FFFFFF"/>
                </a:solidFill>
                <a:latin typeface="Lilita One"/>
                <a:ea typeface="Lilita One"/>
                <a:cs typeface="Lilita One"/>
                <a:sym typeface="Lilita One"/>
              </a:rPr>
              <a:t>HEAT MAP</a:t>
            </a:r>
          </a:p>
          <a:p>
            <a:pPr algn="l" marL="0" indent="0" lvl="0">
              <a:lnSpc>
                <a:spcPts val="6715"/>
              </a:lnSpc>
            </a:pPr>
            <a:r>
              <a:rPr lang="en-US" sz="6995">
                <a:solidFill>
                  <a:srgbClr val="FFFFFF"/>
                </a:solidFill>
                <a:latin typeface="Lilita One"/>
                <a:ea typeface="Lilita One"/>
                <a:cs typeface="Lilita One"/>
                <a:sym typeface="Lilita One"/>
              </a:rPr>
              <a:t>ANALYSIS</a:t>
            </a:r>
          </a:p>
        </p:txBody>
      </p:sp>
      <p:sp>
        <p:nvSpPr>
          <p:cNvPr name="TextBox 13" id="13"/>
          <p:cNvSpPr txBox="true"/>
          <p:nvPr/>
        </p:nvSpPr>
        <p:spPr>
          <a:xfrm rot="0">
            <a:off x="1590644" y="3469623"/>
            <a:ext cx="13364824" cy="509968"/>
          </a:xfrm>
          <a:prstGeom prst="rect">
            <a:avLst/>
          </a:prstGeom>
        </p:spPr>
        <p:txBody>
          <a:bodyPr anchor="t" rtlCol="false" tIns="0" lIns="0" bIns="0" rIns="0">
            <a:spAutoFit/>
          </a:bodyPr>
          <a:lstStyle/>
          <a:p>
            <a:pPr algn="l" marL="0" indent="0" lvl="0">
              <a:lnSpc>
                <a:spcPts val="3916"/>
              </a:lnSpc>
            </a:pPr>
            <a:r>
              <a:rPr lang="en-US" b="true" sz="2797">
                <a:solidFill>
                  <a:srgbClr val="FFFFFF"/>
                </a:solidFill>
                <a:latin typeface="Poppins Bold"/>
                <a:ea typeface="Poppins Bold"/>
                <a:cs typeface="Poppins Bold"/>
                <a:sym typeface="Poppins Bold"/>
              </a:rPr>
              <a:t>Passenger Intensity Across Routes &amp; Stops</a:t>
            </a:r>
          </a:p>
        </p:txBody>
      </p:sp>
      <p:sp>
        <p:nvSpPr>
          <p:cNvPr name="TextBox 14" id="14"/>
          <p:cNvSpPr txBox="true"/>
          <p:nvPr/>
        </p:nvSpPr>
        <p:spPr>
          <a:xfrm rot="0">
            <a:off x="1590644" y="4205629"/>
            <a:ext cx="7114393" cy="1645389"/>
          </a:xfrm>
          <a:prstGeom prst="rect">
            <a:avLst/>
          </a:prstGeom>
        </p:spPr>
        <p:txBody>
          <a:bodyPr anchor="t" rtlCol="false" tIns="0" lIns="0" bIns="0" rIns="0">
            <a:spAutoFit/>
          </a:bodyPr>
          <a:lstStyle/>
          <a:p>
            <a:pPr algn="just" marL="0" indent="0" lvl="0">
              <a:lnSpc>
                <a:spcPts val="3284"/>
              </a:lnSpc>
            </a:pPr>
            <a:r>
              <a:rPr lang="en-US" sz="2345">
                <a:solidFill>
                  <a:srgbClr val="FFFFFF"/>
                </a:solidFill>
                <a:latin typeface="Poppins"/>
                <a:ea typeface="Poppins"/>
                <a:cs typeface="Poppins"/>
                <a:sym typeface="Poppins"/>
              </a:rPr>
              <a:t>Heat map visualization highlighting high-density boarding zones, peak-hour congestion points, and underutilized stops across the Bengaluru transit network.</a:t>
            </a:r>
          </a:p>
        </p:txBody>
      </p:sp>
      <p:sp>
        <p:nvSpPr>
          <p:cNvPr name="Freeform 15" id="15"/>
          <p:cNvSpPr/>
          <p:nvPr/>
        </p:nvSpPr>
        <p:spPr>
          <a:xfrm flipH="false" flipV="false" rot="4946724">
            <a:off x="14037287" y="543852"/>
            <a:ext cx="1242597" cy="1781501"/>
          </a:xfrm>
          <a:custGeom>
            <a:avLst/>
            <a:gdLst/>
            <a:ahLst/>
            <a:cxnLst/>
            <a:rect r="r" b="b" t="t" l="l"/>
            <a:pathLst>
              <a:path h="1781501" w="1242597">
                <a:moveTo>
                  <a:pt x="0" y="0"/>
                </a:moveTo>
                <a:lnTo>
                  <a:pt x="1242596" y="0"/>
                </a:lnTo>
                <a:lnTo>
                  <a:pt x="1242596" y="1781501"/>
                </a:lnTo>
                <a:lnTo>
                  <a:pt x="0" y="1781501"/>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16" id="16"/>
          <p:cNvSpPr/>
          <p:nvPr/>
        </p:nvSpPr>
        <p:spPr>
          <a:xfrm flipH="false" flipV="false" rot="3949529">
            <a:off x="9052282" y="7164460"/>
            <a:ext cx="967963" cy="1387761"/>
          </a:xfrm>
          <a:custGeom>
            <a:avLst/>
            <a:gdLst/>
            <a:ahLst/>
            <a:cxnLst/>
            <a:rect r="r" b="b" t="t" l="l"/>
            <a:pathLst>
              <a:path h="1387761" w="967963">
                <a:moveTo>
                  <a:pt x="0" y="0"/>
                </a:moveTo>
                <a:lnTo>
                  <a:pt x="967964" y="0"/>
                </a:lnTo>
                <a:lnTo>
                  <a:pt x="967964" y="1387761"/>
                </a:lnTo>
                <a:lnTo>
                  <a:pt x="0" y="1387761"/>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17" id="17"/>
          <p:cNvSpPr/>
          <p:nvPr/>
        </p:nvSpPr>
        <p:spPr>
          <a:xfrm flipH="false" flipV="false" rot="0">
            <a:off x="16363995" y="950151"/>
            <a:ext cx="2652028" cy="1627682"/>
          </a:xfrm>
          <a:custGeom>
            <a:avLst/>
            <a:gdLst/>
            <a:ahLst/>
            <a:cxnLst/>
            <a:rect r="r" b="b" t="t" l="l"/>
            <a:pathLst>
              <a:path h="1627682" w="2652028">
                <a:moveTo>
                  <a:pt x="0" y="0"/>
                </a:moveTo>
                <a:lnTo>
                  <a:pt x="2652028" y="0"/>
                </a:lnTo>
                <a:lnTo>
                  <a:pt x="2652028" y="1627683"/>
                </a:lnTo>
                <a:lnTo>
                  <a:pt x="0" y="1627683"/>
                </a:lnTo>
                <a:lnTo>
                  <a:pt x="0" y="0"/>
                </a:lnTo>
                <a:close/>
              </a:path>
            </a:pathLst>
          </a:custGeom>
          <a:blipFill>
            <a:blip r:embed="rId7"/>
            <a:stretch>
              <a:fillRect l="0" t="0" r="0" b="0"/>
            </a:stretch>
          </a:blipFill>
        </p:spPr>
      </p:sp>
      <p:sp>
        <p:nvSpPr>
          <p:cNvPr name="Freeform 18" id="18"/>
          <p:cNvSpPr/>
          <p:nvPr/>
        </p:nvSpPr>
        <p:spPr>
          <a:xfrm flipH="false" flipV="false" rot="0">
            <a:off x="-869337" y="6416924"/>
            <a:ext cx="4482843" cy="2992298"/>
          </a:xfrm>
          <a:custGeom>
            <a:avLst/>
            <a:gdLst/>
            <a:ahLst/>
            <a:cxnLst/>
            <a:rect r="r" b="b" t="t" l="l"/>
            <a:pathLst>
              <a:path h="2992298" w="4482843">
                <a:moveTo>
                  <a:pt x="0" y="0"/>
                </a:moveTo>
                <a:lnTo>
                  <a:pt x="4482844" y="0"/>
                </a:lnTo>
                <a:lnTo>
                  <a:pt x="4482844" y="2992298"/>
                </a:lnTo>
                <a:lnTo>
                  <a:pt x="0" y="2992298"/>
                </a:lnTo>
                <a:lnTo>
                  <a:pt x="0" y="0"/>
                </a:lnTo>
                <a:close/>
              </a:path>
            </a:pathLst>
          </a:custGeom>
          <a:blipFill>
            <a:blip r:embed="rId8"/>
            <a:stretch>
              <a:fillRect l="0" t="0" r="0" b="0"/>
            </a:stretch>
          </a:blipFill>
        </p:spPr>
      </p:sp>
      <p:sp>
        <p:nvSpPr>
          <p:cNvPr name="Freeform 19" id="19"/>
          <p:cNvSpPr/>
          <p:nvPr/>
        </p:nvSpPr>
        <p:spPr>
          <a:xfrm flipH="false" flipV="false" rot="-4692927">
            <a:off x="4450138" y="7157597"/>
            <a:ext cx="1516023" cy="2173509"/>
          </a:xfrm>
          <a:custGeom>
            <a:avLst/>
            <a:gdLst/>
            <a:ahLst/>
            <a:cxnLst/>
            <a:rect r="r" b="b" t="t" l="l"/>
            <a:pathLst>
              <a:path h="2173509" w="1516023">
                <a:moveTo>
                  <a:pt x="0" y="0"/>
                </a:moveTo>
                <a:lnTo>
                  <a:pt x="1516023" y="0"/>
                </a:lnTo>
                <a:lnTo>
                  <a:pt x="1516023" y="2173509"/>
                </a:lnTo>
                <a:lnTo>
                  <a:pt x="0" y="2173509"/>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263257"/>
        </a:solidFill>
      </p:bgPr>
    </p:bg>
    <p:spTree>
      <p:nvGrpSpPr>
        <p:cNvPr id="1" name=""/>
        <p:cNvGrpSpPr/>
        <p:nvPr/>
      </p:nvGrpSpPr>
      <p:grpSpPr>
        <a:xfrm>
          <a:off x="0" y="0"/>
          <a:ext cx="0" cy="0"/>
          <a:chOff x="0" y="0"/>
          <a:chExt cx="0" cy="0"/>
        </a:xfrm>
      </p:grpSpPr>
      <p:grpSp>
        <p:nvGrpSpPr>
          <p:cNvPr name="Group 2" id="2"/>
          <p:cNvGrpSpPr/>
          <p:nvPr/>
        </p:nvGrpSpPr>
        <p:grpSpPr>
          <a:xfrm rot="0">
            <a:off x="-1134441" y="0"/>
            <a:ext cx="20556882" cy="10287000"/>
            <a:chOff x="0" y="0"/>
            <a:chExt cx="27409176" cy="13716000"/>
          </a:xfrm>
        </p:grpSpPr>
        <p:sp>
          <p:nvSpPr>
            <p:cNvPr name="Freeform 3" id="3"/>
            <p:cNvSpPr/>
            <p:nvPr/>
          </p:nvSpPr>
          <p:spPr>
            <a:xfrm flipH="false" flipV="false" rot="0">
              <a:off x="0" y="0"/>
              <a:ext cx="13716000" cy="13716000"/>
            </a:xfrm>
            <a:custGeom>
              <a:avLst/>
              <a:gdLst/>
              <a:ahLst/>
              <a:cxnLst/>
              <a:rect r="r" b="b" t="t" l="l"/>
              <a:pathLst>
                <a:path h="13716000" w="13716000">
                  <a:moveTo>
                    <a:pt x="0" y="0"/>
                  </a:moveTo>
                  <a:lnTo>
                    <a:pt x="13716000" y="0"/>
                  </a:lnTo>
                  <a:lnTo>
                    <a:pt x="13716000" y="13716000"/>
                  </a:lnTo>
                  <a:lnTo>
                    <a:pt x="0" y="13716000"/>
                  </a:lnTo>
                  <a:lnTo>
                    <a:pt x="0" y="0"/>
                  </a:lnTo>
                  <a:close/>
                </a:path>
              </a:pathLst>
            </a:custGeom>
            <a:blipFill>
              <a:blip r:embed="rId2">
                <a:alphaModFix amt="15000"/>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13693176" y="0"/>
              <a:ext cx="13716000" cy="13716000"/>
            </a:xfrm>
            <a:custGeom>
              <a:avLst/>
              <a:gdLst/>
              <a:ahLst/>
              <a:cxnLst/>
              <a:rect r="r" b="b" t="t" l="l"/>
              <a:pathLst>
                <a:path h="13716000" w="13716000">
                  <a:moveTo>
                    <a:pt x="0" y="0"/>
                  </a:moveTo>
                  <a:lnTo>
                    <a:pt x="13716000" y="0"/>
                  </a:lnTo>
                  <a:lnTo>
                    <a:pt x="13716000" y="13716000"/>
                  </a:lnTo>
                  <a:lnTo>
                    <a:pt x="0" y="13716000"/>
                  </a:lnTo>
                  <a:lnTo>
                    <a:pt x="0" y="0"/>
                  </a:lnTo>
                  <a:close/>
                </a:path>
              </a:pathLst>
            </a:custGeom>
            <a:blipFill>
              <a:blip r:embed="rId2">
                <a:alphaModFix amt="15000"/>
                <a:extLst>
                  <a:ext uri="{96DAC541-7B7A-43D3-8B79-37D633B846F1}">
                    <asvg:svgBlip xmlns:asvg="http://schemas.microsoft.com/office/drawing/2016/SVG/main" r:embed="rId3"/>
                  </a:ext>
                </a:extLst>
              </a:blip>
              <a:stretch>
                <a:fillRect l="0" t="0" r="0" b="0"/>
              </a:stretch>
            </a:blipFill>
          </p:spPr>
        </p:sp>
      </p:grpSp>
      <p:grpSp>
        <p:nvGrpSpPr>
          <p:cNvPr name="Group 5" id="5"/>
          <p:cNvGrpSpPr/>
          <p:nvPr/>
        </p:nvGrpSpPr>
        <p:grpSpPr>
          <a:xfrm rot="0">
            <a:off x="-2889006" y="9258300"/>
            <a:ext cx="24066013" cy="1630186"/>
            <a:chOff x="0" y="0"/>
            <a:chExt cx="6338374" cy="429349"/>
          </a:xfrm>
        </p:grpSpPr>
        <p:sp>
          <p:nvSpPr>
            <p:cNvPr name="Freeform 6" id="6"/>
            <p:cNvSpPr/>
            <p:nvPr/>
          </p:nvSpPr>
          <p:spPr>
            <a:xfrm flipH="false" flipV="false" rot="0">
              <a:off x="0" y="0"/>
              <a:ext cx="6338374" cy="429349"/>
            </a:xfrm>
            <a:custGeom>
              <a:avLst/>
              <a:gdLst/>
              <a:ahLst/>
              <a:cxnLst/>
              <a:rect r="r" b="b" t="t" l="l"/>
              <a:pathLst>
                <a:path h="429349" w="6338374">
                  <a:moveTo>
                    <a:pt x="3169187" y="0"/>
                  </a:moveTo>
                  <a:cubicBezTo>
                    <a:pt x="1418893" y="0"/>
                    <a:pt x="0" y="96113"/>
                    <a:pt x="0" y="214675"/>
                  </a:cubicBezTo>
                  <a:cubicBezTo>
                    <a:pt x="0" y="333236"/>
                    <a:pt x="1418893" y="429349"/>
                    <a:pt x="3169187" y="429349"/>
                  </a:cubicBezTo>
                  <a:cubicBezTo>
                    <a:pt x="4919480" y="429349"/>
                    <a:pt x="6338374" y="333236"/>
                    <a:pt x="6338374" y="214675"/>
                  </a:cubicBezTo>
                  <a:cubicBezTo>
                    <a:pt x="6338374" y="96113"/>
                    <a:pt x="4919480" y="0"/>
                    <a:pt x="3169187" y="0"/>
                  </a:cubicBezTo>
                  <a:close/>
                </a:path>
              </a:pathLst>
            </a:custGeom>
            <a:solidFill>
              <a:srgbClr val="FFDE59"/>
            </a:solidFill>
          </p:spPr>
        </p:sp>
        <p:sp>
          <p:nvSpPr>
            <p:cNvPr name="TextBox 7" id="7"/>
            <p:cNvSpPr txBox="true"/>
            <p:nvPr/>
          </p:nvSpPr>
          <p:spPr>
            <a:xfrm>
              <a:off x="594223" y="2152"/>
              <a:ext cx="5149929" cy="386946"/>
            </a:xfrm>
            <a:prstGeom prst="rect">
              <a:avLst/>
            </a:prstGeom>
          </p:spPr>
          <p:txBody>
            <a:bodyPr anchor="ctr" rtlCol="false" tIns="50800" lIns="50800" bIns="50800" rIns="50800"/>
            <a:lstStyle/>
            <a:p>
              <a:pPr algn="ctr" marL="0" indent="0" lvl="0">
                <a:lnSpc>
                  <a:spcPts val="2659"/>
                </a:lnSpc>
              </a:pPr>
            </a:p>
          </p:txBody>
        </p:sp>
      </p:grpSp>
      <p:grpSp>
        <p:nvGrpSpPr>
          <p:cNvPr name="Group 8" id="8"/>
          <p:cNvGrpSpPr/>
          <p:nvPr/>
        </p:nvGrpSpPr>
        <p:grpSpPr>
          <a:xfrm rot="0">
            <a:off x="1684883" y="4293652"/>
            <a:ext cx="9121241" cy="665162"/>
            <a:chOff x="0" y="0"/>
            <a:chExt cx="2402302" cy="175187"/>
          </a:xfrm>
        </p:grpSpPr>
        <p:sp>
          <p:nvSpPr>
            <p:cNvPr name="Freeform 9" id="9"/>
            <p:cNvSpPr/>
            <p:nvPr/>
          </p:nvSpPr>
          <p:spPr>
            <a:xfrm flipH="false" flipV="false" rot="0">
              <a:off x="0" y="0"/>
              <a:ext cx="2402302" cy="175187"/>
            </a:xfrm>
            <a:custGeom>
              <a:avLst/>
              <a:gdLst/>
              <a:ahLst/>
              <a:cxnLst/>
              <a:rect r="r" b="b" t="t" l="l"/>
              <a:pathLst>
                <a:path h="175187" w="2402302">
                  <a:moveTo>
                    <a:pt x="23766" y="0"/>
                  </a:moveTo>
                  <a:lnTo>
                    <a:pt x="2378536" y="0"/>
                  </a:lnTo>
                  <a:cubicBezTo>
                    <a:pt x="2384839" y="0"/>
                    <a:pt x="2390884" y="2504"/>
                    <a:pt x="2395341" y="6961"/>
                  </a:cubicBezTo>
                  <a:cubicBezTo>
                    <a:pt x="2399798" y="11418"/>
                    <a:pt x="2402302" y="17463"/>
                    <a:pt x="2402302" y="23766"/>
                  </a:cubicBezTo>
                  <a:lnTo>
                    <a:pt x="2402302" y="151421"/>
                  </a:lnTo>
                  <a:cubicBezTo>
                    <a:pt x="2402302" y="157724"/>
                    <a:pt x="2399798" y="163769"/>
                    <a:pt x="2395341" y="168226"/>
                  </a:cubicBezTo>
                  <a:cubicBezTo>
                    <a:pt x="2390884" y="172683"/>
                    <a:pt x="2384839" y="175187"/>
                    <a:pt x="2378536" y="175187"/>
                  </a:cubicBezTo>
                  <a:lnTo>
                    <a:pt x="23766" y="175187"/>
                  </a:lnTo>
                  <a:cubicBezTo>
                    <a:pt x="17463" y="175187"/>
                    <a:pt x="11418" y="172683"/>
                    <a:pt x="6961" y="168226"/>
                  </a:cubicBezTo>
                  <a:cubicBezTo>
                    <a:pt x="2504" y="163769"/>
                    <a:pt x="0" y="157724"/>
                    <a:pt x="0" y="151421"/>
                  </a:cubicBezTo>
                  <a:lnTo>
                    <a:pt x="0" y="23766"/>
                  </a:lnTo>
                  <a:cubicBezTo>
                    <a:pt x="0" y="17463"/>
                    <a:pt x="2504" y="11418"/>
                    <a:pt x="6961" y="6961"/>
                  </a:cubicBezTo>
                  <a:cubicBezTo>
                    <a:pt x="11418" y="2504"/>
                    <a:pt x="17463" y="0"/>
                    <a:pt x="23766" y="0"/>
                  </a:cubicBezTo>
                  <a:close/>
                </a:path>
              </a:pathLst>
            </a:custGeom>
            <a:solidFill>
              <a:srgbClr val="F26B0F"/>
            </a:solidFill>
          </p:spPr>
        </p:sp>
        <p:sp>
          <p:nvSpPr>
            <p:cNvPr name="TextBox 10" id="10"/>
            <p:cNvSpPr txBox="true"/>
            <p:nvPr/>
          </p:nvSpPr>
          <p:spPr>
            <a:xfrm>
              <a:off x="0" y="-38100"/>
              <a:ext cx="2402302" cy="213287"/>
            </a:xfrm>
            <a:prstGeom prst="rect">
              <a:avLst/>
            </a:prstGeom>
          </p:spPr>
          <p:txBody>
            <a:bodyPr anchor="ctr" rtlCol="false" tIns="50800" lIns="50800" bIns="50800" rIns="50800"/>
            <a:lstStyle/>
            <a:p>
              <a:pPr algn="ctr" marL="0" indent="0" lvl="0">
                <a:lnSpc>
                  <a:spcPts val="2659"/>
                </a:lnSpc>
              </a:pPr>
            </a:p>
          </p:txBody>
        </p:sp>
      </p:grpSp>
      <p:grpSp>
        <p:nvGrpSpPr>
          <p:cNvPr name="Group 11" id="11"/>
          <p:cNvGrpSpPr/>
          <p:nvPr/>
        </p:nvGrpSpPr>
        <p:grpSpPr>
          <a:xfrm rot="0">
            <a:off x="1684883" y="5147154"/>
            <a:ext cx="9121241" cy="665162"/>
            <a:chOff x="0" y="0"/>
            <a:chExt cx="2402302" cy="175187"/>
          </a:xfrm>
        </p:grpSpPr>
        <p:sp>
          <p:nvSpPr>
            <p:cNvPr name="Freeform 12" id="12"/>
            <p:cNvSpPr/>
            <p:nvPr/>
          </p:nvSpPr>
          <p:spPr>
            <a:xfrm flipH="false" flipV="false" rot="0">
              <a:off x="0" y="0"/>
              <a:ext cx="2402302" cy="175187"/>
            </a:xfrm>
            <a:custGeom>
              <a:avLst/>
              <a:gdLst/>
              <a:ahLst/>
              <a:cxnLst/>
              <a:rect r="r" b="b" t="t" l="l"/>
              <a:pathLst>
                <a:path h="175187" w="2402302">
                  <a:moveTo>
                    <a:pt x="23766" y="0"/>
                  </a:moveTo>
                  <a:lnTo>
                    <a:pt x="2378536" y="0"/>
                  </a:lnTo>
                  <a:cubicBezTo>
                    <a:pt x="2384839" y="0"/>
                    <a:pt x="2390884" y="2504"/>
                    <a:pt x="2395341" y="6961"/>
                  </a:cubicBezTo>
                  <a:cubicBezTo>
                    <a:pt x="2399798" y="11418"/>
                    <a:pt x="2402302" y="17463"/>
                    <a:pt x="2402302" y="23766"/>
                  </a:cubicBezTo>
                  <a:lnTo>
                    <a:pt x="2402302" y="151421"/>
                  </a:lnTo>
                  <a:cubicBezTo>
                    <a:pt x="2402302" y="157724"/>
                    <a:pt x="2399798" y="163769"/>
                    <a:pt x="2395341" y="168226"/>
                  </a:cubicBezTo>
                  <a:cubicBezTo>
                    <a:pt x="2390884" y="172683"/>
                    <a:pt x="2384839" y="175187"/>
                    <a:pt x="2378536" y="175187"/>
                  </a:cubicBezTo>
                  <a:lnTo>
                    <a:pt x="23766" y="175187"/>
                  </a:lnTo>
                  <a:cubicBezTo>
                    <a:pt x="17463" y="175187"/>
                    <a:pt x="11418" y="172683"/>
                    <a:pt x="6961" y="168226"/>
                  </a:cubicBezTo>
                  <a:cubicBezTo>
                    <a:pt x="2504" y="163769"/>
                    <a:pt x="0" y="157724"/>
                    <a:pt x="0" y="151421"/>
                  </a:cubicBezTo>
                  <a:lnTo>
                    <a:pt x="0" y="23766"/>
                  </a:lnTo>
                  <a:cubicBezTo>
                    <a:pt x="0" y="17463"/>
                    <a:pt x="2504" y="11418"/>
                    <a:pt x="6961" y="6961"/>
                  </a:cubicBezTo>
                  <a:cubicBezTo>
                    <a:pt x="11418" y="2504"/>
                    <a:pt x="17463" y="0"/>
                    <a:pt x="23766" y="0"/>
                  </a:cubicBezTo>
                  <a:close/>
                </a:path>
              </a:pathLst>
            </a:custGeom>
            <a:solidFill>
              <a:srgbClr val="F26B0F"/>
            </a:solidFill>
          </p:spPr>
        </p:sp>
        <p:sp>
          <p:nvSpPr>
            <p:cNvPr name="TextBox 13" id="13"/>
            <p:cNvSpPr txBox="true"/>
            <p:nvPr/>
          </p:nvSpPr>
          <p:spPr>
            <a:xfrm>
              <a:off x="0" y="-38100"/>
              <a:ext cx="2402302" cy="213287"/>
            </a:xfrm>
            <a:prstGeom prst="rect">
              <a:avLst/>
            </a:prstGeom>
          </p:spPr>
          <p:txBody>
            <a:bodyPr anchor="ctr" rtlCol="false" tIns="50800" lIns="50800" bIns="50800" rIns="50800"/>
            <a:lstStyle/>
            <a:p>
              <a:pPr algn="ctr" marL="0" indent="0" lvl="0">
                <a:lnSpc>
                  <a:spcPts val="2659"/>
                </a:lnSpc>
              </a:pPr>
            </a:p>
          </p:txBody>
        </p:sp>
      </p:grpSp>
      <p:grpSp>
        <p:nvGrpSpPr>
          <p:cNvPr name="Group 14" id="14"/>
          <p:cNvGrpSpPr/>
          <p:nvPr/>
        </p:nvGrpSpPr>
        <p:grpSpPr>
          <a:xfrm rot="0">
            <a:off x="1684883" y="6000656"/>
            <a:ext cx="9121241" cy="665162"/>
            <a:chOff x="0" y="0"/>
            <a:chExt cx="2402302" cy="175187"/>
          </a:xfrm>
        </p:grpSpPr>
        <p:sp>
          <p:nvSpPr>
            <p:cNvPr name="Freeform 15" id="15"/>
            <p:cNvSpPr/>
            <p:nvPr/>
          </p:nvSpPr>
          <p:spPr>
            <a:xfrm flipH="false" flipV="false" rot="0">
              <a:off x="0" y="0"/>
              <a:ext cx="2402302" cy="175187"/>
            </a:xfrm>
            <a:custGeom>
              <a:avLst/>
              <a:gdLst/>
              <a:ahLst/>
              <a:cxnLst/>
              <a:rect r="r" b="b" t="t" l="l"/>
              <a:pathLst>
                <a:path h="175187" w="2402302">
                  <a:moveTo>
                    <a:pt x="23766" y="0"/>
                  </a:moveTo>
                  <a:lnTo>
                    <a:pt x="2378536" y="0"/>
                  </a:lnTo>
                  <a:cubicBezTo>
                    <a:pt x="2384839" y="0"/>
                    <a:pt x="2390884" y="2504"/>
                    <a:pt x="2395341" y="6961"/>
                  </a:cubicBezTo>
                  <a:cubicBezTo>
                    <a:pt x="2399798" y="11418"/>
                    <a:pt x="2402302" y="17463"/>
                    <a:pt x="2402302" y="23766"/>
                  </a:cubicBezTo>
                  <a:lnTo>
                    <a:pt x="2402302" y="151421"/>
                  </a:lnTo>
                  <a:cubicBezTo>
                    <a:pt x="2402302" y="157724"/>
                    <a:pt x="2399798" y="163769"/>
                    <a:pt x="2395341" y="168226"/>
                  </a:cubicBezTo>
                  <a:cubicBezTo>
                    <a:pt x="2390884" y="172683"/>
                    <a:pt x="2384839" y="175187"/>
                    <a:pt x="2378536" y="175187"/>
                  </a:cubicBezTo>
                  <a:lnTo>
                    <a:pt x="23766" y="175187"/>
                  </a:lnTo>
                  <a:cubicBezTo>
                    <a:pt x="17463" y="175187"/>
                    <a:pt x="11418" y="172683"/>
                    <a:pt x="6961" y="168226"/>
                  </a:cubicBezTo>
                  <a:cubicBezTo>
                    <a:pt x="2504" y="163769"/>
                    <a:pt x="0" y="157724"/>
                    <a:pt x="0" y="151421"/>
                  </a:cubicBezTo>
                  <a:lnTo>
                    <a:pt x="0" y="23766"/>
                  </a:lnTo>
                  <a:cubicBezTo>
                    <a:pt x="0" y="17463"/>
                    <a:pt x="2504" y="11418"/>
                    <a:pt x="6961" y="6961"/>
                  </a:cubicBezTo>
                  <a:cubicBezTo>
                    <a:pt x="11418" y="2504"/>
                    <a:pt x="17463" y="0"/>
                    <a:pt x="23766" y="0"/>
                  </a:cubicBezTo>
                  <a:close/>
                </a:path>
              </a:pathLst>
            </a:custGeom>
            <a:solidFill>
              <a:srgbClr val="F26B0F"/>
            </a:solidFill>
          </p:spPr>
        </p:sp>
        <p:sp>
          <p:nvSpPr>
            <p:cNvPr name="TextBox 16" id="16"/>
            <p:cNvSpPr txBox="true"/>
            <p:nvPr/>
          </p:nvSpPr>
          <p:spPr>
            <a:xfrm>
              <a:off x="0" y="-38100"/>
              <a:ext cx="2402302" cy="213287"/>
            </a:xfrm>
            <a:prstGeom prst="rect">
              <a:avLst/>
            </a:prstGeom>
          </p:spPr>
          <p:txBody>
            <a:bodyPr anchor="ctr" rtlCol="false" tIns="50800" lIns="50800" bIns="50800" rIns="50800"/>
            <a:lstStyle/>
            <a:p>
              <a:pPr algn="ctr" marL="0" indent="0" lvl="0">
                <a:lnSpc>
                  <a:spcPts val="2659"/>
                </a:lnSpc>
              </a:pPr>
            </a:p>
          </p:txBody>
        </p:sp>
      </p:grpSp>
      <p:grpSp>
        <p:nvGrpSpPr>
          <p:cNvPr name="Group 17" id="17"/>
          <p:cNvGrpSpPr/>
          <p:nvPr/>
        </p:nvGrpSpPr>
        <p:grpSpPr>
          <a:xfrm rot="0">
            <a:off x="1684883" y="6854157"/>
            <a:ext cx="9121241" cy="665162"/>
            <a:chOff x="0" y="0"/>
            <a:chExt cx="2402302" cy="175187"/>
          </a:xfrm>
        </p:grpSpPr>
        <p:sp>
          <p:nvSpPr>
            <p:cNvPr name="Freeform 18" id="18"/>
            <p:cNvSpPr/>
            <p:nvPr/>
          </p:nvSpPr>
          <p:spPr>
            <a:xfrm flipH="false" flipV="false" rot="0">
              <a:off x="0" y="0"/>
              <a:ext cx="2402302" cy="175187"/>
            </a:xfrm>
            <a:custGeom>
              <a:avLst/>
              <a:gdLst/>
              <a:ahLst/>
              <a:cxnLst/>
              <a:rect r="r" b="b" t="t" l="l"/>
              <a:pathLst>
                <a:path h="175187" w="2402302">
                  <a:moveTo>
                    <a:pt x="23766" y="0"/>
                  </a:moveTo>
                  <a:lnTo>
                    <a:pt x="2378536" y="0"/>
                  </a:lnTo>
                  <a:cubicBezTo>
                    <a:pt x="2384839" y="0"/>
                    <a:pt x="2390884" y="2504"/>
                    <a:pt x="2395341" y="6961"/>
                  </a:cubicBezTo>
                  <a:cubicBezTo>
                    <a:pt x="2399798" y="11418"/>
                    <a:pt x="2402302" y="17463"/>
                    <a:pt x="2402302" y="23766"/>
                  </a:cubicBezTo>
                  <a:lnTo>
                    <a:pt x="2402302" y="151421"/>
                  </a:lnTo>
                  <a:cubicBezTo>
                    <a:pt x="2402302" y="157724"/>
                    <a:pt x="2399798" y="163769"/>
                    <a:pt x="2395341" y="168226"/>
                  </a:cubicBezTo>
                  <a:cubicBezTo>
                    <a:pt x="2390884" y="172683"/>
                    <a:pt x="2384839" y="175187"/>
                    <a:pt x="2378536" y="175187"/>
                  </a:cubicBezTo>
                  <a:lnTo>
                    <a:pt x="23766" y="175187"/>
                  </a:lnTo>
                  <a:cubicBezTo>
                    <a:pt x="17463" y="175187"/>
                    <a:pt x="11418" y="172683"/>
                    <a:pt x="6961" y="168226"/>
                  </a:cubicBezTo>
                  <a:cubicBezTo>
                    <a:pt x="2504" y="163769"/>
                    <a:pt x="0" y="157724"/>
                    <a:pt x="0" y="151421"/>
                  </a:cubicBezTo>
                  <a:lnTo>
                    <a:pt x="0" y="23766"/>
                  </a:lnTo>
                  <a:cubicBezTo>
                    <a:pt x="0" y="17463"/>
                    <a:pt x="2504" y="11418"/>
                    <a:pt x="6961" y="6961"/>
                  </a:cubicBezTo>
                  <a:cubicBezTo>
                    <a:pt x="11418" y="2504"/>
                    <a:pt x="17463" y="0"/>
                    <a:pt x="23766" y="0"/>
                  </a:cubicBezTo>
                  <a:close/>
                </a:path>
              </a:pathLst>
            </a:custGeom>
            <a:solidFill>
              <a:srgbClr val="F26B0F"/>
            </a:solidFill>
          </p:spPr>
        </p:sp>
        <p:sp>
          <p:nvSpPr>
            <p:cNvPr name="TextBox 19" id="19"/>
            <p:cNvSpPr txBox="true"/>
            <p:nvPr/>
          </p:nvSpPr>
          <p:spPr>
            <a:xfrm>
              <a:off x="0" y="-38100"/>
              <a:ext cx="2402302" cy="213287"/>
            </a:xfrm>
            <a:prstGeom prst="rect">
              <a:avLst/>
            </a:prstGeom>
          </p:spPr>
          <p:txBody>
            <a:bodyPr anchor="ctr" rtlCol="false" tIns="50800" lIns="50800" bIns="50800" rIns="50800"/>
            <a:lstStyle/>
            <a:p>
              <a:pPr algn="ctr" marL="0" indent="0" lvl="0">
                <a:lnSpc>
                  <a:spcPts val="2659"/>
                </a:lnSpc>
              </a:pPr>
            </a:p>
          </p:txBody>
        </p:sp>
      </p:grpSp>
      <p:grpSp>
        <p:nvGrpSpPr>
          <p:cNvPr name="Group 20" id="20"/>
          <p:cNvGrpSpPr/>
          <p:nvPr/>
        </p:nvGrpSpPr>
        <p:grpSpPr>
          <a:xfrm rot="0">
            <a:off x="1684883" y="7707659"/>
            <a:ext cx="9121241" cy="665162"/>
            <a:chOff x="0" y="0"/>
            <a:chExt cx="2402302" cy="175187"/>
          </a:xfrm>
        </p:grpSpPr>
        <p:sp>
          <p:nvSpPr>
            <p:cNvPr name="Freeform 21" id="21"/>
            <p:cNvSpPr/>
            <p:nvPr/>
          </p:nvSpPr>
          <p:spPr>
            <a:xfrm flipH="false" flipV="false" rot="0">
              <a:off x="0" y="0"/>
              <a:ext cx="2402302" cy="175187"/>
            </a:xfrm>
            <a:custGeom>
              <a:avLst/>
              <a:gdLst/>
              <a:ahLst/>
              <a:cxnLst/>
              <a:rect r="r" b="b" t="t" l="l"/>
              <a:pathLst>
                <a:path h="175187" w="2402302">
                  <a:moveTo>
                    <a:pt x="23766" y="0"/>
                  </a:moveTo>
                  <a:lnTo>
                    <a:pt x="2378536" y="0"/>
                  </a:lnTo>
                  <a:cubicBezTo>
                    <a:pt x="2384839" y="0"/>
                    <a:pt x="2390884" y="2504"/>
                    <a:pt x="2395341" y="6961"/>
                  </a:cubicBezTo>
                  <a:cubicBezTo>
                    <a:pt x="2399798" y="11418"/>
                    <a:pt x="2402302" y="17463"/>
                    <a:pt x="2402302" y="23766"/>
                  </a:cubicBezTo>
                  <a:lnTo>
                    <a:pt x="2402302" y="151421"/>
                  </a:lnTo>
                  <a:cubicBezTo>
                    <a:pt x="2402302" y="157724"/>
                    <a:pt x="2399798" y="163769"/>
                    <a:pt x="2395341" y="168226"/>
                  </a:cubicBezTo>
                  <a:cubicBezTo>
                    <a:pt x="2390884" y="172683"/>
                    <a:pt x="2384839" y="175187"/>
                    <a:pt x="2378536" y="175187"/>
                  </a:cubicBezTo>
                  <a:lnTo>
                    <a:pt x="23766" y="175187"/>
                  </a:lnTo>
                  <a:cubicBezTo>
                    <a:pt x="17463" y="175187"/>
                    <a:pt x="11418" y="172683"/>
                    <a:pt x="6961" y="168226"/>
                  </a:cubicBezTo>
                  <a:cubicBezTo>
                    <a:pt x="2504" y="163769"/>
                    <a:pt x="0" y="157724"/>
                    <a:pt x="0" y="151421"/>
                  </a:cubicBezTo>
                  <a:lnTo>
                    <a:pt x="0" y="23766"/>
                  </a:lnTo>
                  <a:cubicBezTo>
                    <a:pt x="0" y="17463"/>
                    <a:pt x="2504" y="11418"/>
                    <a:pt x="6961" y="6961"/>
                  </a:cubicBezTo>
                  <a:cubicBezTo>
                    <a:pt x="11418" y="2504"/>
                    <a:pt x="17463" y="0"/>
                    <a:pt x="23766" y="0"/>
                  </a:cubicBezTo>
                  <a:close/>
                </a:path>
              </a:pathLst>
            </a:custGeom>
            <a:solidFill>
              <a:srgbClr val="F26B0F"/>
            </a:solidFill>
          </p:spPr>
        </p:sp>
        <p:sp>
          <p:nvSpPr>
            <p:cNvPr name="TextBox 22" id="22"/>
            <p:cNvSpPr txBox="true"/>
            <p:nvPr/>
          </p:nvSpPr>
          <p:spPr>
            <a:xfrm>
              <a:off x="0" y="-38100"/>
              <a:ext cx="2402302" cy="213287"/>
            </a:xfrm>
            <a:prstGeom prst="rect">
              <a:avLst/>
            </a:prstGeom>
          </p:spPr>
          <p:txBody>
            <a:bodyPr anchor="ctr" rtlCol="false" tIns="50800" lIns="50800" bIns="50800" rIns="50800"/>
            <a:lstStyle/>
            <a:p>
              <a:pPr algn="ctr" marL="0" indent="0" lvl="0">
                <a:lnSpc>
                  <a:spcPts val="2659"/>
                </a:lnSpc>
              </a:pPr>
            </a:p>
          </p:txBody>
        </p:sp>
      </p:grpSp>
      <p:grpSp>
        <p:nvGrpSpPr>
          <p:cNvPr name="Group 23" id="23"/>
          <p:cNvGrpSpPr/>
          <p:nvPr/>
        </p:nvGrpSpPr>
        <p:grpSpPr>
          <a:xfrm rot="0">
            <a:off x="1028700" y="4410630"/>
            <a:ext cx="472735" cy="472735"/>
            <a:chOff x="0" y="0"/>
            <a:chExt cx="812800" cy="812800"/>
          </a:xfrm>
        </p:grpSpPr>
        <p:sp>
          <p:nvSpPr>
            <p:cNvPr name="Freeform 24" id="24"/>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DE59"/>
            </a:solidFill>
          </p:spPr>
        </p:sp>
        <p:sp>
          <p:nvSpPr>
            <p:cNvPr name="TextBox 25" id="25"/>
            <p:cNvSpPr txBox="true"/>
            <p:nvPr/>
          </p:nvSpPr>
          <p:spPr>
            <a:xfrm>
              <a:off x="76200" y="38100"/>
              <a:ext cx="660400" cy="698500"/>
            </a:xfrm>
            <a:prstGeom prst="rect">
              <a:avLst/>
            </a:prstGeom>
          </p:spPr>
          <p:txBody>
            <a:bodyPr anchor="ctr" rtlCol="false" tIns="50800" lIns="50800" bIns="50800" rIns="50800"/>
            <a:lstStyle/>
            <a:p>
              <a:pPr algn="ctr" marL="0" indent="0" lvl="0">
                <a:lnSpc>
                  <a:spcPts val="2659"/>
                </a:lnSpc>
              </a:pPr>
            </a:p>
          </p:txBody>
        </p:sp>
      </p:grpSp>
      <p:grpSp>
        <p:nvGrpSpPr>
          <p:cNvPr name="Group 26" id="26"/>
          <p:cNvGrpSpPr/>
          <p:nvPr/>
        </p:nvGrpSpPr>
        <p:grpSpPr>
          <a:xfrm rot="0">
            <a:off x="1028700" y="5253749"/>
            <a:ext cx="472735" cy="472735"/>
            <a:chOff x="0" y="0"/>
            <a:chExt cx="812800" cy="812800"/>
          </a:xfrm>
        </p:grpSpPr>
        <p:sp>
          <p:nvSpPr>
            <p:cNvPr name="Freeform 27" id="2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DE59"/>
            </a:solidFill>
          </p:spPr>
        </p:sp>
        <p:sp>
          <p:nvSpPr>
            <p:cNvPr name="TextBox 28" id="28"/>
            <p:cNvSpPr txBox="true"/>
            <p:nvPr/>
          </p:nvSpPr>
          <p:spPr>
            <a:xfrm>
              <a:off x="76200" y="38100"/>
              <a:ext cx="660400" cy="698500"/>
            </a:xfrm>
            <a:prstGeom prst="rect">
              <a:avLst/>
            </a:prstGeom>
          </p:spPr>
          <p:txBody>
            <a:bodyPr anchor="ctr" rtlCol="false" tIns="50800" lIns="50800" bIns="50800" rIns="50800"/>
            <a:lstStyle/>
            <a:p>
              <a:pPr algn="ctr" marL="0" indent="0" lvl="0">
                <a:lnSpc>
                  <a:spcPts val="2659"/>
                </a:lnSpc>
              </a:pPr>
            </a:p>
          </p:txBody>
        </p:sp>
      </p:grpSp>
      <p:grpSp>
        <p:nvGrpSpPr>
          <p:cNvPr name="Group 29" id="29"/>
          <p:cNvGrpSpPr/>
          <p:nvPr/>
        </p:nvGrpSpPr>
        <p:grpSpPr>
          <a:xfrm rot="0">
            <a:off x="1028700" y="6096869"/>
            <a:ext cx="472735" cy="472735"/>
            <a:chOff x="0" y="0"/>
            <a:chExt cx="812800" cy="812800"/>
          </a:xfrm>
        </p:grpSpPr>
        <p:sp>
          <p:nvSpPr>
            <p:cNvPr name="Freeform 30" id="30"/>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DE59"/>
            </a:solidFill>
          </p:spPr>
        </p:sp>
        <p:sp>
          <p:nvSpPr>
            <p:cNvPr name="TextBox 31" id="31"/>
            <p:cNvSpPr txBox="true"/>
            <p:nvPr/>
          </p:nvSpPr>
          <p:spPr>
            <a:xfrm>
              <a:off x="76200" y="38100"/>
              <a:ext cx="660400" cy="698500"/>
            </a:xfrm>
            <a:prstGeom prst="rect">
              <a:avLst/>
            </a:prstGeom>
          </p:spPr>
          <p:txBody>
            <a:bodyPr anchor="ctr" rtlCol="false" tIns="50800" lIns="50800" bIns="50800" rIns="50800"/>
            <a:lstStyle/>
            <a:p>
              <a:pPr algn="ctr" marL="0" indent="0" lvl="0">
                <a:lnSpc>
                  <a:spcPts val="2659"/>
                </a:lnSpc>
              </a:pPr>
            </a:p>
          </p:txBody>
        </p:sp>
      </p:grpSp>
      <p:grpSp>
        <p:nvGrpSpPr>
          <p:cNvPr name="Group 32" id="32"/>
          <p:cNvGrpSpPr/>
          <p:nvPr/>
        </p:nvGrpSpPr>
        <p:grpSpPr>
          <a:xfrm rot="0">
            <a:off x="1028700" y="6939989"/>
            <a:ext cx="472735" cy="472735"/>
            <a:chOff x="0" y="0"/>
            <a:chExt cx="812800" cy="812800"/>
          </a:xfrm>
        </p:grpSpPr>
        <p:sp>
          <p:nvSpPr>
            <p:cNvPr name="Freeform 33" id="3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DE59"/>
            </a:solidFill>
          </p:spPr>
        </p:sp>
        <p:sp>
          <p:nvSpPr>
            <p:cNvPr name="TextBox 34" id="34"/>
            <p:cNvSpPr txBox="true"/>
            <p:nvPr/>
          </p:nvSpPr>
          <p:spPr>
            <a:xfrm>
              <a:off x="76200" y="38100"/>
              <a:ext cx="660400" cy="698500"/>
            </a:xfrm>
            <a:prstGeom prst="rect">
              <a:avLst/>
            </a:prstGeom>
          </p:spPr>
          <p:txBody>
            <a:bodyPr anchor="ctr" rtlCol="false" tIns="50800" lIns="50800" bIns="50800" rIns="50800"/>
            <a:lstStyle/>
            <a:p>
              <a:pPr algn="ctr" marL="0" indent="0" lvl="0">
                <a:lnSpc>
                  <a:spcPts val="2659"/>
                </a:lnSpc>
              </a:pPr>
            </a:p>
          </p:txBody>
        </p:sp>
      </p:grpSp>
      <p:grpSp>
        <p:nvGrpSpPr>
          <p:cNvPr name="Group 35" id="35"/>
          <p:cNvGrpSpPr/>
          <p:nvPr/>
        </p:nvGrpSpPr>
        <p:grpSpPr>
          <a:xfrm rot="0">
            <a:off x="1028700" y="7783108"/>
            <a:ext cx="472735" cy="472735"/>
            <a:chOff x="0" y="0"/>
            <a:chExt cx="812800" cy="812800"/>
          </a:xfrm>
        </p:grpSpPr>
        <p:sp>
          <p:nvSpPr>
            <p:cNvPr name="Freeform 36" id="3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DE59"/>
            </a:solidFill>
          </p:spPr>
        </p:sp>
        <p:sp>
          <p:nvSpPr>
            <p:cNvPr name="TextBox 37" id="37"/>
            <p:cNvSpPr txBox="true"/>
            <p:nvPr/>
          </p:nvSpPr>
          <p:spPr>
            <a:xfrm>
              <a:off x="76200" y="38100"/>
              <a:ext cx="660400" cy="698500"/>
            </a:xfrm>
            <a:prstGeom prst="rect">
              <a:avLst/>
            </a:prstGeom>
          </p:spPr>
          <p:txBody>
            <a:bodyPr anchor="ctr" rtlCol="false" tIns="50800" lIns="50800" bIns="50800" rIns="50800"/>
            <a:lstStyle/>
            <a:p>
              <a:pPr algn="ctr" marL="0" indent="0" lvl="0">
                <a:lnSpc>
                  <a:spcPts val="2659"/>
                </a:lnSpc>
              </a:pPr>
            </a:p>
          </p:txBody>
        </p:sp>
      </p:grpSp>
      <p:sp>
        <p:nvSpPr>
          <p:cNvPr name="Freeform 38" id="38"/>
          <p:cNvSpPr/>
          <p:nvPr/>
        </p:nvSpPr>
        <p:spPr>
          <a:xfrm flipH="true" flipV="false" rot="0">
            <a:off x="11632887" y="2431847"/>
            <a:ext cx="7034022" cy="6116541"/>
          </a:xfrm>
          <a:custGeom>
            <a:avLst/>
            <a:gdLst/>
            <a:ahLst/>
            <a:cxnLst/>
            <a:rect r="r" b="b" t="t" l="l"/>
            <a:pathLst>
              <a:path h="6116541" w="7034022">
                <a:moveTo>
                  <a:pt x="7034022" y="0"/>
                </a:moveTo>
                <a:lnTo>
                  <a:pt x="0" y="0"/>
                </a:lnTo>
                <a:lnTo>
                  <a:pt x="0" y="6116540"/>
                </a:lnTo>
                <a:lnTo>
                  <a:pt x="7034022" y="6116540"/>
                </a:lnTo>
                <a:lnTo>
                  <a:pt x="7034022"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39" id="39"/>
          <p:cNvSpPr/>
          <p:nvPr/>
        </p:nvSpPr>
        <p:spPr>
          <a:xfrm flipH="false" flipV="false" rot="4946724">
            <a:off x="13683863" y="425468"/>
            <a:ext cx="1337070" cy="1916946"/>
          </a:xfrm>
          <a:custGeom>
            <a:avLst/>
            <a:gdLst/>
            <a:ahLst/>
            <a:cxnLst/>
            <a:rect r="r" b="b" t="t" l="l"/>
            <a:pathLst>
              <a:path h="1916946" w="1337070">
                <a:moveTo>
                  <a:pt x="0" y="0"/>
                </a:moveTo>
                <a:lnTo>
                  <a:pt x="1337070" y="0"/>
                </a:lnTo>
                <a:lnTo>
                  <a:pt x="1337070" y="1916946"/>
                </a:lnTo>
                <a:lnTo>
                  <a:pt x="0" y="1916946"/>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40" id="40"/>
          <p:cNvSpPr txBox="true"/>
          <p:nvPr/>
        </p:nvSpPr>
        <p:spPr>
          <a:xfrm rot="0">
            <a:off x="1028700" y="1399958"/>
            <a:ext cx="14985872" cy="1756260"/>
          </a:xfrm>
          <a:prstGeom prst="rect">
            <a:avLst/>
          </a:prstGeom>
        </p:spPr>
        <p:txBody>
          <a:bodyPr anchor="t" rtlCol="false" tIns="0" lIns="0" bIns="0" rIns="0">
            <a:spAutoFit/>
          </a:bodyPr>
          <a:lstStyle/>
          <a:p>
            <a:pPr algn="l" marL="0" indent="0" lvl="0">
              <a:lnSpc>
                <a:spcPts val="6715"/>
              </a:lnSpc>
            </a:pPr>
            <a:r>
              <a:rPr lang="en-US" sz="6995">
                <a:solidFill>
                  <a:srgbClr val="FFFFFF"/>
                </a:solidFill>
                <a:latin typeface="Lilita One"/>
                <a:ea typeface="Lilita One"/>
                <a:cs typeface="Lilita One"/>
                <a:sym typeface="Lilita One"/>
              </a:rPr>
              <a:t>FLOW MAP</a:t>
            </a:r>
          </a:p>
          <a:p>
            <a:pPr algn="l" marL="0" indent="0" lvl="0">
              <a:lnSpc>
                <a:spcPts val="6715"/>
              </a:lnSpc>
            </a:pPr>
            <a:r>
              <a:rPr lang="en-US" sz="6995">
                <a:solidFill>
                  <a:srgbClr val="FFFFFF"/>
                </a:solidFill>
                <a:latin typeface="Lilita One"/>
                <a:ea typeface="Lilita One"/>
                <a:cs typeface="Lilita One"/>
                <a:sym typeface="Lilita One"/>
              </a:rPr>
              <a:t>ANALYSIS</a:t>
            </a:r>
          </a:p>
        </p:txBody>
      </p:sp>
      <p:sp>
        <p:nvSpPr>
          <p:cNvPr name="TextBox 41" id="41"/>
          <p:cNvSpPr txBox="true"/>
          <p:nvPr/>
        </p:nvSpPr>
        <p:spPr>
          <a:xfrm rot="0">
            <a:off x="1028700" y="3239363"/>
            <a:ext cx="14985872" cy="516953"/>
          </a:xfrm>
          <a:prstGeom prst="rect">
            <a:avLst/>
          </a:prstGeom>
        </p:spPr>
        <p:txBody>
          <a:bodyPr anchor="t" rtlCol="false" tIns="0" lIns="0" bIns="0" rIns="0">
            <a:spAutoFit/>
          </a:bodyPr>
          <a:lstStyle/>
          <a:p>
            <a:pPr algn="l" marL="0" indent="0" lvl="0">
              <a:lnSpc>
                <a:spcPts val="4056"/>
              </a:lnSpc>
            </a:pPr>
            <a:r>
              <a:rPr lang="en-US" b="true" sz="2897">
                <a:solidFill>
                  <a:srgbClr val="FFFFFF"/>
                </a:solidFill>
                <a:latin typeface="Poppins Bold"/>
                <a:ea typeface="Poppins Bold"/>
                <a:cs typeface="Poppins Bold"/>
                <a:sym typeface="Poppins Bold"/>
              </a:rPr>
              <a:t>Movement Patterns &amp; Route Connectivity in Bengaluru</a:t>
            </a:r>
          </a:p>
        </p:txBody>
      </p:sp>
      <p:sp>
        <p:nvSpPr>
          <p:cNvPr name="TextBox 42" id="42"/>
          <p:cNvSpPr txBox="true"/>
          <p:nvPr/>
        </p:nvSpPr>
        <p:spPr>
          <a:xfrm rot="0">
            <a:off x="2119369" y="4371377"/>
            <a:ext cx="13895203" cy="309245"/>
          </a:xfrm>
          <a:prstGeom prst="rect">
            <a:avLst/>
          </a:prstGeom>
        </p:spPr>
        <p:txBody>
          <a:bodyPr anchor="t" rtlCol="false" tIns="0" lIns="0" bIns="0" rIns="0">
            <a:spAutoFit/>
          </a:bodyPr>
          <a:lstStyle/>
          <a:p>
            <a:pPr algn="just" marL="0" indent="0" lvl="0">
              <a:lnSpc>
                <a:spcPts val="2379"/>
              </a:lnSpc>
            </a:pPr>
            <a:r>
              <a:rPr lang="en-US" sz="1699">
                <a:solidFill>
                  <a:srgbClr val="FFFFFF"/>
                </a:solidFill>
                <a:latin typeface="Poppins"/>
                <a:ea typeface="Poppins"/>
                <a:cs typeface="Poppins"/>
                <a:sym typeface="Poppins"/>
              </a:rPr>
              <a:t>Origin-Destination Flow → Mapping passenger movement between key zones</a:t>
            </a:r>
          </a:p>
        </p:txBody>
      </p:sp>
      <p:sp>
        <p:nvSpPr>
          <p:cNvPr name="TextBox 43" id="43"/>
          <p:cNvSpPr txBox="true"/>
          <p:nvPr/>
        </p:nvSpPr>
        <p:spPr>
          <a:xfrm rot="0">
            <a:off x="2119369" y="5224878"/>
            <a:ext cx="13895203" cy="325755"/>
          </a:xfrm>
          <a:prstGeom prst="rect">
            <a:avLst/>
          </a:prstGeom>
        </p:spPr>
        <p:txBody>
          <a:bodyPr anchor="t" rtlCol="false" tIns="0" lIns="0" bIns="0" rIns="0">
            <a:spAutoFit/>
          </a:bodyPr>
          <a:lstStyle/>
          <a:p>
            <a:pPr algn="just" marL="0" indent="0" lvl="0">
              <a:lnSpc>
                <a:spcPts val="2519"/>
              </a:lnSpc>
            </a:pPr>
            <a:r>
              <a:rPr lang="en-US" sz="1799">
                <a:solidFill>
                  <a:srgbClr val="FFFFFF"/>
                </a:solidFill>
                <a:latin typeface="Poppins"/>
                <a:ea typeface="Poppins"/>
                <a:cs typeface="Poppins"/>
                <a:sym typeface="Poppins"/>
              </a:rPr>
              <a:t>Route Connectivity → Identifying linked and overlapping bus corridors</a:t>
            </a:r>
          </a:p>
        </p:txBody>
      </p:sp>
      <p:sp>
        <p:nvSpPr>
          <p:cNvPr name="TextBox 44" id="44"/>
          <p:cNvSpPr txBox="true"/>
          <p:nvPr/>
        </p:nvSpPr>
        <p:spPr>
          <a:xfrm rot="0">
            <a:off x="2119369" y="6078380"/>
            <a:ext cx="13895203" cy="309288"/>
          </a:xfrm>
          <a:prstGeom prst="rect">
            <a:avLst/>
          </a:prstGeom>
        </p:spPr>
        <p:txBody>
          <a:bodyPr anchor="t" rtlCol="false" tIns="0" lIns="0" bIns="0" rIns="0">
            <a:spAutoFit/>
          </a:bodyPr>
          <a:lstStyle/>
          <a:p>
            <a:pPr algn="just" marL="0" indent="0" lvl="0">
              <a:lnSpc>
                <a:spcPts val="2377"/>
              </a:lnSpc>
            </a:pPr>
            <a:r>
              <a:rPr lang="en-US" sz="1698">
                <a:solidFill>
                  <a:srgbClr val="FFFFFF"/>
                </a:solidFill>
                <a:latin typeface="Poppins"/>
                <a:ea typeface="Poppins"/>
                <a:cs typeface="Poppins"/>
                <a:sym typeface="Poppins"/>
              </a:rPr>
              <a:t>Stop-to-Stop Flow → Visualizing passenger transitions at interchange stops</a:t>
            </a:r>
          </a:p>
        </p:txBody>
      </p:sp>
      <p:sp>
        <p:nvSpPr>
          <p:cNvPr name="TextBox 45" id="45"/>
          <p:cNvSpPr txBox="true"/>
          <p:nvPr/>
        </p:nvSpPr>
        <p:spPr>
          <a:xfrm rot="0">
            <a:off x="2119369" y="6931882"/>
            <a:ext cx="13895203" cy="309288"/>
          </a:xfrm>
          <a:prstGeom prst="rect">
            <a:avLst/>
          </a:prstGeom>
        </p:spPr>
        <p:txBody>
          <a:bodyPr anchor="t" rtlCol="false" tIns="0" lIns="0" bIns="0" rIns="0">
            <a:spAutoFit/>
          </a:bodyPr>
          <a:lstStyle/>
          <a:p>
            <a:pPr algn="just" marL="0" indent="0" lvl="0">
              <a:lnSpc>
                <a:spcPts val="2377"/>
              </a:lnSpc>
            </a:pPr>
            <a:r>
              <a:rPr lang="en-US" sz="1698">
                <a:solidFill>
                  <a:srgbClr val="FFFFFF"/>
                </a:solidFill>
                <a:latin typeface="Poppins"/>
                <a:ea typeface="Poppins"/>
                <a:cs typeface="Poppins"/>
                <a:sym typeface="Poppins"/>
              </a:rPr>
              <a:t>Major Corridors → Highlighting high-frequency and high-demand routes</a:t>
            </a:r>
          </a:p>
        </p:txBody>
      </p:sp>
      <p:sp>
        <p:nvSpPr>
          <p:cNvPr name="TextBox 46" id="46"/>
          <p:cNvSpPr txBox="true"/>
          <p:nvPr/>
        </p:nvSpPr>
        <p:spPr>
          <a:xfrm rot="0">
            <a:off x="2119369" y="7785383"/>
            <a:ext cx="13895203" cy="309288"/>
          </a:xfrm>
          <a:prstGeom prst="rect">
            <a:avLst/>
          </a:prstGeom>
        </p:spPr>
        <p:txBody>
          <a:bodyPr anchor="t" rtlCol="false" tIns="0" lIns="0" bIns="0" rIns="0">
            <a:spAutoFit/>
          </a:bodyPr>
          <a:lstStyle/>
          <a:p>
            <a:pPr algn="just" marL="0" indent="0" lvl="0">
              <a:lnSpc>
                <a:spcPts val="2377"/>
              </a:lnSpc>
            </a:pPr>
            <a:r>
              <a:rPr lang="en-US" sz="1698">
                <a:solidFill>
                  <a:srgbClr val="FFFFFF"/>
                </a:solidFill>
                <a:latin typeface="Poppins"/>
                <a:ea typeface="Poppins"/>
                <a:cs typeface="Poppins"/>
                <a:sym typeface="Poppins"/>
              </a:rPr>
              <a:t>Connectivity Patterns → Detecting gaps and underserved areas in the network</a:t>
            </a:r>
          </a:p>
        </p:txBody>
      </p:sp>
      <p:sp>
        <p:nvSpPr>
          <p:cNvPr name="Freeform 47" id="47"/>
          <p:cNvSpPr/>
          <p:nvPr/>
        </p:nvSpPr>
        <p:spPr>
          <a:xfrm flipH="true" flipV="false" rot="0">
            <a:off x="16466417" y="740760"/>
            <a:ext cx="2200492" cy="1461203"/>
          </a:xfrm>
          <a:custGeom>
            <a:avLst/>
            <a:gdLst/>
            <a:ahLst/>
            <a:cxnLst/>
            <a:rect r="r" b="b" t="t" l="l"/>
            <a:pathLst>
              <a:path h="1461203" w="2200492">
                <a:moveTo>
                  <a:pt x="2200492" y="0"/>
                </a:moveTo>
                <a:lnTo>
                  <a:pt x="0" y="0"/>
                </a:lnTo>
                <a:lnTo>
                  <a:pt x="0" y="1461203"/>
                </a:lnTo>
                <a:lnTo>
                  <a:pt x="2200492" y="1461203"/>
                </a:lnTo>
                <a:lnTo>
                  <a:pt x="2200492"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solidFill>
          <a:srgbClr val="263257"/>
        </a:solidFill>
      </p:bgPr>
    </p:bg>
    <p:spTree>
      <p:nvGrpSpPr>
        <p:cNvPr id="1" name=""/>
        <p:cNvGrpSpPr/>
        <p:nvPr/>
      </p:nvGrpSpPr>
      <p:grpSpPr>
        <a:xfrm>
          <a:off x="0" y="0"/>
          <a:ext cx="0" cy="0"/>
          <a:chOff x="0" y="0"/>
          <a:chExt cx="0" cy="0"/>
        </a:xfrm>
      </p:grpSpPr>
      <p:grpSp>
        <p:nvGrpSpPr>
          <p:cNvPr name="Group 2" id="2"/>
          <p:cNvGrpSpPr/>
          <p:nvPr/>
        </p:nvGrpSpPr>
        <p:grpSpPr>
          <a:xfrm rot="0">
            <a:off x="-1134441" y="0"/>
            <a:ext cx="20556882" cy="10287000"/>
            <a:chOff x="0" y="0"/>
            <a:chExt cx="27409176" cy="13716000"/>
          </a:xfrm>
        </p:grpSpPr>
        <p:sp>
          <p:nvSpPr>
            <p:cNvPr name="Freeform 3" id="3"/>
            <p:cNvSpPr/>
            <p:nvPr/>
          </p:nvSpPr>
          <p:spPr>
            <a:xfrm flipH="false" flipV="false" rot="0">
              <a:off x="0" y="0"/>
              <a:ext cx="13716000" cy="13716000"/>
            </a:xfrm>
            <a:custGeom>
              <a:avLst/>
              <a:gdLst/>
              <a:ahLst/>
              <a:cxnLst/>
              <a:rect r="r" b="b" t="t" l="l"/>
              <a:pathLst>
                <a:path h="13716000" w="13716000">
                  <a:moveTo>
                    <a:pt x="0" y="0"/>
                  </a:moveTo>
                  <a:lnTo>
                    <a:pt x="13716000" y="0"/>
                  </a:lnTo>
                  <a:lnTo>
                    <a:pt x="13716000" y="13716000"/>
                  </a:lnTo>
                  <a:lnTo>
                    <a:pt x="0" y="13716000"/>
                  </a:lnTo>
                  <a:lnTo>
                    <a:pt x="0" y="0"/>
                  </a:lnTo>
                  <a:close/>
                </a:path>
              </a:pathLst>
            </a:custGeom>
            <a:blipFill>
              <a:blip r:embed="rId2">
                <a:alphaModFix amt="15000"/>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13693176" y="0"/>
              <a:ext cx="13716000" cy="13716000"/>
            </a:xfrm>
            <a:custGeom>
              <a:avLst/>
              <a:gdLst/>
              <a:ahLst/>
              <a:cxnLst/>
              <a:rect r="r" b="b" t="t" l="l"/>
              <a:pathLst>
                <a:path h="13716000" w="13716000">
                  <a:moveTo>
                    <a:pt x="0" y="0"/>
                  </a:moveTo>
                  <a:lnTo>
                    <a:pt x="13716000" y="0"/>
                  </a:lnTo>
                  <a:lnTo>
                    <a:pt x="13716000" y="13716000"/>
                  </a:lnTo>
                  <a:lnTo>
                    <a:pt x="0" y="13716000"/>
                  </a:lnTo>
                  <a:lnTo>
                    <a:pt x="0" y="0"/>
                  </a:lnTo>
                  <a:close/>
                </a:path>
              </a:pathLst>
            </a:custGeom>
            <a:blipFill>
              <a:blip r:embed="rId2">
                <a:alphaModFix amt="15000"/>
                <a:extLst>
                  <a:ext uri="{96DAC541-7B7A-43D3-8B79-37D633B846F1}">
                    <asvg:svgBlip xmlns:asvg="http://schemas.microsoft.com/office/drawing/2016/SVG/main" r:embed="rId3"/>
                  </a:ext>
                </a:extLst>
              </a:blip>
              <a:stretch>
                <a:fillRect l="0" t="0" r="0" b="0"/>
              </a:stretch>
            </a:blipFill>
          </p:spPr>
        </p:sp>
      </p:grpSp>
      <p:grpSp>
        <p:nvGrpSpPr>
          <p:cNvPr name="Group 5" id="5"/>
          <p:cNvGrpSpPr/>
          <p:nvPr/>
        </p:nvGrpSpPr>
        <p:grpSpPr>
          <a:xfrm rot="0">
            <a:off x="9353358" y="4300764"/>
            <a:ext cx="7944543" cy="4080252"/>
            <a:chOff x="0" y="0"/>
            <a:chExt cx="2092390" cy="1074634"/>
          </a:xfrm>
        </p:grpSpPr>
        <p:sp>
          <p:nvSpPr>
            <p:cNvPr name="Freeform 6" id="6"/>
            <p:cNvSpPr/>
            <p:nvPr/>
          </p:nvSpPr>
          <p:spPr>
            <a:xfrm flipH="false" flipV="false" rot="0">
              <a:off x="0" y="0"/>
              <a:ext cx="2092390" cy="1074634"/>
            </a:xfrm>
            <a:custGeom>
              <a:avLst/>
              <a:gdLst/>
              <a:ahLst/>
              <a:cxnLst/>
              <a:rect r="r" b="b" t="t" l="l"/>
              <a:pathLst>
                <a:path h="1074634" w="2092390">
                  <a:moveTo>
                    <a:pt x="48725" y="0"/>
                  </a:moveTo>
                  <a:lnTo>
                    <a:pt x="2043665" y="0"/>
                  </a:lnTo>
                  <a:cubicBezTo>
                    <a:pt x="2070575" y="0"/>
                    <a:pt x="2092390" y="21815"/>
                    <a:pt x="2092390" y="48725"/>
                  </a:cubicBezTo>
                  <a:lnTo>
                    <a:pt x="2092390" y="1025910"/>
                  </a:lnTo>
                  <a:cubicBezTo>
                    <a:pt x="2092390" y="1038832"/>
                    <a:pt x="2087257" y="1051225"/>
                    <a:pt x="2078119" y="1060363"/>
                  </a:cubicBezTo>
                  <a:cubicBezTo>
                    <a:pt x="2068981" y="1069501"/>
                    <a:pt x="2056588" y="1074634"/>
                    <a:pt x="2043665" y="1074634"/>
                  </a:cubicBezTo>
                  <a:lnTo>
                    <a:pt x="48725" y="1074634"/>
                  </a:lnTo>
                  <a:cubicBezTo>
                    <a:pt x="35802" y="1074634"/>
                    <a:pt x="23409" y="1069501"/>
                    <a:pt x="14271" y="1060363"/>
                  </a:cubicBezTo>
                  <a:cubicBezTo>
                    <a:pt x="5133" y="1051225"/>
                    <a:pt x="0" y="1038832"/>
                    <a:pt x="0" y="1025910"/>
                  </a:cubicBezTo>
                  <a:lnTo>
                    <a:pt x="0" y="48725"/>
                  </a:lnTo>
                  <a:cubicBezTo>
                    <a:pt x="0" y="35802"/>
                    <a:pt x="5133" y="23409"/>
                    <a:pt x="14271" y="14271"/>
                  </a:cubicBezTo>
                  <a:cubicBezTo>
                    <a:pt x="23409" y="5133"/>
                    <a:pt x="35802" y="0"/>
                    <a:pt x="48725" y="0"/>
                  </a:cubicBezTo>
                  <a:close/>
                </a:path>
              </a:pathLst>
            </a:custGeom>
            <a:solidFill>
              <a:srgbClr val="F26B0F"/>
            </a:solidFill>
          </p:spPr>
        </p:sp>
        <p:sp>
          <p:nvSpPr>
            <p:cNvPr name="TextBox 7" id="7"/>
            <p:cNvSpPr txBox="true"/>
            <p:nvPr/>
          </p:nvSpPr>
          <p:spPr>
            <a:xfrm>
              <a:off x="0" y="-38100"/>
              <a:ext cx="2092390" cy="1112734"/>
            </a:xfrm>
            <a:prstGeom prst="rect">
              <a:avLst/>
            </a:prstGeom>
          </p:spPr>
          <p:txBody>
            <a:bodyPr anchor="ctr" rtlCol="false" tIns="50800" lIns="50800" bIns="50800" rIns="50800"/>
            <a:lstStyle/>
            <a:p>
              <a:pPr algn="ctr" marL="0" indent="0" lvl="0">
                <a:lnSpc>
                  <a:spcPts val="2659"/>
                </a:lnSpc>
              </a:pPr>
            </a:p>
          </p:txBody>
        </p:sp>
      </p:grpSp>
      <p:grpSp>
        <p:nvGrpSpPr>
          <p:cNvPr name="Group 8" id="8"/>
          <p:cNvGrpSpPr/>
          <p:nvPr/>
        </p:nvGrpSpPr>
        <p:grpSpPr>
          <a:xfrm rot="0">
            <a:off x="-2889006" y="9258300"/>
            <a:ext cx="24066013" cy="1630186"/>
            <a:chOff x="0" y="0"/>
            <a:chExt cx="6338374" cy="429349"/>
          </a:xfrm>
        </p:grpSpPr>
        <p:sp>
          <p:nvSpPr>
            <p:cNvPr name="Freeform 9" id="9"/>
            <p:cNvSpPr/>
            <p:nvPr/>
          </p:nvSpPr>
          <p:spPr>
            <a:xfrm flipH="false" flipV="false" rot="0">
              <a:off x="0" y="0"/>
              <a:ext cx="6338374" cy="429349"/>
            </a:xfrm>
            <a:custGeom>
              <a:avLst/>
              <a:gdLst/>
              <a:ahLst/>
              <a:cxnLst/>
              <a:rect r="r" b="b" t="t" l="l"/>
              <a:pathLst>
                <a:path h="429349" w="6338374">
                  <a:moveTo>
                    <a:pt x="3169187" y="0"/>
                  </a:moveTo>
                  <a:cubicBezTo>
                    <a:pt x="1418893" y="0"/>
                    <a:pt x="0" y="96113"/>
                    <a:pt x="0" y="214675"/>
                  </a:cubicBezTo>
                  <a:cubicBezTo>
                    <a:pt x="0" y="333236"/>
                    <a:pt x="1418893" y="429349"/>
                    <a:pt x="3169187" y="429349"/>
                  </a:cubicBezTo>
                  <a:cubicBezTo>
                    <a:pt x="4919480" y="429349"/>
                    <a:pt x="6338374" y="333236"/>
                    <a:pt x="6338374" y="214675"/>
                  </a:cubicBezTo>
                  <a:cubicBezTo>
                    <a:pt x="6338374" y="96113"/>
                    <a:pt x="4919480" y="0"/>
                    <a:pt x="3169187" y="0"/>
                  </a:cubicBezTo>
                  <a:close/>
                </a:path>
              </a:pathLst>
            </a:custGeom>
            <a:solidFill>
              <a:srgbClr val="FFDE59"/>
            </a:solidFill>
          </p:spPr>
        </p:sp>
        <p:sp>
          <p:nvSpPr>
            <p:cNvPr name="TextBox 10" id="10"/>
            <p:cNvSpPr txBox="true"/>
            <p:nvPr/>
          </p:nvSpPr>
          <p:spPr>
            <a:xfrm>
              <a:off x="594223" y="2152"/>
              <a:ext cx="5149929" cy="386946"/>
            </a:xfrm>
            <a:prstGeom prst="rect">
              <a:avLst/>
            </a:prstGeom>
          </p:spPr>
          <p:txBody>
            <a:bodyPr anchor="ctr" rtlCol="false" tIns="50800" lIns="50800" bIns="50800" rIns="50800"/>
            <a:lstStyle/>
            <a:p>
              <a:pPr algn="ctr" marL="0" indent="0" lvl="0">
                <a:lnSpc>
                  <a:spcPts val="2659"/>
                </a:lnSpc>
              </a:pPr>
            </a:p>
          </p:txBody>
        </p:sp>
      </p:grpSp>
      <p:sp>
        <p:nvSpPr>
          <p:cNvPr name="Freeform 11" id="11"/>
          <p:cNvSpPr/>
          <p:nvPr/>
        </p:nvSpPr>
        <p:spPr>
          <a:xfrm flipH="false" flipV="false" rot="0">
            <a:off x="635090" y="3300507"/>
            <a:ext cx="8166207" cy="6124656"/>
          </a:xfrm>
          <a:custGeom>
            <a:avLst/>
            <a:gdLst/>
            <a:ahLst/>
            <a:cxnLst/>
            <a:rect r="r" b="b" t="t" l="l"/>
            <a:pathLst>
              <a:path h="6124656" w="8166207">
                <a:moveTo>
                  <a:pt x="0" y="0"/>
                </a:moveTo>
                <a:lnTo>
                  <a:pt x="8166207" y="0"/>
                </a:lnTo>
                <a:lnTo>
                  <a:pt x="8166207" y="6124655"/>
                </a:lnTo>
                <a:lnTo>
                  <a:pt x="0" y="6124655"/>
                </a:lnTo>
                <a:lnTo>
                  <a:pt x="0" y="0"/>
                </a:lnTo>
                <a:close/>
              </a:path>
            </a:pathLst>
          </a:custGeom>
          <a:blipFill>
            <a:blip r:embed="rId4"/>
            <a:stretch>
              <a:fillRect l="0" t="0" r="0" b="0"/>
            </a:stretch>
          </a:blipFill>
        </p:spPr>
      </p:sp>
      <p:sp>
        <p:nvSpPr>
          <p:cNvPr name="TextBox 12" id="12"/>
          <p:cNvSpPr txBox="true"/>
          <p:nvPr/>
        </p:nvSpPr>
        <p:spPr>
          <a:xfrm rot="0">
            <a:off x="9353358" y="1461541"/>
            <a:ext cx="8934642" cy="2603985"/>
          </a:xfrm>
          <a:prstGeom prst="rect">
            <a:avLst/>
          </a:prstGeom>
        </p:spPr>
        <p:txBody>
          <a:bodyPr anchor="t" rtlCol="false" tIns="0" lIns="0" bIns="0" rIns="0">
            <a:spAutoFit/>
          </a:bodyPr>
          <a:lstStyle/>
          <a:p>
            <a:pPr algn="l" marL="0" indent="0" lvl="0">
              <a:lnSpc>
                <a:spcPts val="6715"/>
              </a:lnSpc>
            </a:pPr>
            <a:r>
              <a:rPr lang="en-US" sz="6995">
                <a:solidFill>
                  <a:srgbClr val="FFFFFF"/>
                </a:solidFill>
                <a:latin typeface="Lilita One"/>
                <a:ea typeface="Lilita One"/>
                <a:cs typeface="Lilita One"/>
                <a:sym typeface="Lilita One"/>
              </a:rPr>
              <a:t>KEY</a:t>
            </a:r>
          </a:p>
          <a:p>
            <a:pPr algn="l" marL="0" indent="0" lvl="0">
              <a:lnSpc>
                <a:spcPts val="6715"/>
              </a:lnSpc>
            </a:pPr>
            <a:r>
              <a:rPr lang="en-US" sz="6995">
                <a:solidFill>
                  <a:srgbClr val="FFFFFF"/>
                </a:solidFill>
                <a:latin typeface="Lilita One"/>
                <a:ea typeface="Lilita One"/>
                <a:cs typeface="Lilita One"/>
                <a:sym typeface="Lilita One"/>
              </a:rPr>
              <a:t>INSIGHTS</a:t>
            </a:r>
          </a:p>
          <a:p>
            <a:pPr algn="l" marL="0" indent="0" lvl="0">
              <a:lnSpc>
                <a:spcPts val="6715"/>
              </a:lnSpc>
            </a:pPr>
            <a:r>
              <a:rPr lang="en-US" sz="6995">
                <a:solidFill>
                  <a:srgbClr val="FFFFFF"/>
                </a:solidFill>
                <a:latin typeface="Lilita One"/>
                <a:ea typeface="Lilita One"/>
                <a:cs typeface="Lilita One"/>
                <a:sym typeface="Lilita One"/>
              </a:rPr>
              <a:t>&amp; FINDINGS</a:t>
            </a:r>
          </a:p>
        </p:txBody>
      </p:sp>
      <p:sp>
        <p:nvSpPr>
          <p:cNvPr name="TextBox 13" id="13"/>
          <p:cNvSpPr txBox="true"/>
          <p:nvPr/>
        </p:nvSpPr>
        <p:spPr>
          <a:xfrm rot="0">
            <a:off x="9827363" y="4674441"/>
            <a:ext cx="8460637" cy="1289749"/>
          </a:xfrm>
          <a:prstGeom prst="rect">
            <a:avLst/>
          </a:prstGeom>
        </p:spPr>
        <p:txBody>
          <a:bodyPr anchor="t" rtlCol="false" tIns="0" lIns="0" bIns="0" rIns="0">
            <a:spAutoFit/>
          </a:bodyPr>
          <a:lstStyle/>
          <a:p>
            <a:pPr algn="l" marL="0" indent="0" lvl="0">
              <a:lnSpc>
                <a:spcPts val="5036"/>
              </a:lnSpc>
            </a:pPr>
            <a:r>
              <a:rPr lang="en-US" b="true" sz="3597">
                <a:solidFill>
                  <a:srgbClr val="FFFFFF"/>
                </a:solidFill>
                <a:latin typeface="Poppins Bold"/>
                <a:ea typeface="Poppins Bold"/>
                <a:cs typeface="Poppins Bold"/>
                <a:sym typeface="Poppins Bold"/>
              </a:rPr>
              <a:t>Major Analytical</a:t>
            </a:r>
          </a:p>
          <a:p>
            <a:pPr algn="l" marL="0" indent="0" lvl="0">
              <a:lnSpc>
                <a:spcPts val="5036"/>
              </a:lnSpc>
            </a:pPr>
            <a:r>
              <a:rPr lang="en-US" b="true" sz="3597">
                <a:solidFill>
                  <a:srgbClr val="FFFFFF"/>
                </a:solidFill>
                <a:latin typeface="Poppins Bold"/>
                <a:ea typeface="Poppins Bold"/>
                <a:cs typeface="Poppins Bold"/>
                <a:sym typeface="Poppins Bold"/>
              </a:rPr>
              <a:t>Observations</a:t>
            </a:r>
          </a:p>
        </p:txBody>
      </p:sp>
      <p:sp>
        <p:nvSpPr>
          <p:cNvPr name="TextBox 14" id="14"/>
          <p:cNvSpPr txBox="true"/>
          <p:nvPr/>
        </p:nvSpPr>
        <p:spPr>
          <a:xfrm rot="0">
            <a:off x="9827363" y="6156314"/>
            <a:ext cx="6820810" cy="1721489"/>
          </a:xfrm>
          <a:prstGeom prst="rect">
            <a:avLst/>
          </a:prstGeom>
        </p:spPr>
        <p:txBody>
          <a:bodyPr anchor="t" rtlCol="false" tIns="0" lIns="0" bIns="0" rIns="0">
            <a:spAutoFit/>
          </a:bodyPr>
          <a:lstStyle/>
          <a:p>
            <a:pPr algn="just" marL="0" indent="0" lvl="0">
              <a:lnSpc>
                <a:spcPts val="2764"/>
              </a:lnSpc>
            </a:pPr>
            <a:r>
              <a:rPr lang="en-US" sz="1974">
                <a:solidFill>
                  <a:srgbClr val="FFFFFF"/>
                </a:solidFill>
                <a:latin typeface="Poppins"/>
                <a:ea typeface="Poppins"/>
                <a:cs typeface="Poppins"/>
                <a:sym typeface="Poppins"/>
              </a:rPr>
              <a:t>Route analysis revealed high-demand corridors with uneven load distribution. Heat maps identified peak congestion zones. Flow maps highlighted key connectivity gaps. Passenger trends showed time-based ridership patterns across stops.</a:t>
            </a:r>
          </a:p>
        </p:txBody>
      </p:sp>
      <p:sp>
        <p:nvSpPr>
          <p:cNvPr name="Freeform 15" id="15"/>
          <p:cNvSpPr/>
          <p:nvPr/>
        </p:nvSpPr>
        <p:spPr>
          <a:xfrm flipH="false" flipV="false" rot="0">
            <a:off x="-447740" y="587481"/>
            <a:ext cx="2384876" cy="1817794"/>
          </a:xfrm>
          <a:custGeom>
            <a:avLst/>
            <a:gdLst/>
            <a:ahLst/>
            <a:cxnLst/>
            <a:rect r="r" b="b" t="t" l="l"/>
            <a:pathLst>
              <a:path h="1817794" w="2384876">
                <a:moveTo>
                  <a:pt x="0" y="0"/>
                </a:moveTo>
                <a:lnTo>
                  <a:pt x="2384875" y="0"/>
                </a:lnTo>
                <a:lnTo>
                  <a:pt x="2384875" y="1817795"/>
                </a:lnTo>
                <a:lnTo>
                  <a:pt x="0" y="1817795"/>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16" id="16"/>
          <p:cNvSpPr/>
          <p:nvPr/>
        </p:nvSpPr>
        <p:spPr>
          <a:xfrm flipH="false" flipV="false" rot="-6506237">
            <a:off x="6459988" y="428341"/>
            <a:ext cx="1593254" cy="2284235"/>
          </a:xfrm>
          <a:custGeom>
            <a:avLst/>
            <a:gdLst/>
            <a:ahLst/>
            <a:cxnLst/>
            <a:rect r="r" b="b" t="t" l="l"/>
            <a:pathLst>
              <a:path h="2284235" w="1593254">
                <a:moveTo>
                  <a:pt x="0" y="0"/>
                </a:moveTo>
                <a:lnTo>
                  <a:pt x="1593254" y="0"/>
                </a:lnTo>
                <a:lnTo>
                  <a:pt x="1593254" y="2284235"/>
                </a:lnTo>
                <a:lnTo>
                  <a:pt x="0" y="2284235"/>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17" id="17"/>
          <p:cNvSpPr/>
          <p:nvPr/>
        </p:nvSpPr>
        <p:spPr>
          <a:xfrm flipH="false" flipV="false" rot="-4692927">
            <a:off x="2556548" y="762710"/>
            <a:ext cx="1023467" cy="1467336"/>
          </a:xfrm>
          <a:custGeom>
            <a:avLst/>
            <a:gdLst/>
            <a:ahLst/>
            <a:cxnLst/>
            <a:rect r="r" b="b" t="t" l="l"/>
            <a:pathLst>
              <a:path h="1467336" w="1023467">
                <a:moveTo>
                  <a:pt x="0" y="0"/>
                </a:moveTo>
                <a:lnTo>
                  <a:pt x="1023467" y="0"/>
                </a:lnTo>
                <a:lnTo>
                  <a:pt x="1023467" y="1467337"/>
                </a:lnTo>
                <a:lnTo>
                  <a:pt x="0" y="1467337"/>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18" id="18"/>
          <p:cNvSpPr/>
          <p:nvPr/>
        </p:nvSpPr>
        <p:spPr>
          <a:xfrm flipH="false" flipV="false" rot="-3082179">
            <a:off x="16621236" y="1438519"/>
            <a:ext cx="1066842" cy="1529523"/>
          </a:xfrm>
          <a:custGeom>
            <a:avLst/>
            <a:gdLst/>
            <a:ahLst/>
            <a:cxnLst/>
            <a:rect r="r" b="b" t="t" l="l"/>
            <a:pathLst>
              <a:path h="1529523" w="1066842">
                <a:moveTo>
                  <a:pt x="0" y="0"/>
                </a:moveTo>
                <a:lnTo>
                  <a:pt x="1066843" y="0"/>
                </a:lnTo>
                <a:lnTo>
                  <a:pt x="1066843" y="1529523"/>
                </a:lnTo>
                <a:lnTo>
                  <a:pt x="0" y="1529523"/>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bg>
      <p:bgPr>
        <a:solidFill>
          <a:srgbClr val="263257"/>
        </a:solidFill>
      </p:bgPr>
    </p:bg>
    <p:spTree>
      <p:nvGrpSpPr>
        <p:cNvPr id="1" name=""/>
        <p:cNvGrpSpPr/>
        <p:nvPr/>
      </p:nvGrpSpPr>
      <p:grpSpPr>
        <a:xfrm>
          <a:off x="0" y="0"/>
          <a:ext cx="0" cy="0"/>
          <a:chOff x="0" y="0"/>
          <a:chExt cx="0" cy="0"/>
        </a:xfrm>
      </p:grpSpPr>
      <p:grpSp>
        <p:nvGrpSpPr>
          <p:cNvPr name="Group 2" id="2"/>
          <p:cNvGrpSpPr/>
          <p:nvPr/>
        </p:nvGrpSpPr>
        <p:grpSpPr>
          <a:xfrm rot="0">
            <a:off x="-1134441" y="0"/>
            <a:ext cx="20556882" cy="10287000"/>
            <a:chOff x="0" y="0"/>
            <a:chExt cx="27409176" cy="13716000"/>
          </a:xfrm>
        </p:grpSpPr>
        <p:sp>
          <p:nvSpPr>
            <p:cNvPr name="Freeform 3" id="3"/>
            <p:cNvSpPr/>
            <p:nvPr/>
          </p:nvSpPr>
          <p:spPr>
            <a:xfrm flipH="false" flipV="false" rot="0">
              <a:off x="0" y="0"/>
              <a:ext cx="13716000" cy="13716000"/>
            </a:xfrm>
            <a:custGeom>
              <a:avLst/>
              <a:gdLst/>
              <a:ahLst/>
              <a:cxnLst/>
              <a:rect r="r" b="b" t="t" l="l"/>
              <a:pathLst>
                <a:path h="13716000" w="13716000">
                  <a:moveTo>
                    <a:pt x="0" y="0"/>
                  </a:moveTo>
                  <a:lnTo>
                    <a:pt x="13716000" y="0"/>
                  </a:lnTo>
                  <a:lnTo>
                    <a:pt x="13716000" y="13716000"/>
                  </a:lnTo>
                  <a:lnTo>
                    <a:pt x="0" y="13716000"/>
                  </a:lnTo>
                  <a:lnTo>
                    <a:pt x="0" y="0"/>
                  </a:lnTo>
                  <a:close/>
                </a:path>
              </a:pathLst>
            </a:custGeom>
            <a:blipFill>
              <a:blip r:embed="rId2">
                <a:alphaModFix amt="15000"/>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13693176" y="0"/>
              <a:ext cx="13716000" cy="13716000"/>
            </a:xfrm>
            <a:custGeom>
              <a:avLst/>
              <a:gdLst/>
              <a:ahLst/>
              <a:cxnLst/>
              <a:rect r="r" b="b" t="t" l="l"/>
              <a:pathLst>
                <a:path h="13716000" w="13716000">
                  <a:moveTo>
                    <a:pt x="0" y="0"/>
                  </a:moveTo>
                  <a:lnTo>
                    <a:pt x="13716000" y="0"/>
                  </a:lnTo>
                  <a:lnTo>
                    <a:pt x="13716000" y="13716000"/>
                  </a:lnTo>
                  <a:lnTo>
                    <a:pt x="0" y="13716000"/>
                  </a:lnTo>
                  <a:lnTo>
                    <a:pt x="0" y="0"/>
                  </a:lnTo>
                  <a:close/>
                </a:path>
              </a:pathLst>
            </a:custGeom>
            <a:blipFill>
              <a:blip r:embed="rId2">
                <a:alphaModFix amt="15000"/>
                <a:extLst>
                  <a:ext uri="{96DAC541-7B7A-43D3-8B79-37D633B846F1}">
                    <asvg:svgBlip xmlns:asvg="http://schemas.microsoft.com/office/drawing/2016/SVG/main" r:embed="rId3"/>
                  </a:ext>
                </a:extLst>
              </a:blip>
              <a:stretch>
                <a:fillRect l="0" t="0" r="0" b="0"/>
              </a:stretch>
            </a:blipFill>
          </p:spPr>
        </p:sp>
      </p:grpSp>
      <p:grpSp>
        <p:nvGrpSpPr>
          <p:cNvPr name="Group 5" id="5"/>
          <p:cNvGrpSpPr/>
          <p:nvPr/>
        </p:nvGrpSpPr>
        <p:grpSpPr>
          <a:xfrm rot="0">
            <a:off x="-2889006" y="9258300"/>
            <a:ext cx="24066013" cy="1630186"/>
            <a:chOff x="0" y="0"/>
            <a:chExt cx="6338374" cy="429349"/>
          </a:xfrm>
        </p:grpSpPr>
        <p:sp>
          <p:nvSpPr>
            <p:cNvPr name="Freeform 6" id="6"/>
            <p:cNvSpPr/>
            <p:nvPr/>
          </p:nvSpPr>
          <p:spPr>
            <a:xfrm flipH="false" flipV="false" rot="0">
              <a:off x="0" y="0"/>
              <a:ext cx="6338374" cy="429349"/>
            </a:xfrm>
            <a:custGeom>
              <a:avLst/>
              <a:gdLst/>
              <a:ahLst/>
              <a:cxnLst/>
              <a:rect r="r" b="b" t="t" l="l"/>
              <a:pathLst>
                <a:path h="429349" w="6338374">
                  <a:moveTo>
                    <a:pt x="3169187" y="0"/>
                  </a:moveTo>
                  <a:cubicBezTo>
                    <a:pt x="1418893" y="0"/>
                    <a:pt x="0" y="96113"/>
                    <a:pt x="0" y="214675"/>
                  </a:cubicBezTo>
                  <a:cubicBezTo>
                    <a:pt x="0" y="333236"/>
                    <a:pt x="1418893" y="429349"/>
                    <a:pt x="3169187" y="429349"/>
                  </a:cubicBezTo>
                  <a:cubicBezTo>
                    <a:pt x="4919480" y="429349"/>
                    <a:pt x="6338374" y="333236"/>
                    <a:pt x="6338374" y="214675"/>
                  </a:cubicBezTo>
                  <a:cubicBezTo>
                    <a:pt x="6338374" y="96113"/>
                    <a:pt x="4919480" y="0"/>
                    <a:pt x="3169187" y="0"/>
                  </a:cubicBezTo>
                  <a:close/>
                </a:path>
              </a:pathLst>
            </a:custGeom>
            <a:solidFill>
              <a:srgbClr val="FFDE59"/>
            </a:solidFill>
          </p:spPr>
        </p:sp>
        <p:sp>
          <p:nvSpPr>
            <p:cNvPr name="TextBox 7" id="7"/>
            <p:cNvSpPr txBox="true"/>
            <p:nvPr/>
          </p:nvSpPr>
          <p:spPr>
            <a:xfrm>
              <a:off x="594223" y="2152"/>
              <a:ext cx="5149929" cy="386946"/>
            </a:xfrm>
            <a:prstGeom prst="rect">
              <a:avLst/>
            </a:prstGeom>
          </p:spPr>
          <p:txBody>
            <a:bodyPr anchor="ctr" rtlCol="false" tIns="50800" lIns="50800" bIns="50800" rIns="50800"/>
            <a:lstStyle/>
            <a:p>
              <a:pPr algn="ctr" marL="0" indent="0" lvl="0">
                <a:lnSpc>
                  <a:spcPts val="2659"/>
                </a:lnSpc>
              </a:pPr>
            </a:p>
          </p:txBody>
        </p:sp>
      </p:grpSp>
      <p:grpSp>
        <p:nvGrpSpPr>
          <p:cNvPr name="Group 8" id="8"/>
          <p:cNvGrpSpPr/>
          <p:nvPr/>
        </p:nvGrpSpPr>
        <p:grpSpPr>
          <a:xfrm rot="0">
            <a:off x="9608227" y="4636057"/>
            <a:ext cx="6450373" cy="665162"/>
            <a:chOff x="0" y="0"/>
            <a:chExt cx="1698864" cy="175187"/>
          </a:xfrm>
        </p:grpSpPr>
        <p:sp>
          <p:nvSpPr>
            <p:cNvPr name="Freeform 9" id="9"/>
            <p:cNvSpPr/>
            <p:nvPr/>
          </p:nvSpPr>
          <p:spPr>
            <a:xfrm flipH="false" flipV="false" rot="0">
              <a:off x="0" y="0"/>
              <a:ext cx="1698864" cy="175187"/>
            </a:xfrm>
            <a:custGeom>
              <a:avLst/>
              <a:gdLst/>
              <a:ahLst/>
              <a:cxnLst/>
              <a:rect r="r" b="b" t="t" l="l"/>
              <a:pathLst>
                <a:path h="175187" w="1698864">
                  <a:moveTo>
                    <a:pt x="33606" y="0"/>
                  </a:moveTo>
                  <a:lnTo>
                    <a:pt x="1665257" y="0"/>
                  </a:lnTo>
                  <a:cubicBezTo>
                    <a:pt x="1674170" y="0"/>
                    <a:pt x="1682718" y="3541"/>
                    <a:pt x="1689021" y="9843"/>
                  </a:cubicBezTo>
                  <a:cubicBezTo>
                    <a:pt x="1695323" y="16146"/>
                    <a:pt x="1698864" y="24693"/>
                    <a:pt x="1698864" y="33606"/>
                  </a:cubicBezTo>
                  <a:lnTo>
                    <a:pt x="1698864" y="141580"/>
                  </a:lnTo>
                  <a:cubicBezTo>
                    <a:pt x="1698864" y="150493"/>
                    <a:pt x="1695323" y="159041"/>
                    <a:pt x="1689021" y="165344"/>
                  </a:cubicBezTo>
                  <a:cubicBezTo>
                    <a:pt x="1682718" y="171646"/>
                    <a:pt x="1674170" y="175187"/>
                    <a:pt x="1665257" y="175187"/>
                  </a:cubicBezTo>
                  <a:lnTo>
                    <a:pt x="33606" y="175187"/>
                  </a:lnTo>
                  <a:cubicBezTo>
                    <a:pt x="15046" y="175187"/>
                    <a:pt x="0" y="160141"/>
                    <a:pt x="0" y="141580"/>
                  </a:cubicBezTo>
                  <a:lnTo>
                    <a:pt x="0" y="33606"/>
                  </a:lnTo>
                  <a:cubicBezTo>
                    <a:pt x="0" y="24693"/>
                    <a:pt x="3541" y="16146"/>
                    <a:pt x="9843" y="9843"/>
                  </a:cubicBezTo>
                  <a:cubicBezTo>
                    <a:pt x="16146" y="3541"/>
                    <a:pt x="24693" y="0"/>
                    <a:pt x="33606" y="0"/>
                  </a:cubicBezTo>
                  <a:close/>
                </a:path>
              </a:pathLst>
            </a:custGeom>
            <a:solidFill>
              <a:srgbClr val="F26B0F"/>
            </a:solidFill>
          </p:spPr>
        </p:sp>
        <p:sp>
          <p:nvSpPr>
            <p:cNvPr name="TextBox 10" id="10"/>
            <p:cNvSpPr txBox="true"/>
            <p:nvPr/>
          </p:nvSpPr>
          <p:spPr>
            <a:xfrm>
              <a:off x="0" y="-38100"/>
              <a:ext cx="1698864" cy="213287"/>
            </a:xfrm>
            <a:prstGeom prst="rect">
              <a:avLst/>
            </a:prstGeom>
          </p:spPr>
          <p:txBody>
            <a:bodyPr anchor="ctr" rtlCol="false" tIns="50800" lIns="50800" bIns="50800" rIns="50800"/>
            <a:lstStyle/>
            <a:p>
              <a:pPr algn="ctr" marL="0" indent="0" lvl="0">
                <a:lnSpc>
                  <a:spcPts val="2659"/>
                </a:lnSpc>
              </a:pPr>
            </a:p>
          </p:txBody>
        </p:sp>
      </p:grpSp>
      <p:grpSp>
        <p:nvGrpSpPr>
          <p:cNvPr name="Group 11" id="11"/>
          <p:cNvGrpSpPr/>
          <p:nvPr/>
        </p:nvGrpSpPr>
        <p:grpSpPr>
          <a:xfrm rot="0">
            <a:off x="9608227" y="5489558"/>
            <a:ext cx="6450373" cy="665162"/>
            <a:chOff x="0" y="0"/>
            <a:chExt cx="1698864" cy="175187"/>
          </a:xfrm>
        </p:grpSpPr>
        <p:sp>
          <p:nvSpPr>
            <p:cNvPr name="Freeform 12" id="12"/>
            <p:cNvSpPr/>
            <p:nvPr/>
          </p:nvSpPr>
          <p:spPr>
            <a:xfrm flipH="false" flipV="false" rot="0">
              <a:off x="0" y="0"/>
              <a:ext cx="1698864" cy="175187"/>
            </a:xfrm>
            <a:custGeom>
              <a:avLst/>
              <a:gdLst/>
              <a:ahLst/>
              <a:cxnLst/>
              <a:rect r="r" b="b" t="t" l="l"/>
              <a:pathLst>
                <a:path h="175187" w="1698864">
                  <a:moveTo>
                    <a:pt x="33606" y="0"/>
                  </a:moveTo>
                  <a:lnTo>
                    <a:pt x="1665257" y="0"/>
                  </a:lnTo>
                  <a:cubicBezTo>
                    <a:pt x="1674170" y="0"/>
                    <a:pt x="1682718" y="3541"/>
                    <a:pt x="1689021" y="9843"/>
                  </a:cubicBezTo>
                  <a:cubicBezTo>
                    <a:pt x="1695323" y="16146"/>
                    <a:pt x="1698864" y="24693"/>
                    <a:pt x="1698864" y="33606"/>
                  </a:cubicBezTo>
                  <a:lnTo>
                    <a:pt x="1698864" y="141580"/>
                  </a:lnTo>
                  <a:cubicBezTo>
                    <a:pt x="1698864" y="150493"/>
                    <a:pt x="1695323" y="159041"/>
                    <a:pt x="1689021" y="165344"/>
                  </a:cubicBezTo>
                  <a:cubicBezTo>
                    <a:pt x="1682718" y="171646"/>
                    <a:pt x="1674170" y="175187"/>
                    <a:pt x="1665257" y="175187"/>
                  </a:cubicBezTo>
                  <a:lnTo>
                    <a:pt x="33606" y="175187"/>
                  </a:lnTo>
                  <a:cubicBezTo>
                    <a:pt x="15046" y="175187"/>
                    <a:pt x="0" y="160141"/>
                    <a:pt x="0" y="141580"/>
                  </a:cubicBezTo>
                  <a:lnTo>
                    <a:pt x="0" y="33606"/>
                  </a:lnTo>
                  <a:cubicBezTo>
                    <a:pt x="0" y="24693"/>
                    <a:pt x="3541" y="16146"/>
                    <a:pt x="9843" y="9843"/>
                  </a:cubicBezTo>
                  <a:cubicBezTo>
                    <a:pt x="16146" y="3541"/>
                    <a:pt x="24693" y="0"/>
                    <a:pt x="33606" y="0"/>
                  </a:cubicBezTo>
                  <a:close/>
                </a:path>
              </a:pathLst>
            </a:custGeom>
            <a:solidFill>
              <a:srgbClr val="F26B0F"/>
            </a:solidFill>
          </p:spPr>
        </p:sp>
        <p:sp>
          <p:nvSpPr>
            <p:cNvPr name="TextBox 13" id="13"/>
            <p:cNvSpPr txBox="true"/>
            <p:nvPr/>
          </p:nvSpPr>
          <p:spPr>
            <a:xfrm>
              <a:off x="0" y="-38100"/>
              <a:ext cx="1698864" cy="213287"/>
            </a:xfrm>
            <a:prstGeom prst="rect">
              <a:avLst/>
            </a:prstGeom>
          </p:spPr>
          <p:txBody>
            <a:bodyPr anchor="ctr" rtlCol="false" tIns="50800" lIns="50800" bIns="50800" rIns="50800"/>
            <a:lstStyle/>
            <a:p>
              <a:pPr algn="ctr" marL="0" indent="0" lvl="0">
                <a:lnSpc>
                  <a:spcPts val="2659"/>
                </a:lnSpc>
              </a:pPr>
            </a:p>
          </p:txBody>
        </p:sp>
      </p:grpSp>
      <p:grpSp>
        <p:nvGrpSpPr>
          <p:cNvPr name="Group 14" id="14"/>
          <p:cNvGrpSpPr/>
          <p:nvPr/>
        </p:nvGrpSpPr>
        <p:grpSpPr>
          <a:xfrm rot="0">
            <a:off x="9608227" y="6343060"/>
            <a:ext cx="6450373" cy="665162"/>
            <a:chOff x="0" y="0"/>
            <a:chExt cx="1698864" cy="175187"/>
          </a:xfrm>
        </p:grpSpPr>
        <p:sp>
          <p:nvSpPr>
            <p:cNvPr name="Freeform 15" id="15"/>
            <p:cNvSpPr/>
            <p:nvPr/>
          </p:nvSpPr>
          <p:spPr>
            <a:xfrm flipH="false" flipV="false" rot="0">
              <a:off x="0" y="0"/>
              <a:ext cx="1698864" cy="175187"/>
            </a:xfrm>
            <a:custGeom>
              <a:avLst/>
              <a:gdLst/>
              <a:ahLst/>
              <a:cxnLst/>
              <a:rect r="r" b="b" t="t" l="l"/>
              <a:pathLst>
                <a:path h="175187" w="1698864">
                  <a:moveTo>
                    <a:pt x="33606" y="0"/>
                  </a:moveTo>
                  <a:lnTo>
                    <a:pt x="1665257" y="0"/>
                  </a:lnTo>
                  <a:cubicBezTo>
                    <a:pt x="1674170" y="0"/>
                    <a:pt x="1682718" y="3541"/>
                    <a:pt x="1689021" y="9843"/>
                  </a:cubicBezTo>
                  <a:cubicBezTo>
                    <a:pt x="1695323" y="16146"/>
                    <a:pt x="1698864" y="24693"/>
                    <a:pt x="1698864" y="33606"/>
                  </a:cubicBezTo>
                  <a:lnTo>
                    <a:pt x="1698864" y="141580"/>
                  </a:lnTo>
                  <a:cubicBezTo>
                    <a:pt x="1698864" y="150493"/>
                    <a:pt x="1695323" y="159041"/>
                    <a:pt x="1689021" y="165344"/>
                  </a:cubicBezTo>
                  <a:cubicBezTo>
                    <a:pt x="1682718" y="171646"/>
                    <a:pt x="1674170" y="175187"/>
                    <a:pt x="1665257" y="175187"/>
                  </a:cubicBezTo>
                  <a:lnTo>
                    <a:pt x="33606" y="175187"/>
                  </a:lnTo>
                  <a:cubicBezTo>
                    <a:pt x="15046" y="175187"/>
                    <a:pt x="0" y="160141"/>
                    <a:pt x="0" y="141580"/>
                  </a:cubicBezTo>
                  <a:lnTo>
                    <a:pt x="0" y="33606"/>
                  </a:lnTo>
                  <a:cubicBezTo>
                    <a:pt x="0" y="24693"/>
                    <a:pt x="3541" y="16146"/>
                    <a:pt x="9843" y="9843"/>
                  </a:cubicBezTo>
                  <a:cubicBezTo>
                    <a:pt x="16146" y="3541"/>
                    <a:pt x="24693" y="0"/>
                    <a:pt x="33606" y="0"/>
                  </a:cubicBezTo>
                  <a:close/>
                </a:path>
              </a:pathLst>
            </a:custGeom>
            <a:solidFill>
              <a:srgbClr val="F26B0F"/>
            </a:solidFill>
          </p:spPr>
        </p:sp>
        <p:sp>
          <p:nvSpPr>
            <p:cNvPr name="TextBox 16" id="16"/>
            <p:cNvSpPr txBox="true"/>
            <p:nvPr/>
          </p:nvSpPr>
          <p:spPr>
            <a:xfrm>
              <a:off x="0" y="-38100"/>
              <a:ext cx="1698864" cy="213287"/>
            </a:xfrm>
            <a:prstGeom prst="rect">
              <a:avLst/>
            </a:prstGeom>
          </p:spPr>
          <p:txBody>
            <a:bodyPr anchor="ctr" rtlCol="false" tIns="50800" lIns="50800" bIns="50800" rIns="50800"/>
            <a:lstStyle/>
            <a:p>
              <a:pPr algn="ctr" marL="0" indent="0" lvl="0">
                <a:lnSpc>
                  <a:spcPts val="2659"/>
                </a:lnSpc>
              </a:pPr>
            </a:p>
          </p:txBody>
        </p:sp>
      </p:grpSp>
      <p:grpSp>
        <p:nvGrpSpPr>
          <p:cNvPr name="Group 17" id="17"/>
          <p:cNvGrpSpPr/>
          <p:nvPr/>
        </p:nvGrpSpPr>
        <p:grpSpPr>
          <a:xfrm rot="0">
            <a:off x="9608227" y="7198722"/>
            <a:ext cx="6450373" cy="665162"/>
            <a:chOff x="0" y="0"/>
            <a:chExt cx="1698864" cy="175187"/>
          </a:xfrm>
        </p:grpSpPr>
        <p:sp>
          <p:nvSpPr>
            <p:cNvPr name="Freeform 18" id="18"/>
            <p:cNvSpPr/>
            <p:nvPr/>
          </p:nvSpPr>
          <p:spPr>
            <a:xfrm flipH="false" flipV="false" rot="0">
              <a:off x="0" y="0"/>
              <a:ext cx="1698864" cy="175187"/>
            </a:xfrm>
            <a:custGeom>
              <a:avLst/>
              <a:gdLst/>
              <a:ahLst/>
              <a:cxnLst/>
              <a:rect r="r" b="b" t="t" l="l"/>
              <a:pathLst>
                <a:path h="175187" w="1698864">
                  <a:moveTo>
                    <a:pt x="33606" y="0"/>
                  </a:moveTo>
                  <a:lnTo>
                    <a:pt x="1665257" y="0"/>
                  </a:lnTo>
                  <a:cubicBezTo>
                    <a:pt x="1674170" y="0"/>
                    <a:pt x="1682718" y="3541"/>
                    <a:pt x="1689021" y="9843"/>
                  </a:cubicBezTo>
                  <a:cubicBezTo>
                    <a:pt x="1695323" y="16146"/>
                    <a:pt x="1698864" y="24693"/>
                    <a:pt x="1698864" y="33606"/>
                  </a:cubicBezTo>
                  <a:lnTo>
                    <a:pt x="1698864" y="141580"/>
                  </a:lnTo>
                  <a:cubicBezTo>
                    <a:pt x="1698864" y="150493"/>
                    <a:pt x="1695323" y="159041"/>
                    <a:pt x="1689021" y="165344"/>
                  </a:cubicBezTo>
                  <a:cubicBezTo>
                    <a:pt x="1682718" y="171646"/>
                    <a:pt x="1674170" y="175187"/>
                    <a:pt x="1665257" y="175187"/>
                  </a:cubicBezTo>
                  <a:lnTo>
                    <a:pt x="33606" y="175187"/>
                  </a:lnTo>
                  <a:cubicBezTo>
                    <a:pt x="15046" y="175187"/>
                    <a:pt x="0" y="160141"/>
                    <a:pt x="0" y="141580"/>
                  </a:cubicBezTo>
                  <a:lnTo>
                    <a:pt x="0" y="33606"/>
                  </a:lnTo>
                  <a:cubicBezTo>
                    <a:pt x="0" y="24693"/>
                    <a:pt x="3541" y="16146"/>
                    <a:pt x="9843" y="9843"/>
                  </a:cubicBezTo>
                  <a:cubicBezTo>
                    <a:pt x="16146" y="3541"/>
                    <a:pt x="24693" y="0"/>
                    <a:pt x="33606" y="0"/>
                  </a:cubicBezTo>
                  <a:close/>
                </a:path>
              </a:pathLst>
            </a:custGeom>
            <a:solidFill>
              <a:srgbClr val="F26B0F"/>
            </a:solidFill>
          </p:spPr>
        </p:sp>
        <p:sp>
          <p:nvSpPr>
            <p:cNvPr name="TextBox 19" id="19"/>
            <p:cNvSpPr txBox="true"/>
            <p:nvPr/>
          </p:nvSpPr>
          <p:spPr>
            <a:xfrm>
              <a:off x="0" y="-38100"/>
              <a:ext cx="1698864" cy="213287"/>
            </a:xfrm>
            <a:prstGeom prst="rect">
              <a:avLst/>
            </a:prstGeom>
          </p:spPr>
          <p:txBody>
            <a:bodyPr anchor="ctr" rtlCol="false" tIns="50800" lIns="50800" bIns="50800" rIns="50800"/>
            <a:lstStyle/>
            <a:p>
              <a:pPr algn="ctr" marL="0" indent="0" lvl="0">
                <a:lnSpc>
                  <a:spcPts val="2659"/>
                </a:lnSpc>
              </a:pPr>
            </a:p>
          </p:txBody>
        </p:sp>
      </p:grpSp>
      <p:sp>
        <p:nvSpPr>
          <p:cNvPr name="Freeform 20" id="20"/>
          <p:cNvSpPr/>
          <p:nvPr/>
        </p:nvSpPr>
        <p:spPr>
          <a:xfrm flipH="false" flipV="false" rot="0">
            <a:off x="8945713" y="4662655"/>
            <a:ext cx="483695" cy="732839"/>
          </a:xfrm>
          <a:custGeom>
            <a:avLst/>
            <a:gdLst/>
            <a:ahLst/>
            <a:cxnLst/>
            <a:rect r="r" b="b" t="t" l="l"/>
            <a:pathLst>
              <a:path h="732839" w="483695">
                <a:moveTo>
                  <a:pt x="0" y="0"/>
                </a:moveTo>
                <a:lnTo>
                  <a:pt x="483695" y="0"/>
                </a:lnTo>
                <a:lnTo>
                  <a:pt x="483695" y="732839"/>
                </a:lnTo>
                <a:lnTo>
                  <a:pt x="0" y="732839"/>
                </a:lnTo>
                <a:lnTo>
                  <a:pt x="0" y="0"/>
                </a:lnTo>
                <a:close/>
              </a:path>
            </a:pathLst>
          </a:custGeom>
          <a:blipFill>
            <a:blip r:embed="rId4"/>
            <a:stretch>
              <a:fillRect l="0" t="0" r="0" b="0"/>
            </a:stretch>
          </a:blipFill>
        </p:spPr>
      </p:sp>
      <p:sp>
        <p:nvSpPr>
          <p:cNvPr name="Freeform 21" id="21"/>
          <p:cNvSpPr/>
          <p:nvPr/>
        </p:nvSpPr>
        <p:spPr>
          <a:xfrm flipH="false" flipV="false" rot="0">
            <a:off x="8953020" y="7236341"/>
            <a:ext cx="483695" cy="600387"/>
          </a:xfrm>
          <a:custGeom>
            <a:avLst/>
            <a:gdLst/>
            <a:ahLst/>
            <a:cxnLst/>
            <a:rect r="r" b="b" t="t" l="l"/>
            <a:pathLst>
              <a:path h="600387" w="483695">
                <a:moveTo>
                  <a:pt x="0" y="0"/>
                </a:moveTo>
                <a:lnTo>
                  <a:pt x="483695" y="0"/>
                </a:lnTo>
                <a:lnTo>
                  <a:pt x="483695" y="600387"/>
                </a:lnTo>
                <a:lnTo>
                  <a:pt x="0" y="600387"/>
                </a:lnTo>
                <a:lnTo>
                  <a:pt x="0" y="0"/>
                </a:lnTo>
                <a:close/>
              </a:path>
            </a:pathLst>
          </a:custGeom>
          <a:blipFill>
            <a:blip r:embed="rId5"/>
            <a:stretch>
              <a:fillRect l="0" t="0" r="0" b="0"/>
            </a:stretch>
          </a:blipFill>
        </p:spPr>
      </p:sp>
      <p:sp>
        <p:nvSpPr>
          <p:cNvPr name="Freeform 22" id="22"/>
          <p:cNvSpPr/>
          <p:nvPr/>
        </p:nvSpPr>
        <p:spPr>
          <a:xfrm flipH="false" flipV="false" rot="0">
            <a:off x="8955751" y="6387737"/>
            <a:ext cx="544707" cy="475266"/>
          </a:xfrm>
          <a:custGeom>
            <a:avLst/>
            <a:gdLst/>
            <a:ahLst/>
            <a:cxnLst/>
            <a:rect r="r" b="b" t="t" l="l"/>
            <a:pathLst>
              <a:path h="475266" w="544707">
                <a:moveTo>
                  <a:pt x="0" y="0"/>
                </a:moveTo>
                <a:lnTo>
                  <a:pt x="544707" y="0"/>
                </a:lnTo>
                <a:lnTo>
                  <a:pt x="544707" y="475266"/>
                </a:lnTo>
                <a:lnTo>
                  <a:pt x="0" y="475266"/>
                </a:lnTo>
                <a:lnTo>
                  <a:pt x="0" y="0"/>
                </a:lnTo>
                <a:close/>
              </a:path>
            </a:pathLst>
          </a:custGeom>
          <a:blipFill>
            <a:blip r:embed="rId6"/>
            <a:stretch>
              <a:fillRect l="0" t="0" r="0" b="0"/>
            </a:stretch>
          </a:blipFill>
        </p:spPr>
      </p:sp>
      <p:sp>
        <p:nvSpPr>
          <p:cNvPr name="Freeform 23" id="23"/>
          <p:cNvSpPr/>
          <p:nvPr/>
        </p:nvSpPr>
        <p:spPr>
          <a:xfrm flipH="false" flipV="false" rot="0">
            <a:off x="8922081" y="5589018"/>
            <a:ext cx="542990" cy="495169"/>
          </a:xfrm>
          <a:custGeom>
            <a:avLst/>
            <a:gdLst/>
            <a:ahLst/>
            <a:cxnLst/>
            <a:rect r="r" b="b" t="t" l="l"/>
            <a:pathLst>
              <a:path h="495169" w="542990">
                <a:moveTo>
                  <a:pt x="0" y="0"/>
                </a:moveTo>
                <a:lnTo>
                  <a:pt x="542989" y="0"/>
                </a:lnTo>
                <a:lnTo>
                  <a:pt x="542989" y="495169"/>
                </a:lnTo>
                <a:lnTo>
                  <a:pt x="0" y="495169"/>
                </a:lnTo>
                <a:lnTo>
                  <a:pt x="0" y="0"/>
                </a:lnTo>
                <a:close/>
              </a:path>
            </a:pathLst>
          </a:custGeom>
          <a:blipFill>
            <a:blip r:embed="rId7"/>
            <a:stretch>
              <a:fillRect l="0" t="0" r="0" b="0"/>
            </a:stretch>
          </a:blipFill>
        </p:spPr>
      </p:sp>
      <p:sp>
        <p:nvSpPr>
          <p:cNvPr name="Freeform 24" id="24"/>
          <p:cNvSpPr/>
          <p:nvPr/>
        </p:nvSpPr>
        <p:spPr>
          <a:xfrm flipH="false" flipV="false" rot="0">
            <a:off x="953135" y="2694230"/>
            <a:ext cx="7002452" cy="7758949"/>
          </a:xfrm>
          <a:custGeom>
            <a:avLst/>
            <a:gdLst/>
            <a:ahLst/>
            <a:cxnLst/>
            <a:rect r="r" b="b" t="t" l="l"/>
            <a:pathLst>
              <a:path h="7758949" w="7002452">
                <a:moveTo>
                  <a:pt x="0" y="0"/>
                </a:moveTo>
                <a:lnTo>
                  <a:pt x="7002452" y="0"/>
                </a:lnTo>
                <a:lnTo>
                  <a:pt x="7002452" y="7758949"/>
                </a:lnTo>
                <a:lnTo>
                  <a:pt x="0" y="7758949"/>
                </a:lnTo>
                <a:lnTo>
                  <a:pt x="0" y="0"/>
                </a:lnTo>
                <a:close/>
              </a:path>
            </a:pathLst>
          </a:custGeom>
          <a:blipFill>
            <a:blip r:embed="rId8"/>
            <a:stretch>
              <a:fillRect l="0" t="0" r="0" b="0"/>
            </a:stretch>
          </a:blipFill>
        </p:spPr>
      </p:sp>
      <p:sp>
        <p:nvSpPr>
          <p:cNvPr name="TextBox 25" id="25"/>
          <p:cNvSpPr txBox="true"/>
          <p:nvPr/>
        </p:nvSpPr>
        <p:spPr>
          <a:xfrm rot="0">
            <a:off x="8945922" y="1181100"/>
            <a:ext cx="9342078" cy="908685"/>
          </a:xfrm>
          <a:prstGeom prst="rect">
            <a:avLst/>
          </a:prstGeom>
        </p:spPr>
        <p:txBody>
          <a:bodyPr anchor="t" rtlCol="false" tIns="0" lIns="0" bIns="0" rIns="0">
            <a:spAutoFit/>
          </a:bodyPr>
          <a:lstStyle/>
          <a:p>
            <a:pPr algn="l" marL="0" indent="0" lvl="0">
              <a:lnSpc>
                <a:spcPts val="6719"/>
              </a:lnSpc>
            </a:pPr>
            <a:r>
              <a:rPr lang="en-US" sz="6999">
                <a:solidFill>
                  <a:srgbClr val="FFFFFF"/>
                </a:solidFill>
                <a:latin typeface="Lilita One"/>
                <a:ea typeface="Lilita One"/>
                <a:cs typeface="Lilita One"/>
                <a:sym typeface="Lilita One"/>
              </a:rPr>
              <a:t>CONCLUSION</a:t>
            </a:r>
          </a:p>
        </p:txBody>
      </p:sp>
      <p:sp>
        <p:nvSpPr>
          <p:cNvPr name="TextBox 26" id="26"/>
          <p:cNvSpPr txBox="true"/>
          <p:nvPr/>
        </p:nvSpPr>
        <p:spPr>
          <a:xfrm rot="0">
            <a:off x="8945922" y="2987081"/>
            <a:ext cx="9342078" cy="1289749"/>
          </a:xfrm>
          <a:prstGeom prst="rect">
            <a:avLst/>
          </a:prstGeom>
        </p:spPr>
        <p:txBody>
          <a:bodyPr anchor="t" rtlCol="false" tIns="0" lIns="0" bIns="0" rIns="0">
            <a:spAutoFit/>
          </a:bodyPr>
          <a:lstStyle/>
          <a:p>
            <a:pPr algn="l" marL="0" indent="0" lvl="0">
              <a:lnSpc>
                <a:spcPts val="5036"/>
              </a:lnSpc>
            </a:pPr>
            <a:r>
              <a:rPr lang="en-US" b="true" sz="3597">
                <a:solidFill>
                  <a:srgbClr val="FFFFFF"/>
                </a:solidFill>
                <a:latin typeface="Poppins Bold"/>
                <a:ea typeface="Poppins Bold"/>
                <a:cs typeface="Poppins Bold"/>
                <a:sym typeface="Poppins Bold"/>
              </a:rPr>
              <a:t>Importance of Transport Performance Analysis</a:t>
            </a:r>
          </a:p>
        </p:txBody>
      </p:sp>
      <p:sp>
        <p:nvSpPr>
          <p:cNvPr name="TextBox 27" id="27"/>
          <p:cNvSpPr txBox="true"/>
          <p:nvPr/>
        </p:nvSpPr>
        <p:spPr>
          <a:xfrm rot="0">
            <a:off x="10066471" y="4732831"/>
            <a:ext cx="8221529" cy="257576"/>
          </a:xfrm>
          <a:prstGeom prst="rect">
            <a:avLst/>
          </a:prstGeom>
        </p:spPr>
        <p:txBody>
          <a:bodyPr anchor="t" rtlCol="false" tIns="0" lIns="0" bIns="0" rIns="0">
            <a:spAutoFit/>
          </a:bodyPr>
          <a:lstStyle/>
          <a:p>
            <a:pPr algn="just" marL="0" indent="0" lvl="0">
              <a:lnSpc>
                <a:spcPts val="2077"/>
              </a:lnSpc>
            </a:pPr>
            <a:r>
              <a:rPr lang="en-US" sz="1484">
                <a:solidFill>
                  <a:srgbClr val="FFFFFF"/>
                </a:solidFill>
                <a:latin typeface="Poppins"/>
                <a:ea typeface="Poppins"/>
                <a:cs typeface="Poppins"/>
                <a:sym typeface="Poppins"/>
              </a:rPr>
              <a:t>Understand passenger demand patterns across Bengaluru</a:t>
            </a:r>
          </a:p>
        </p:txBody>
      </p:sp>
      <p:sp>
        <p:nvSpPr>
          <p:cNvPr name="TextBox 28" id="28"/>
          <p:cNvSpPr txBox="true"/>
          <p:nvPr/>
        </p:nvSpPr>
        <p:spPr>
          <a:xfrm rot="0">
            <a:off x="10066471" y="5567282"/>
            <a:ext cx="8221529" cy="342666"/>
          </a:xfrm>
          <a:prstGeom prst="rect">
            <a:avLst/>
          </a:prstGeom>
        </p:spPr>
        <p:txBody>
          <a:bodyPr anchor="t" rtlCol="false" tIns="0" lIns="0" bIns="0" rIns="0">
            <a:spAutoFit/>
          </a:bodyPr>
          <a:lstStyle/>
          <a:p>
            <a:pPr algn="just" marL="0" indent="0" lvl="0">
              <a:lnSpc>
                <a:spcPts val="2637"/>
              </a:lnSpc>
            </a:pPr>
            <a:r>
              <a:rPr lang="en-US" sz="1884">
                <a:solidFill>
                  <a:srgbClr val="FFFFFF"/>
                </a:solidFill>
                <a:latin typeface="Poppins"/>
                <a:ea typeface="Poppins"/>
                <a:cs typeface="Poppins"/>
                <a:sym typeface="Poppins"/>
              </a:rPr>
              <a:t>Improve route planning and resource allocation</a:t>
            </a:r>
          </a:p>
        </p:txBody>
      </p:sp>
      <p:sp>
        <p:nvSpPr>
          <p:cNvPr name="TextBox 29" id="29"/>
          <p:cNvSpPr txBox="true"/>
          <p:nvPr/>
        </p:nvSpPr>
        <p:spPr>
          <a:xfrm rot="0">
            <a:off x="10066471" y="6430309"/>
            <a:ext cx="8221529" cy="283611"/>
          </a:xfrm>
          <a:prstGeom prst="rect">
            <a:avLst/>
          </a:prstGeom>
        </p:spPr>
        <p:txBody>
          <a:bodyPr anchor="t" rtlCol="false" tIns="0" lIns="0" bIns="0" rIns="0">
            <a:spAutoFit/>
          </a:bodyPr>
          <a:lstStyle/>
          <a:p>
            <a:pPr algn="just" marL="0" indent="0" lvl="0">
              <a:lnSpc>
                <a:spcPts val="2217"/>
              </a:lnSpc>
            </a:pPr>
            <a:r>
              <a:rPr lang="en-US" sz="1584">
                <a:solidFill>
                  <a:srgbClr val="FFFFFF"/>
                </a:solidFill>
                <a:latin typeface="Poppins"/>
                <a:ea typeface="Poppins"/>
                <a:cs typeface="Poppins"/>
                <a:sym typeface="Poppins"/>
              </a:rPr>
              <a:t>Identify high-intensity stops and underserved areas</a:t>
            </a:r>
          </a:p>
        </p:txBody>
      </p:sp>
      <p:sp>
        <p:nvSpPr>
          <p:cNvPr name="TextBox 30" id="30"/>
          <p:cNvSpPr txBox="true"/>
          <p:nvPr/>
        </p:nvSpPr>
        <p:spPr>
          <a:xfrm rot="0">
            <a:off x="10066471" y="7276446"/>
            <a:ext cx="8221529" cy="309646"/>
          </a:xfrm>
          <a:prstGeom prst="rect">
            <a:avLst/>
          </a:prstGeom>
        </p:spPr>
        <p:txBody>
          <a:bodyPr anchor="t" rtlCol="false" tIns="0" lIns="0" bIns="0" rIns="0">
            <a:spAutoFit/>
          </a:bodyPr>
          <a:lstStyle/>
          <a:p>
            <a:pPr algn="just" marL="0" indent="0" lvl="0">
              <a:lnSpc>
                <a:spcPts val="2357"/>
              </a:lnSpc>
            </a:pPr>
            <a:r>
              <a:rPr lang="en-US" sz="1684">
                <a:solidFill>
                  <a:srgbClr val="FFFFFF"/>
                </a:solidFill>
                <a:latin typeface="Poppins"/>
                <a:ea typeface="Poppins"/>
                <a:cs typeface="Poppins"/>
                <a:sym typeface="Poppins"/>
              </a:rPr>
              <a:t>Enable data-driven decisions for transit authorities</a:t>
            </a:r>
          </a:p>
        </p:txBody>
      </p:sp>
      <p:sp>
        <p:nvSpPr>
          <p:cNvPr name="Freeform 31" id="31"/>
          <p:cNvSpPr/>
          <p:nvPr/>
        </p:nvSpPr>
        <p:spPr>
          <a:xfrm flipH="false" flipV="false" rot="0">
            <a:off x="15432541" y="1779062"/>
            <a:ext cx="5060146" cy="4585757"/>
          </a:xfrm>
          <a:custGeom>
            <a:avLst/>
            <a:gdLst/>
            <a:ahLst/>
            <a:cxnLst/>
            <a:rect r="r" b="b" t="t" l="l"/>
            <a:pathLst>
              <a:path h="4585757" w="5060146">
                <a:moveTo>
                  <a:pt x="0" y="0"/>
                </a:moveTo>
                <a:lnTo>
                  <a:pt x="5060146" y="0"/>
                </a:lnTo>
                <a:lnTo>
                  <a:pt x="5060146" y="4585757"/>
                </a:lnTo>
                <a:lnTo>
                  <a:pt x="0" y="4585757"/>
                </a:lnTo>
                <a:lnTo>
                  <a:pt x="0" y="0"/>
                </a:lnTo>
                <a:close/>
              </a:path>
            </a:pathLst>
          </a:custGeom>
          <a:blipFill>
            <a:blip r:embed="rId9"/>
            <a:stretch>
              <a:fillRect l="0" t="0" r="0" b="0"/>
            </a:stretch>
          </a:blipFill>
        </p:spPr>
      </p:sp>
      <p:sp>
        <p:nvSpPr>
          <p:cNvPr name="Freeform 32" id="32"/>
          <p:cNvSpPr/>
          <p:nvPr/>
        </p:nvSpPr>
        <p:spPr>
          <a:xfrm flipH="false" flipV="false" rot="668331">
            <a:off x="-1046420" y="1084343"/>
            <a:ext cx="2765749" cy="5423037"/>
          </a:xfrm>
          <a:custGeom>
            <a:avLst/>
            <a:gdLst/>
            <a:ahLst/>
            <a:cxnLst/>
            <a:rect r="r" b="b" t="t" l="l"/>
            <a:pathLst>
              <a:path h="5423037" w="2765749">
                <a:moveTo>
                  <a:pt x="0" y="0"/>
                </a:moveTo>
                <a:lnTo>
                  <a:pt x="2765749" y="0"/>
                </a:lnTo>
                <a:lnTo>
                  <a:pt x="2765749" y="5423037"/>
                </a:lnTo>
                <a:lnTo>
                  <a:pt x="0" y="5423037"/>
                </a:lnTo>
                <a:lnTo>
                  <a:pt x="0" y="0"/>
                </a:lnTo>
                <a:close/>
              </a:path>
            </a:pathLst>
          </a:custGeom>
          <a:blipFill>
            <a:blip r:embed="rId10"/>
            <a:stretch>
              <a:fillRect l="0" t="0" r="0" b="0"/>
            </a:stretch>
          </a:blipFill>
        </p:spPr>
      </p:sp>
      <p:sp>
        <p:nvSpPr>
          <p:cNvPr name="Freeform 33" id="33"/>
          <p:cNvSpPr/>
          <p:nvPr/>
        </p:nvSpPr>
        <p:spPr>
          <a:xfrm flipH="false" flipV="false" rot="-4435513">
            <a:off x="6637520" y="623906"/>
            <a:ext cx="1338783" cy="1919401"/>
          </a:xfrm>
          <a:custGeom>
            <a:avLst/>
            <a:gdLst/>
            <a:ahLst/>
            <a:cxnLst/>
            <a:rect r="r" b="b" t="t" l="l"/>
            <a:pathLst>
              <a:path h="1919401" w="1338783">
                <a:moveTo>
                  <a:pt x="0" y="0"/>
                </a:moveTo>
                <a:lnTo>
                  <a:pt x="1338783" y="0"/>
                </a:lnTo>
                <a:lnTo>
                  <a:pt x="1338783" y="1919401"/>
                </a:lnTo>
                <a:lnTo>
                  <a:pt x="0" y="1919401"/>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p:spPr>
      </p:sp>
      <p:sp>
        <p:nvSpPr>
          <p:cNvPr name="Freeform 34" id="34"/>
          <p:cNvSpPr/>
          <p:nvPr/>
        </p:nvSpPr>
        <p:spPr>
          <a:xfrm flipH="false" flipV="false" rot="640807">
            <a:off x="16844331" y="6781439"/>
            <a:ext cx="958101" cy="1373622"/>
          </a:xfrm>
          <a:custGeom>
            <a:avLst/>
            <a:gdLst/>
            <a:ahLst/>
            <a:cxnLst/>
            <a:rect r="r" b="b" t="t" l="l"/>
            <a:pathLst>
              <a:path h="1373622" w="958101">
                <a:moveTo>
                  <a:pt x="0" y="0"/>
                </a:moveTo>
                <a:lnTo>
                  <a:pt x="958101" y="0"/>
                </a:lnTo>
                <a:lnTo>
                  <a:pt x="958101" y="1373622"/>
                </a:lnTo>
                <a:lnTo>
                  <a:pt x="0" y="1373622"/>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p:spPr>
      </p:sp>
      <p:sp>
        <p:nvSpPr>
          <p:cNvPr name="Freeform 35" id="35"/>
          <p:cNvSpPr/>
          <p:nvPr/>
        </p:nvSpPr>
        <p:spPr>
          <a:xfrm flipH="false" flipV="false" rot="-6490527">
            <a:off x="3161394" y="776991"/>
            <a:ext cx="1125228" cy="1613231"/>
          </a:xfrm>
          <a:custGeom>
            <a:avLst/>
            <a:gdLst/>
            <a:ahLst/>
            <a:cxnLst/>
            <a:rect r="r" b="b" t="t" l="l"/>
            <a:pathLst>
              <a:path h="1613231" w="1125228">
                <a:moveTo>
                  <a:pt x="0" y="0"/>
                </a:moveTo>
                <a:lnTo>
                  <a:pt x="1125228" y="0"/>
                </a:lnTo>
                <a:lnTo>
                  <a:pt x="1125228" y="1613231"/>
                </a:lnTo>
                <a:lnTo>
                  <a:pt x="0" y="1613231"/>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DAHU0may6IY</dc:identifier>
  <dcterms:modified xsi:type="dcterms:W3CDTF">2011-08-01T06:04:30Z</dcterms:modified>
  <cp:revision>1</cp:revision>
  <dc:title>Milestone 2</dc:title>
</cp:coreProperties>
</file>