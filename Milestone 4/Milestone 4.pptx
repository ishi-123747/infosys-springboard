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Bold" charset="1" panose="00000800000000000000"/>
      <p:regular r:id="rId15"/>
    </p:embeddedFont>
    <p:embeddedFont>
      <p:font typeface="Poppins" charset="1" panose="00000500000000000000"/>
      <p:regular r:id="rId16"/>
    </p:embeddedFont>
    <p:embeddedFont>
      <p:font typeface="Poppins Ultra-Bold" charset="1" panose="000009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5.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7.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0.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0D1FF">
                    <a:alpha val="82000"/>
                  </a:srgbClr>
                </a:gs>
                <a:gs pos="50000">
                  <a:srgbClr val="001496">
                    <a:alpha val="82000"/>
                  </a:srgbClr>
                </a:gs>
                <a:gs pos="100000">
                  <a:srgbClr val="000F70">
                    <a:alpha val="82000"/>
                  </a:srgbClr>
                </a:gs>
              </a:gsLst>
              <a:path path="circle">
                <a:fillToRect l="50000" r="50000" t="50000" b="50000"/>
              </a:path>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5351790" y="1368858"/>
            <a:ext cx="7740516" cy="7589727"/>
          </a:xfrm>
          <a:custGeom>
            <a:avLst/>
            <a:gdLst/>
            <a:ahLst/>
            <a:cxnLst/>
            <a:rect r="r" b="b" t="t" l="l"/>
            <a:pathLst>
              <a:path h="7589727" w="7740516">
                <a:moveTo>
                  <a:pt x="0" y="0"/>
                </a:moveTo>
                <a:lnTo>
                  <a:pt x="7740516" y="0"/>
                </a:lnTo>
                <a:lnTo>
                  <a:pt x="7740516" y="7589727"/>
                </a:lnTo>
                <a:lnTo>
                  <a:pt x="0" y="7589727"/>
                </a:lnTo>
                <a:lnTo>
                  <a:pt x="0" y="0"/>
                </a:lnTo>
                <a:close/>
              </a:path>
            </a:pathLst>
          </a:custGeom>
          <a:blipFill>
            <a:blip r:embed="rId3">
              <a:alphaModFix amt="34000"/>
            </a:blip>
            <a:stretch>
              <a:fillRect l="0" t="0" r="0" b="0"/>
            </a:stretch>
          </a:blipFill>
        </p:spPr>
      </p:sp>
      <p:sp>
        <p:nvSpPr>
          <p:cNvPr name="TextBox 7" id="7"/>
          <p:cNvSpPr txBox="true"/>
          <p:nvPr/>
        </p:nvSpPr>
        <p:spPr>
          <a:xfrm rot="0">
            <a:off x="2278626" y="3205126"/>
            <a:ext cx="13730749" cy="1937826"/>
          </a:xfrm>
          <a:prstGeom prst="rect">
            <a:avLst/>
          </a:prstGeom>
        </p:spPr>
        <p:txBody>
          <a:bodyPr anchor="t" rtlCol="false" tIns="0" lIns="0" bIns="0" rIns="0">
            <a:spAutoFit/>
          </a:bodyPr>
          <a:lstStyle/>
          <a:p>
            <a:pPr algn="ctr" marL="0" indent="0" lvl="0">
              <a:lnSpc>
                <a:spcPts val="7532"/>
              </a:lnSpc>
            </a:pPr>
            <a:r>
              <a:rPr lang="en-US" b="true" sz="5380">
                <a:solidFill>
                  <a:srgbClr val="FFFFFF"/>
                </a:solidFill>
                <a:latin typeface="Poppins Bold"/>
                <a:ea typeface="Poppins Bold"/>
                <a:cs typeface="Poppins Bold"/>
                <a:sym typeface="Poppins Bold"/>
              </a:rPr>
              <a:t>Bengaluru Transport</a:t>
            </a:r>
          </a:p>
          <a:p>
            <a:pPr algn="ctr" marL="0" indent="0" lvl="0">
              <a:lnSpc>
                <a:spcPts val="7532"/>
              </a:lnSpc>
            </a:pPr>
            <a:r>
              <a:rPr lang="en-US" b="true" sz="5380">
                <a:solidFill>
                  <a:srgbClr val="FFFFFF"/>
                </a:solidFill>
                <a:latin typeface="Poppins Bold"/>
                <a:ea typeface="Poppins Bold"/>
                <a:cs typeface="Poppins Bold"/>
                <a:sym typeface="Poppins Bold"/>
              </a:rPr>
              <a:t>Mobility &amp; Equality Analysis</a:t>
            </a:r>
          </a:p>
        </p:txBody>
      </p:sp>
      <p:sp>
        <p:nvSpPr>
          <p:cNvPr name="TextBox 8" id="8"/>
          <p:cNvSpPr txBox="true"/>
          <p:nvPr/>
        </p:nvSpPr>
        <p:spPr>
          <a:xfrm rot="0">
            <a:off x="2278626" y="4797095"/>
            <a:ext cx="13730749" cy="2123062"/>
          </a:xfrm>
          <a:prstGeom prst="rect">
            <a:avLst/>
          </a:prstGeom>
        </p:spPr>
        <p:txBody>
          <a:bodyPr anchor="t" rtlCol="false" tIns="0" lIns="0" bIns="0" rIns="0">
            <a:spAutoFit/>
          </a:bodyPr>
          <a:lstStyle/>
          <a:p>
            <a:pPr algn="ctr" marL="0" indent="0" lvl="0">
              <a:lnSpc>
                <a:spcPts val="16357"/>
              </a:lnSpc>
            </a:pPr>
            <a:r>
              <a:rPr lang="en-US" sz="11683">
                <a:solidFill>
                  <a:srgbClr val="FFFFFF"/>
                </a:solidFill>
                <a:latin typeface="Poppins"/>
                <a:ea typeface="Poppins"/>
                <a:cs typeface="Poppins"/>
                <a:sym typeface="Poppins"/>
              </a:rPr>
              <a:t>Milestone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460998" y="2030545"/>
            <a:ext cx="6888446" cy="6061833"/>
          </a:xfrm>
          <a:custGeom>
            <a:avLst/>
            <a:gdLst/>
            <a:ahLst/>
            <a:cxnLst/>
            <a:rect r="r" b="b" t="t" l="l"/>
            <a:pathLst>
              <a:path h="6061833" w="6888446">
                <a:moveTo>
                  <a:pt x="0" y="0"/>
                </a:moveTo>
                <a:lnTo>
                  <a:pt x="6888446" y="0"/>
                </a:lnTo>
                <a:lnTo>
                  <a:pt x="6888446" y="6061833"/>
                </a:lnTo>
                <a:lnTo>
                  <a:pt x="0" y="6061833"/>
                </a:lnTo>
                <a:lnTo>
                  <a:pt x="0" y="0"/>
                </a:lnTo>
                <a:close/>
              </a:path>
            </a:pathLst>
          </a:custGeom>
          <a:blipFill>
            <a:blip r:embed="rId5"/>
            <a:stretch>
              <a:fillRect l="0" t="0" r="0" b="0"/>
            </a:stretch>
          </a:blipFill>
        </p:spPr>
      </p:sp>
      <p:sp>
        <p:nvSpPr>
          <p:cNvPr name="TextBox 8" id="8"/>
          <p:cNvSpPr txBox="true"/>
          <p:nvPr/>
        </p:nvSpPr>
        <p:spPr>
          <a:xfrm rot="0">
            <a:off x="1436575" y="720140"/>
            <a:ext cx="3402138" cy="308663"/>
          </a:xfrm>
          <a:prstGeom prst="rect">
            <a:avLst/>
          </a:prstGeom>
        </p:spPr>
        <p:txBody>
          <a:bodyPr anchor="t" rtlCol="false" tIns="0" lIns="0" bIns="0" rIns="0">
            <a:spAutoFit/>
          </a:bodyPr>
          <a:lstStyle/>
          <a:p>
            <a:pPr algn="l" marL="0" indent="0" lvl="0">
              <a:lnSpc>
                <a:spcPts val="2412"/>
              </a:lnSpc>
            </a:pPr>
            <a:r>
              <a:rPr lang="en-US" b="true" sz="1722">
                <a:solidFill>
                  <a:srgbClr val="FFFFFF"/>
                </a:solidFill>
                <a:latin typeface="Poppins Ultra-Bold"/>
                <a:ea typeface="Poppins Ultra-Bold"/>
                <a:cs typeface="Poppins Ultra-Bold"/>
                <a:sym typeface="Poppins Ultra-Bold"/>
              </a:rPr>
              <a:t>Bengaluru Transport Analysis</a:t>
            </a:r>
          </a:p>
        </p:txBody>
      </p:sp>
      <p:sp>
        <p:nvSpPr>
          <p:cNvPr name="TextBox 9" id="9"/>
          <p:cNvSpPr txBox="true"/>
          <p:nvPr/>
        </p:nvSpPr>
        <p:spPr>
          <a:xfrm rot="0">
            <a:off x="1794079" y="2609411"/>
            <a:ext cx="8487068" cy="1326947"/>
          </a:xfrm>
          <a:prstGeom prst="rect">
            <a:avLst/>
          </a:prstGeom>
        </p:spPr>
        <p:txBody>
          <a:bodyPr anchor="t" rtlCol="false" tIns="0" lIns="0" bIns="0" rIns="0">
            <a:spAutoFit/>
          </a:bodyPr>
          <a:lstStyle/>
          <a:p>
            <a:pPr algn="l" marL="0" indent="0" lvl="0">
              <a:lnSpc>
                <a:spcPts val="9414"/>
              </a:lnSpc>
            </a:pPr>
            <a:r>
              <a:rPr lang="en-US" b="true" sz="9052">
                <a:solidFill>
                  <a:srgbClr val="FFFFFF"/>
                </a:solidFill>
                <a:latin typeface="Poppins Bold"/>
                <a:ea typeface="Poppins Bold"/>
                <a:cs typeface="Poppins Bold"/>
                <a:sym typeface="Poppins Bold"/>
              </a:rPr>
              <a:t>Introduction</a:t>
            </a:r>
          </a:p>
        </p:txBody>
      </p:sp>
      <p:sp>
        <p:nvSpPr>
          <p:cNvPr name="TextBox 10" id="10"/>
          <p:cNvSpPr txBox="true"/>
          <p:nvPr/>
        </p:nvSpPr>
        <p:spPr>
          <a:xfrm rot="0">
            <a:off x="1905140" y="4332388"/>
            <a:ext cx="6599163" cy="3092910"/>
          </a:xfrm>
          <a:prstGeom prst="rect">
            <a:avLst/>
          </a:prstGeom>
        </p:spPr>
        <p:txBody>
          <a:bodyPr anchor="t" rtlCol="false" tIns="0" lIns="0" bIns="0" rIns="0">
            <a:spAutoFit/>
          </a:bodyPr>
          <a:lstStyle/>
          <a:p>
            <a:pPr algn="just" marL="0" indent="0" lvl="0">
              <a:lnSpc>
                <a:spcPts val="2774"/>
              </a:lnSpc>
              <a:spcBef>
                <a:spcPct val="0"/>
              </a:spcBef>
            </a:pPr>
            <a:r>
              <a:rPr lang="en-US" sz="1981">
                <a:solidFill>
                  <a:srgbClr val="FFFFFF"/>
                </a:solidFill>
                <a:latin typeface="Poppins"/>
                <a:ea typeface="Poppins"/>
                <a:cs typeface="Poppins"/>
                <a:sym typeface="Poppins"/>
              </a:rPr>
              <a:t>Urban transport mobility refers to the ease with which residents can access jobs, services, and opportunities through available transportation networks. In rapidly growing cities like Bengaluru, unequal access to public transit creates significant social and economic disparities. This study examines mobility patterns, infrastructure gaps, and accessibility challenges to support the development of equitable, data-driven urban transport solutions.</a:t>
            </a:r>
          </a:p>
        </p:txBody>
      </p:sp>
      <p:sp>
        <p:nvSpPr>
          <p:cNvPr name="AutoShape 11" id="11"/>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14251134" y="9096249"/>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899052" y="2350785"/>
            <a:ext cx="5687358" cy="5687358"/>
          </a:xfrm>
          <a:custGeom>
            <a:avLst/>
            <a:gdLst/>
            <a:ahLst/>
            <a:cxnLst/>
            <a:rect r="r" b="b" t="t" l="l"/>
            <a:pathLst>
              <a:path h="5687358" w="5687358">
                <a:moveTo>
                  <a:pt x="0" y="0"/>
                </a:moveTo>
                <a:lnTo>
                  <a:pt x="5687358" y="0"/>
                </a:lnTo>
                <a:lnTo>
                  <a:pt x="5687358" y="5687358"/>
                </a:lnTo>
                <a:lnTo>
                  <a:pt x="0" y="5687358"/>
                </a:lnTo>
                <a:lnTo>
                  <a:pt x="0" y="0"/>
                </a:lnTo>
                <a:close/>
              </a:path>
            </a:pathLst>
          </a:custGeom>
          <a:blipFill>
            <a:blip r:embed="rId5"/>
            <a:stretch>
              <a:fillRect l="0" t="0" r="0" b="0"/>
            </a:stretch>
          </a:blipFill>
        </p:spPr>
      </p:sp>
      <p:sp>
        <p:nvSpPr>
          <p:cNvPr name="TextBox 8" id="8"/>
          <p:cNvSpPr txBox="true"/>
          <p:nvPr/>
        </p:nvSpPr>
        <p:spPr>
          <a:xfrm rot="0">
            <a:off x="1436575" y="739190"/>
            <a:ext cx="3402138" cy="435168"/>
          </a:xfrm>
          <a:prstGeom prst="rect">
            <a:avLst/>
          </a:prstGeom>
        </p:spPr>
        <p:txBody>
          <a:bodyPr anchor="t" rtlCol="false" tIns="0" lIns="0" bIns="0" rIns="0">
            <a:spAutoFit/>
          </a:bodyPr>
          <a:lstStyle/>
          <a:p>
            <a:pPr algn="l" marL="0" indent="0" lvl="0">
              <a:lnSpc>
                <a:spcPts val="1739"/>
              </a:lnSpc>
            </a:pPr>
            <a:r>
              <a:rPr lang="en-US" b="true" sz="1242">
                <a:solidFill>
                  <a:srgbClr val="FFFFFF"/>
                </a:solidFill>
                <a:latin typeface="Poppins Ultra-Bold"/>
                <a:ea typeface="Poppins Ultra-Bold"/>
                <a:cs typeface="Poppins Ultra-Bold"/>
                <a:sym typeface="Poppins Ultra-Bold"/>
              </a:rPr>
              <a:t>Bengaluru Transport Mobility &amp; Equality Analysis</a:t>
            </a:r>
          </a:p>
        </p:txBody>
      </p:sp>
      <p:sp>
        <p:nvSpPr>
          <p:cNvPr name="TextBox 9" id="9"/>
          <p:cNvSpPr txBox="true"/>
          <p:nvPr/>
        </p:nvSpPr>
        <p:spPr>
          <a:xfrm rot="0">
            <a:off x="1794079" y="2580836"/>
            <a:ext cx="8487068" cy="608519"/>
          </a:xfrm>
          <a:prstGeom prst="rect">
            <a:avLst/>
          </a:prstGeom>
        </p:spPr>
        <p:txBody>
          <a:bodyPr anchor="t" rtlCol="false" tIns="0" lIns="0" bIns="0" rIns="0">
            <a:spAutoFit/>
          </a:bodyPr>
          <a:lstStyle/>
          <a:p>
            <a:pPr algn="l" marL="0" indent="0" lvl="0">
              <a:lnSpc>
                <a:spcPts val="4332"/>
              </a:lnSpc>
            </a:pPr>
            <a:r>
              <a:rPr lang="en-US" b="true" sz="4165">
                <a:solidFill>
                  <a:srgbClr val="FFFFFF"/>
                </a:solidFill>
                <a:latin typeface="Poppins Bold"/>
                <a:ea typeface="Poppins Bold"/>
                <a:cs typeface="Poppins Bold"/>
                <a:sym typeface="Poppins Bold"/>
              </a:rPr>
              <a:t>Problem Statement</a:t>
            </a:r>
          </a:p>
        </p:txBody>
      </p:sp>
      <p:sp>
        <p:nvSpPr>
          <p:cNvPr name="TextBox 10" id="10"/>
          <p:cNvSpPr txBox="true"/>
          <p:nvPr/>
        </p:nvSpPr>
        <p:spPr>
          <a:xfrm rot="0">
            <a:off x="1905140" y="3638256"/>
            <a:ext cx="7349921" cy="1897380"/>
          </a:xfrm>
          <a:prstGeom prst="rect">
            <a:avLst/>
          </a:prstGeom>
        </p:spPr>
        <p:txBody>
          <a:bodyPr anchor="t" rtlCol="false" tIns="0" lIns="0" bIns="0" rIns="0">
            <a:spAutoFit/>
          </a:bodyPr>
          <a:lstStyle/>
          <a:p>
            <a:pPr algn="just" marL="0" indent="0" lvl="0">
              <a:lnSpc>
                <a:spcPts val="2519"/>
              </a:lnSpc>
              <a:spcBef>
                <a:spcPct val="0"/>
              </a:spcBef>
            </a:pPr>
            <a:r>
              <a:rPr lang="en-US" sz="1799">
                <a:solidFill>
                  <a:srgbClr val="FFFFFF"/>
                </a:solidFill>
                <a:latin typeface="Poppins"/>
                <a:ea typeface="Poppins"/>
                <a:cs typeface="Poppins"/>
                <a:sym typeface="Poppins"/>
              </a:rPr>
              <a:t>Bengaluru's rapid urban growth has created deep disparities in transportation access. Low-income neighborhoods, outer peripheries, and underserved communities face inadequate public transit, long commute times, and limited last-mile connectivity — widening the mobility gap across demographic groups.</a:t>
            </a:r>
          </a:p>
        </p:txBody>
      </p:sp>
      <p:sp>
        <p:nvSpPr>
          <p:cNvPr name="AutoShape 11" id="11"/>
          <p:cNvSpPr/>
          <p:nvPr/>
        </p:nvSpPr>
        <p:spPr>
          <a:xfrm>
            <a:off x="8598915" y="1042987"/>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8455914" y="899987"/>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true" rot="0">
            <a:off x="-3226599" y="8963464"/>
            <a:ext cx="12370599" cy="1799360"/>
          </a:xfrm>
          <a:custGeom>
            <a:avLst/>
            <a:gdLst/>
            <a:ahLst/>
            <a:cxnLst/>
            <a:rect r="r" b="b" t="t" l="l"/>
            <a:pathLst>
              <a:path h="1799360" w="12370599">
                <a:moveTo>
                  <a:pt x="0" y="1799360"/>
                </a:moveTo>
                <a:lnTo>
                  <a:pt x="12370599" y="1799360"/>
                </a:lnTo>
                <a:lnTo>
                  <a:pt x="12370599" y="0"/>
                </a:lnTo>
                <a:lnTo>
                  <a:pt x="0" y="0"/>
                </a:lnTo>
                <a:lnTo>
                  <a:pt x="0" y="179936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11868" y="2140969"/>
            <a:ext cx="6436889" cy="6380566"/>
          </a:xfrm>
          <a:custGeom>
            <a:avLst/>
            <a:gdLst/>
            <a:ahLst/>
            <a:cxnLst/>
            <a:rect r="r" b="b" t="t" l="l"/>
            <a:pathLst>
              <a:path h="6380566" w="6436889">
                <a:moveTo>
                  <a:pt x="0" y="0"/>
                </a:moveTo>
                <a:lnTo>
                  <a:pt x="6436889" y="0"/>
                </a:lnTo>
                <a:lnTo>
                  <a:pt x="6436889" y="6380566"/>
                </a:lnTo>
                <a:lnTo>
                  <a:pt x="0" y="6380566"/>
                </a:lnTo>
                <a:lnTo>
                  <a:pt x="0" y="0"/>
                </a:lnTo>
                <a:close/>
              </a:path>
            </a:pathLst>
          </a:custGeom>
          <a:blipFill>
            <a:blip r:embed="rId5"/>
            <a:stretch>
              <a:fillRect l="0" t="0" r="0" b="0"/>
            </a:stretch>
          </a:blipFill>
        </p:spPr>
      </p:sp>
      <p:sp>
        <p:nvSpPr>
          <p:cNvPr name="TextBox 8" id="8"/>
          <p:cNvSpPr txBox="true"/>
          <p:nvPr/>
        </p:nvSpPr>
        <p:spPr>
          <a:xfrm rot="0">
            <a:off x="1436575" y="720140"/>
            <a:ext cx="3402138" cy="308663"/>
          </a:xfrm>
          <a:prstGeom prst="rect">
            <a:avLst/>
          </a:prstGeom>
        </p:spPr>
        <p:txBody>
          <a:bodyPr anchor="t" rtlCol="false" tIns="0" lIns="0" bIns="0" rIns="0">
            <a:spAutoFit/>
          </a:bodyPr>
          <a:lstStyle/>
          <a:p>
            <a:pPr algn="l" marL="0" indent="0" lvl="0">
              <a:lnSpc>
                <a:spcPts val="2412"/>
              </a:lnSpc>
            </a:pPr>
            <a:r>
              <a:rPr lang="en-US" b="true" sz="1722">
                <a:solidFill>
                  <a:srgbClr val="FFFFFF"/>
                </a:solidFill>
                <a:latin typeface="Poppins Ultra-Bold"/>
                <a:ea typeface="Poppins Ultra-Bold"/>
                <a:cs typeface="Poppins Ultra-Bold"/>
                <a:sym typeface="Poppins Ultra-Bold"/>
              </a:rPr>
              <a:t>Bengaluru Transport Analysis</a:t>
            </a:r>
          </a:p>
        </p:txBody>
      </p:sp>
      <p:sp>
        <p:nvSpPr>
          <p:cNvPr name="TextBox 9" id="9"/>
          <p:cNvSpPr txBox="true"/>
          <p:nvPr/>
        </p:nvSpPr>
        <p:spPr>
          <a:xfrm rot="0">
            <a:off x="8550902" y="2550148"/>
            <a:ext cx="8708398" cy="980198"/>
          </a:xfrm>
          <a:prstGeom prst="rect">
            <a:avLst/>
          </a:prstGeom>
        </p:spPr>
        <p:txBody>
          <a:bodyPr anchor="t" rtlCol="false" tIns="0" lIns="0" bIns="0" rIns="0">
            <a:spAutoFit/>
          </a:bodyPr>
          <a:lstStyle/>
          <a:p>
            <a:pPr algn="l" marL="0" indent="0" lvl="0">
              <a:lnSpc>
                <a:spcPts val="6970"/>
              </a:lnSpc>
            </a:pPr>
            <a:r>
              <a:rPr lang="en-US" b="true" sz="6702">
                <a:solidFill>
                  <a:srgbClr val="FFFFFF"/>
                </a:solidFill>
                <a:latin typeface="Poppins Bold"/>
                <a:ea typeface="Poppins Bold"/>
                <a:cs typeface="Poppins Bold"/>
                <a:sym typeface="Poppins Bold"/>
              </a:rPr>
              <a:t>Research</a:t>
            </a:r>
          </a:p>
        </p:txBody>
      </p:sp>
      <p:sp>
        <p:nvSpPr>
          <p:cNvPr name="TextBox 10" id="10"/>
          <p:cNvSpPr txBox="true"/>
          <p:nvPr/>
        </p:nvSpPr>
        <p:spPr>
          <a:xfrm rot="0">
            <a:off x="8579477" y="5645979"/>
            <a:ext cx="7278421" cy="1527428"/>
          </a:xfrm>
          <a:prstGeom prst="rect">
            <a:avLst/>
          </a:prstGeom>
        </p:spPr>
        <p:txBody>
          <a:bodyPr anchor="t" rtlCol="false" tIns="0" lIns="0" bIns="0" rIns="0">
            <a:spAutoFit/>
          </a:bodyPr>
          <a:lstStyle/>
          <a:p>
            <a:pPr algn="just" marL="375677" indent="-187839" lvl="1">
              <a:lnSpc>
                <a:spcPts val="2436"/>
              </a:lnSpc>
              <a:spcBef>
                <a:spcPct val="0"/>
              </a:spcBef>
              <a:buAutoNum type="arabicPeriod" startAt="1"/>
            </a:pPr>
            <a:r>
              <a:rPr lang="en-US" sz="1740">
                <a:solidFill>
                  <a:srgbClr val="FFFFFF"/>
                </a:solidFill>
                <a:latin typeface="Poppins"/>
                <a:ea typeface="Poppins"/>
                <a:cs typeface="Poppins"/>
                <a:sym typeface="Poppins"/>
              </a:rPr>
              <a:t>Analyze mobility patterns across Bengaluru's transport corridors.</a:t>
            </a:r>
          </a:p>
          <a:p>
            <a:pPr algn="just" marL="375677" indent="-187839" lvl="1">
              <a:lnSpc>
                <a:spcPts val="2436"/>
              </a:lnSpc>
              <a:spcBef>
                <a:spcPct val="0"/>
              </a:spcBef>
              <a:buAutoNum type="arabicPeriod" startAt="1"/>
            </a:pPr>
            <a:r>
              <a:rPr lang="en-US" sz="1740">
                <a:solidFill>
                  <a:srgbClr val="FFFFFF"/>
                </a:solidFill>
                <a:latin typeface="Poppins"/>
                <a:ea typeface="Poppins"/>
                <a:cs typeface="Poppins"/>
                <a:sym typeface="Poppins"/>
              </a:rPr>
              <a:t>Assess accessibility metrics for underserved communities.</a:t>
            </a:r>
          </a:p>
          <a:p>
            <a:pPr algn="just" marL="375677" indent="-187839" lvl="1">
              <a:lnSpc>
                <a:spcPts val="2436"/>
              </a:lnSpc>
              <a:spcBef>
                <a:spcPct val="0"/>
              </a:spcBef>
              <a:buAutoNum type="arabicPeriod" startAt="1"/>
            </a:pPr>
            <a:r>
              <a:rPr lang="en-US" sz="1740">
                <a:solidFill>
                  <a:srgbClr val="FFFFFF"/>
                </a:solidFill>
                <a:latin typeface="Poppins"/>
                <a:ea typeface="Poppins"/>
                <a:cs typeface="Poppins"/>
                <a:sym typeface="Poppins"/>
              </a:rPr>
              <a:t>Evaluate transport demand distribution by area and group.</a:t>
            </a:r>
          </a:p>
          <a:p>
            <a:pPr algn="just" marL="375677" indent="-187839" lvl="1">
              <a:lnSpc>
                <a:spcPts val="2436"/>
              </a:lnSpc>
              <a:spcBef>
                <a:spcPct val="0"/>
              </a:spcBef>
              <a:buAutoNum type="arabicPeriod" startAt="1"/>
            </a:pPr>
            <a:r>
              <a:rPr lang="en-US" sz="1740">
                <a:solidFill>
                  <a:srgbClr val="FFFFFF"/>
                </a:solidFill>
                <a:latin typeface="Poppins"/>
                <a:ea typeface="Poppins"/>
                <a:cs typeface="Poppins"/>
                <a:sym typeface="Poppins"/>
              </a:rPr>
              <a:t>Identify equality gaps in public transit coverage.</a:t>
            </a:r>
          </a:p>
        </p:txBody>
      </p:sp>
      <p:sp>
        <p:nvSpPr>
          <p:cNvPr name="TextBox 11" id="11"/>
          <p:cNvSpPr txBox="true"/>
          <p:nvPr/>
        </p:nvSpPr>
        <p:spPr>
          <a:xfrm rot="0">
            <a:off x="8550902" y="3384155"/>
            <a:ext cx="9157276" cy="1913109"/>
          </a:xfrm>
          <a:prstGeom prst="rect">
            <a:avLst/>
          </a:prstGeom>
        </p:spPr>
        <p:txBody>
          <a:bodyPr anchor="t" rtlCol="false" tIns="0" lIns="0" bIns="0" rIns="0">
            <a:spAutoFit/>
          </a:bodyPr>
          <a:lstStyle/>
          <a:p>
            <a:pPr algn="l" marL="0" indent="0" lvl="0">
              <a:lnSpc>
                <a:spcPts val="13577"/>
              </a:lnSpc>
            </a:pPr>
            <a:r>
              <a:rPr lang="en-US" b="true" sz="13055">
                <a:solidFill>
                  <a:srgbClr val="FFFFFF"/>
                </a:solidFill>
                <a:latin typeface="Poppins Bold"/>
                <a:ea typeface="Poppins Bold"/>
                <a:cs typeface="Poppins Bold"/>
                <a:sym typeface="Poppins Bold"/>
              </a:rPr>
              <a:t>Objectives</a:t>
            </a:r>
          </a:p>
        </p:txBody>
      </p:sp>
      <p:sp>
        <p:nvSpPr>
          <p:cNvPr name="Freeform 12" id="12"/>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3" id="13"/>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14" id="14"/>
          <p:cNvGrpSpPr/>
          <p:nvPr/>
        </p:nvGrpSpPr>
        <p:grpSpPr>
          <a:xfrm rot="0">
            <a:off x="14251134" y="9096249"/>
            <a:ext cx="286001" cy="28600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759389" y="1824925"/>
            <a:ext cx="7080685" cy="6552698"/>
          </a:xfrm>
          <a:custGeom>
            <a:avLst/>
            <a:gdLst/>
            <a:ahLst/>
            <a:cxnLst/>
            <a:rect r="r" b="b" t="t" l="l"/>
            <a:pathLst>
              <a:path h="6552698" w="7080685">
                <a:moveTo>
                  <a:pt x="0" y="0"/>
                </a:moveTo>
                <a:lnTo>
                  <a:pt x="7080685" y="0"/>
                </a:lnTo>
                <a:lnTo>
                  <a:pt x="7080685" y="6552698"/>
                </a:lnTo>
                <a:lnTo>
                  <a:pt x="0" y="6552698"/>
                </a:lnTo>
                <a:lnTo>
                  <a:pt x="0" y="0"/>
                </a:lnTo>
                <a:close/>
              </a:path>
            </a:pathLst>
          </a:custGeom>
          <a:blipFill>
            <a:blip r:embed="rId5"/>
            <a:stretch>
              <a:fillRect l="0" t="0" r="0" b="0"/>
            </a:stretch>
          </a:blipFill>
        </p:spPr>
      </p:sp>
      <p:sp>
        <p:nvSpPr>
          <p:cNvPr name="TextBox 8" id="8"/>
          <p:cNvSpPr txBox="true"/>
          <p:nvPr/>
        </p:nvSpPr>
        <p:spPr>
          <a:xfrm rot="0">
            <a:off x="1436575" y="739190"/>
            <a:ext cx="3402138" cy="435168"/>
          </a:xfrm>
          <a:prstGeom prst="rect">
            <a:avLst/>
          </a:prstGeom>
        </p:spPr>
        <p:txBody>
          <a:bodyPr anchor="t" rtlCol="false" tIns="0" lIns="0" bIns="0" rIns="0">
            <a:spAutoFit/>
          </a:bodyPr>
          <a:lstStyle/>
          <a:p>
            <a:pPr algn="l" marL="0" indent="0" lvl="0">
              <a:lnSpc>
                <a:spcPts val="1739"/>
              </a:lnSpc>
            </a:pPr>
            <a:r>
              <a:rPr lang="en-US" b="true" sz="1242">
                <a:solidFill>
                  <a:srgbClr val="FFFFFF"/>
                </a:solidFill>
                <a:latin typeface="Poppins Ultra-Bold"/>
                <a:ea typeface="Poppins Ultra-Bold"/>
                <a:cs typeface="Poppins Ultra-Bold"/>
                <a:sym typeface="Poppins Ultra-Bold"/>
              </a:rPr>
              <a:t>Bengaluru Transport Mobility &amp; Equality Analysis</a:t>
            </a:r>
          </a:p>
        </p:txBody>
      </p:sp>
      <p:sp>
        <p:nvSpPr>
          <p:cNvPr name="TextBox 9" id="9"/>
          <p:cNvSpPr txBox="true"/>
          <p:nvPr/>
        </p:nvSpPr>
        <p:spPr>
          <a:xfrm rot="0">
            <a:off x="1745053" y="4452549"/>
            <a:ext cx="6834585" cy="2734946"/>
          </a:xfrm>
          <a:prstGeom prst="rect">
            <a:avLst/>
          </a:prstGeom>
        </p:spPr>
        <p:txBody>
          <a:bodyPr anchor="t" rtlCol="false" tIns="0" lIns="0" bIns="0" rIns="0">
            <a:spAutoFit/>
          </a:bodyPr>
          <a:lstStyle/>
          <a:p>
            <a:pPr algn="just" marL="0" indent="0" lvl="0">
              <a:lnSpc>
                <a:spcPts val="3079"/>
              </a:lnSpc>
              <a:spcBef>
                <a:spcPct val="0"/>
              </a:spcBef>
            </a:pPr>
            <a:r>
              <a:rPr lang="en-US" sz="2199">
                <a:solidFill>
                  <a:srgbClr val="FFFFFF"/>
                </a:solidFill>
                <a:latin typeface="Poppins"/>
                <a:ea typeface="Poppins"/>
                <a:cs typeface="Poppins"/>
                <a:sym typeface="Poppins"/>
              </a:rPr>
              <a:t>Key datasets include BMTC transport infrastructure records, BBMP demographic census data, mobility survey responses, and geospatial mapping layers. Data spans route coverage, ridership frequency, population density, and accessibility indices across Bengaluru zones.</a:t>
            </a:r>
          </a:p>
        </p:txBody>
      </p:sp>
      <p:sp>
        <p:nvSpPr>
          <p:cNvPr name="TextBox 10" id="10"/>
          <p:cNvSpPr txBox="true"/>
          <p:nvPr/>
        </p:nvSpPr>
        <p:spPr>
          <a:xfrm rot="0">
            <a:off x="1588975" y="2759517"/>
            <a:ext cx="7146742" cy="1304050"/>
          </a:xfrm>
          <a:prstGeom prst="rect">
            <a:avLst/>
          </a:prstGeom>
        </p:spPr>
        <p:txBody>
          <a:bodyPr anchor="t" rtlCol="false" tIns="0" lIns="0" bIns="0" rIns="0">
            <a:spAutoFit/>
          </a:bodyPr>
          <a:lstStyle/>
          <a:p>
            <a:pPr algn="just" marL="0" indent="0" lvl="0">
              <a:lnSpc>
                <a:spcPts val="3367"/>
              </a:lnSpc>
            </a:pPr>
            <a:r>
              <a:rPr lang="en-US" b="true" sz="3238">
                <a:solidFill>
                  <a:srgbClr val="FFFFFF"/>
                </a:solidFill>
                <a:latin typeface="Poppins Bold"/>
                <a:ea typeface="Poppins Bold"/>
                <a:cs typeface="Poppins Bold"/>
                <a:sym typeface="Poppins Bold"/>
              </a:rPr>
              <a:t>Dataset</a:t>
            </a:r>
          </a:p>
          <a:p>
            <a:pPr algn="just" marL="0" indent="0" lvl="0">
              <a:lnSpc>
                <a:spcPts val="3367"/>
              </a:lnSpc>
            </a:pPr>
            <a:r>
              <a:rPr lang="en-US" b="true" sz="3238">
                <a:solidFill>
                  <a:srgbClr val="FFFFFF"/>
                </a:solidFill>
                <a:latin typeface="Poppins Bold"/>
                <a:ea typeface="Poppins Bold"/>
                <a:cs typeface="Poppins Bold"/>
                <a:sym typeface="Poppins Bold"/>
              </a:rPr>
              <a:t>Sources &amp;</a:t>
            </a:r>
          </a:p>
          <a:p>
            <a:pPr algn="just" marL="0" indent="0" lvl="0">
              <a:lnSpc>
                <a:spcPts val="3367"/>
              </a:lnSpc>
            </a:pPr>
            <a:r>
              <a:rPr lang="en-US" b="true" sz="3238">
                <a:solidFill>
                  <a:srgbClr val="FFFFFF"/>
                </a:solidFill>
                <a:latin typeface="Poppins Bold"/>
                <a:ea typeface="Poppins Bold"/>
                <a:cs typeface="Poppins Bold"/>
                <a:sym typeface="Poppins Bold"/>
              </a:rPr>
              <a:t>Structure</a:t>
            </a:r>
          </a:p>
        </p:txBody>
      </p:sp>
      <p:sp>
        <p:nvSpPr>
          <p:cNvPr name="AutoShape 11" id="11"/>
          <p:cNvSpPr/>
          <p:nvPr/>
        </p:nvSpPr>
        <p:spPr>
          <a:xfrm>
            <a:off x="-5590449" y="9258300"/>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9984383" y="9115299"/>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525"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1375693" y="1864951"/>
            <a:ext cx="5389372" cy="6508903"/>
            <a:chOff x="0" y="0"/>
            <a:chExt cx="834955" cy="1008399"/>
          </a:xfrm>
        </p:grpSpPr>
        <p:sp>
          <p:nvSpPr>
            <p:cNvPr name="Freeform 8" id="8"/>
            <p:cNvSpPr/>
            <p:nvPr/>
          </p:nvSpPr>
          <p:spPr>
            <a:xfrm flipH="false" flipV="false" rot="0">
              <a:off x="0" y="0"/>
              <a:ext cx="834955" cy="1008399"/>
            </a:xfrm>
            <a:custGeom>
              <a:avLst/>
              <a:gdLst/>
              <a:ahLst/>
              <a:cxnLst/>
              <a:rect r="r" b="b" t="t" l="l"/>
              <a:pathLst>
                <a:path h="1008399" w="834955">
                  <a:moveTo>
                    <a:pt x="114921" y="0"/>
                  </a:moveTo>
                  <a:lnTo>
                    <a:pt x="720033" y="0"/>
                  </a:lnTo>
                  <a:cubicBezTo>
                    <a:pt x="750512" y="0"/>
                    <a:pt x="779743" y="12108"/>
                    <a:pt x="801295" y="33660"/>
                  </a:cubicBezTo>
                  <a:cubicBezTo>
                    <a:pt x="822847" y="55212"/>
                    <a:pt x="834955" y="84442"/>
                    <a:pt x="834955" y="114921"/>
                  </a:cubicBezTo>
                  <a:lnTo>
                    <a:pt x="834955" y="893478"/>
                  </a:lnTo>
                  <a:cubicBezTo>
                    <a:pt x="834955" y="956947"/>
                    <a:pt x="783503" y="1008399"/>
                    <a:pt x="720033" y="1008399"/>
                  </a:cubicBezTo>
                  <a:lnTo>
                    <a:pt x="114921" y="1008399"/>
                  </a:lnTo>
                  <a:cubicBezTo>
                    <a:pt x="84442" y="1008399"/>
                    <a:pt x="55212" y="996292"/>
                    <a:pt x="33660" y="974740"/>
                  </a:cubicBezTo>
                  <a:cubicBezTo>
                    <a:pt x="12108" y="953188"/>
                    <a:pt x="0" y="923957"/>
                    <a:pt x="0" y="893478"/>
                  </a:cubicBezTo>
                  <a:lnTo>
                    <a:pt x="0" y="114921"/>
                  </a:lnTo>
                  <a:cubicBezTo>
                    <a:pt x="0" y="84442"/>
                    <a:pt x="12108" y="55212"/>
                    <a:pt x="33660" y="33660"/>
                  </a:cubicBezTo>
                  <a:cubicBezTo>
                    <a:pt x="55212" y="12108"/>
                    <a:pt x="84442" y="0"/>
                    <a:pt x="114921" y="0"/>
                  </a:cubicBezTo>
                  <a:close/>
                </a:path>
              </a:pathLst>
            </a:custGeom>
            <a:blipFill>
              <a:blip r:embed="rId5"/>
              <a:stretch>
                <a:fillRect l="-120" t="0" r="-120" b="0"/>
              </a:stretch>
            </a:blipFill>
            <a:ln w="323850" cap="rnd">
              <a:gradFill>
                <a:gsLst>
                  <a:gs pos="0">
                    <a:srgbClr val="00D1FF">
                      <a:alpha val="100000"/>
                    </a:srgbClr>
                  </a:gs>
                  <a:gs pos="100000">
                    <a:srgbClr val="001496">
                      <a:alpha val="100000"/>
                    </a:srgbClr>
                  </a:gs>
                </a:gsLst>
                <a:path path="circle">
                  <a:fillToRect l="0" r="100000" t="0" b="100000"/>
                </a:path>
                <a:tileRect r="0" l="-100000" b="0" t="-100000"/>
              </a:gradFill>
              <a:prstDash val="solid"/>
              <a:round/>
            </a:ln>
          </p:spPr>
        </p:sp>
      </p:grpSp>
      <p:sp>
        <p:nvSpPr>
          <p:cNvPr name="Freeform 9" id="9"/>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l="0" t="0" r="0" b="0"/>
            </a:stretch>
          </a:blipFill>
        </p:spPr>
      </p:sp>
      <p:sp>
        <p:nvSpPr>
          <p:cNvPr name="AutoShape 10" id="10"/>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11" id="11"/>
          <p:cNvGrpSpPr/>
          <p:nvPr/>
        </p:nvGrpSpPr>
        <p:grpSpPr>
          <a:xfrm rot="0">
            <a:off x="14251134" y="9096249"/>
            <a:ext cx="286001" cy="28600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4" id="14"/>
          <p:cNvSpPr txBox="true"/>
          <p:nvPr/>
        </p:nvSpPr>
        <p:spPr>
          <a:xfrm rot="0">
            <a:off x="1436575" y="739190"/>
            <a:ext cx="3402138" cy="435168"/>
          </a:xfrm>
          <a:prstGeom prst="rect">
            <a:avLst/>
          </a:prstGeom>
        </p:spPr>
        <p:txBody>
          <a:bodyPr anchor="t" rtlCol="false" tIns="0" lIns="0" bIns="0" rIns="0">
            <a:spAutoFit/>
          </a:bodyPr>
          <a:lstStyle/>
          <a:p>
            <a:pPr algn="l" marL="0" indent="0" lvl="0">
              <a:lnSpc>
                <a:spcPts val="1739"/>
              </a:lnSpc>
            </a:pPr>
            <a:r>
              <a:rPr lang="en-US" b="true" sz="1242">
                <a:solidFill>
                  <a:srgbClr val="FFFFFF"/>
                </a:solidFill>
                <a:latin typeface="Poppins Ultra-Bold"/>
                <a:ea typeface="Poppins Ultra-Bold"/>
                <a:cs typeface="Poppins Ultra-Bold"/>
                <a:sym typeface="Poppins Ultra-Bold"/>
              </a:rPr>
              <a:t>Bengaluru Transport Mobility &amp; Equality Analysis</a:t>
            </a:r>
          </a:p>
        </p:txBody>
      </p:sp>
      <p:sp>
        <p:nvSpPr>
          <p:cNvPr name="TextBox 15" id="15"/>
          <p:cNvSpPr txBox="true"/>
          <p:nvPr/>
        </p:nvSpPr>
        <p:spPr>
          <a:xfrm rot="0">
            <a:off x="1651077" y="2174633"/>
            <a:ext cx="8487068" cy="652715"/>
          </a:xfrm>
          <a:prstGeom prst="rect">
            <a:avLst/>
          </a:prstGeom>
        </p:spPr>
        <p:txBody>
          <a:bodyPr anchor="t" rtlCol="false" tIns="0" lIns="0" bIns="0" rIns="0">
            <a:spAutoFit/>
          </a:bodyPr>
          <a:lstStyle/>
          <a:p>
            <a:pPr algn="l" marL="0" indent="0" lvl="0">
              <a:lnSpc>
                <a:spcPts val="4644"/>
              </a:lnSpc>
            </a:pPr>
            <a:r>
              <a:rPr lang="en-US" b="true" sz="4465">
                <a:solidFill>
                  <a:srgbClr val="FFFFFF"/>
                </a:solidFill>
                <a:latin typeface="Poppins Bold"/>
                <a:ea typeface="Poppins Bold"/>
                <a:cs typeface="Poppins Bold"/>
                <a:sym typeface="Poppins Bold"/>
              </a:rPr>
              <a:t>Data Preparation</a:t>
            </a:r>
          </a:p>
        </p:txBody>
      </p:sp>
      <p:sp>
        <p:nvSpPr>
          <p:cNvPr name="TextBox 16" id="16"/>
          <p:cNvSpPr txBox="true"/>
          <p:nvPr/>
        </p:nvSpPr>
        <p:spPr>
          <a:xfrm rot="0">
            <a:off x="1651077" y="3430984"/>
            <a:ext cx="8784009" cy="3201036"/>
          </a:xfrm>
          <a:prstGeom prst="rect">
            <a:avLst/>
          </a:prstGeom>
        </p:spPr>
        <p:txBody>
          <a:bodyPr anchor="t" rtlCol="false" tIns="0" lIns="0" bIns="0" rIns="0">
            <a:spAutoFit/>
          </a:bodyPr>
          <a:lstStyle/>
          <a:p>
            <a:pPr algn="just" marL="0" indent="0" lvl="0">
              <a:lnSpc>
                <a:spcPts val="3639"/>
              </a:lnSpc>
              <a:spcBef>
                <a:spcPct val="0"/>
              </a:spcBef>
            </a:pPr>
            <a:r>
              <a:rPr lang="en-US" sz="2599">
                <a:solidFill>
                  <a:srgbClr val="FFFFFF"/>
                </a:solidFill>
                <a:latin typeface="Poppins"/>
                <a:ea typeface="Poppins"/>
                <a:cs typeface="Poppins"/>
                <a:sym typeface="Poppins"/>
              </a:rPr>
              <a:t>Raw datasets underwent multi-stage processing: missing value imputation, outlier removal, and standardization of transport records. Transformation pipelines integrated transit, demographic, and mobility data into a unified schema. Validation checks ensured consistency, completeness, and accuracy across all merged data sources.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694512" y="2520315"/>
            <a:ext cx="5961378" cy="6318882"/>
            <a:chOff x="0" y="0"/>
            <a:chExt cx="923573" cy="978960"/>
          </a:xfrm>
        </p:grpSpPr>
        <p:sp>
          <p:nvSpPr>
            <p:cNvPr name="Freeform 8" id="8"/>
            <p:cNvSpPr/>
            <p:nvPr/>
          </p:nvSpPr>
          <p:spPr>
            <a:xfrm flipH="false" flipV="false" rot="0">
              <a:off x="0" y="0"/>
              <a:ext cx="923573" cy="978960"/>
            </a:xfrm>
            <a:custGeom>
              <a:avLst/>
              <a:gdLst/>
              <a:ahLst/>
              <a:cxnLst/>
              <a:rect r="r" b="b" t="t" l="l"/>
              <a:pathLst>
                <a:path h="978960" w="923573">
                  <a:moveTo>
                    <a:pt x="103894" y="0"/>
                  </a:moveTo>
                  <a:lnTo>
                    <a:pt x="819679" y="0"/>
                  </a:lnTo>
                  <a:cubicBezTo>
                    <a:pt x="847233" y="0"/>
                    <a:pt x="873659" y="10946"/>
                    <a:pt x="893143" y="30430"/>
                  </a:cubicBezTo>
                  <a:cubicBezTo>
                    <a:pt x="912627" y="49914"/>
                    <a:pt x="923573" y="76340"/>
                    <a:pt x="923573" y="103894"/>
                  </a:cubicBezTo>
                  <a:lnTo>
                    <a:pt x="923573" y="875066"/>
                  </a:lnTo>
                  <a:cubicBezTo>
                    <a:pt x="923573" y="902620"/>
                    <a:pt x="912627" y="929046"/>
                    <a:pt x="893143" y="948530"/>
                  </a:cubicBezTo>
                  <a:cubicBezTo>
                    <a:pt x="873659" y="968014"/>
                    <a:pt x="847233" y="978960"/>
                    <a:pt x="819679" y="978960"/>
                  </a:cubicBezTo>
                  <a:lnTo>
                    <a:pt x="103894" y="978960"/>
                  </a:lnTo>
                  <a:cubicBezTo>
                    <a:pt x="76340" y="978960"/>
                    <a:pt x="49914" y="968014"/>
                    <a:pt x="30430" y="948530"/>
                  </a:cubicBezTo>
                  <a:cubicBezTo>
                    <a:pt x="10946" y="929046"/>
                    <a:pt x="0" y="902620"/>
                    <a:pt x="0" y="875066"/>
                  </a:cubicBezTo>
                  <a:lnTo>
                    <a:pt x="0" y="103894"/>
                  </a:lnTo>
                  <a:cubicBezTo>
                    <a:pt x="0" y="76340"/>
                    <a:pt x="10946" y="49914"/>
                    <a:pt x="30430" y="30430"/>
                  </a:cubicBezTo>
                  <a:cubicBezTo>
                    <a:pt x="49914" y="10946"/>
                    <a:pt x="76340" y="0"/>
                    <a:pt x="103894" y="0"/>
                  </a:cubicBezTo>
                  <a:close/>
                </a:path>
              </a:pathLst>
            </a:custGeom>
            <a:blipFill>
              <a:blip r:embed="rId5"/>
              <a:stretch>
                <a:fillRect l="-547" t="0" r="-547" b="0"/>
              </a:stretch>
            </a:blipFill>
            <a:ln w="323850" cap="rnd">
              <a:gradFill>
                <a:gsLst>
                  <a:gs pos="0">
                    <a:srgbClr val="00D1FF">
                      <a:alpha val="100000"/>
                    </a:srgbClr>
                  </a:gs>
                  <a:gs pos="100000">
                    <a:srgbClr val="001496">
                      <a:alpha val="100000"/>
                    </a:srgbClr>
                  </a:gs>
                </a:gsLst>
                <a:path path="circle">
                  <a:fillToRect l="0" r="100000" t="0" b="100000"/>
                </a:path>
                <a:tileRect r="0" l="-100000" b="0" t="-100000"/>
              </a:gradFill>
              <a:prstDash val="solid"/>
              <a:round/>
            </a:ln>
          </p:spPr>
        </p:sp>
      </p:grpSp>
      <p:sp>
        <p:nvSpPr>
          <p:cNvPr name="Freeform 9" id="9"/>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4465286" y="7200900"/>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8">
              <a:alphaModFix amt="58000"/>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8921316" y="2784015"/>
            <a:ext cx="7879312" cy="2535163"/>
          </a:xfrm>
          <a:prstGeom prst="rect">
            <a:avLst/>
          </a:prstGeom>
        </p:spPr>
        <p:txBody>
          <a:bodyPr anchor="t" rtlCol="false" tIns="0" lIns="0" bIns="0" rIns="0">
            <a:spAutoFit/>
          </a:bodyPr>
          <a:lstStyle/>
          <a:p>
            <a:pPr algn="just" marL="0" indent="0" lvl="0">
              <a:lnSpc>
                <a:spcPts val="9407"/>
              </a:lnSpc>
            </a:pPr>
            <a:r>
              <a:rPr lang="en-US" b="true" sz="9046">
                <a:solidFill>
                  <a:srgbClr val="FFFFFF"/>
                </a:solidFill>
                <a:latin typeface="Poppins Bold"/>
                <a:ea typeface="Poppins Bold"/>
                <a:cs typeface="Poppins Bold"/>
                <a:sym typeface="Poppins Bold"/>
              </a:rPr>
              <a:t>Mobility Analysis</a:t>
            </a:r>
          </a:p>
        </p:txBody>
      </p:sp>
      <p:sp>
        <p:nvSpPr>
          <p:cNvPr name="TextBox 12" id="12"/>
          <p:cNvSpPr txBox="true"/>
          <p:nvPr/>
        </p:nvSpPr>
        <p:spPr>
          <a:xfrm rot="0">
            <a:off x="1436575" y="691565"/>
            <a:ext cx="3402138" cy="483919"/>
          </a:xfrm>
          <a:prstGeom prst="rect">
            <a:avLst/>
          </a:prstGeom>
        </p:spPr>
        <p:txBody>
          <a:bodyPr anchor="t" rtlCol="false" tIns="0" lIns="0" bIns="0" rIns="0">
            <a:spAutoFit/>
          </a:bodyPr>
          <a:lstStyle/>
          <a:p>
            <a:pPr algn="l" marL="0" indent="0" lvl="0">
              <a:lnSpc>
                <a:spcPts val="3777"/>
              </a:lnSpc>
            </a:pPr>
            <a:r>
              <a:rPr lang="en-US" b="true" sz="2698">
                <a:solidFill>
                  <a:srgbClr val="FFFFFF"/>
                </a:solidFill>
                <a:latin typeface="Poppins Ultra-Bold"/>
                <a:ea typeface="Poppins Ultra-Bold"/>
                <a:cs typeface="Poppins Ultra-Bold"/>
                <a:sym typeface="Poppins Ultra-Bold"/>
              </a:rPr>
              <a:t>Thynk Unlimited</a:t>
            </a:r>
          </a:p>
        </p:txBody>
      </p:sp>
      <p:sp>
        <p:nvSpPr>
          <p:cNvPr name="TextBox 13" id="13"/>
          <p:cNvSpPr txBox="true"/>
          <p:nvPr/>
        </p:nvSpPr>
        <p:spPr>
          <a:xfrm rot="0">
            <a:off x="8921316" y="5689425"/>
            <a:ext cx="6677185" cy="1620273"/>
          </a:xfrm>
          <a:prstGeom prst="rect">
            <a:avLst/>
          </a:prstGeom>
        </p:spPr>
        <p:txBody>
          <a:bodyPr anchor="t" rtlCol="false" tIns="0" lIns="0" bIns="0" rIns="0">
            <a:spAutoFit/>
          </a:bodyPr>
          <a:lstStyle/>
          <a:p>
            <a:pPr algn="just" marL="0" indent="0" lvl="0">
              <a:lnSpc>
                <a:spcPts val="2568"/>
              </a:lnSpc>
              <a:spcBef>
                <a:spcPct val="0"/>
              </a:spcBef>
            </a:pPr>
            <a:r>
              <a:rPr lang="en-US" sz="1834">
                <a:solidFill>
                  <a:srgbClr val="FFFFFF"/>
                </a:solidFill>
                <a:latin typeface="Poppins"/>
                <a:ea typeface="Poppins"/>
                <a:cs typeface="Poppins"/>
                <a:sym typeface="Poppins"/>
              </a:rPr>
              <a:t>Comparative analysis of transport usage across different areas, income groups, and demographic segments in Bengaluru. Patterns reveal significant variation in modal share, frequency of use, and commute distances between urban, peri-urban, and rural zones.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595607" y="6101356"/>
            <a:ext cx="19479214" cy="4829737"/>
            <a:chOff x="0" y="0"/>
            <a:chExt cx="3017840" cy="748253"/>
          </a:xfrm>
        </p:grpSpPr>
        <p:sp>
          <p:nvSpPr>
            <p:cNvPr name="Freeform 8" id="8"/>
            <p:cNvSpPr/>
            <p:nvPr/>
          </p:nvSpPr>
          <p:spPr>
            <a:xfrm flipH="false" flipV="false" rot="0">
              <a:off x="0" y="0"/>
              <a:ext cx="3017840" cy="748253"/>
            </a:xfrm>
            <a:custGeom>
              <a:avLst/>
              <a:gdLst/>
              <a:ahLst/>
              <a:cxnLst/>
              <a:rect r="r" b="b" t="t" l="l"/>
              <a:pathLst>
                <a:path h="748253" w="3017840">
                  <a:moveTo>
                    <a:pt x="31796" y="0"/>
                  </a:moveTo>
                  <a:lnTo>
                    <a:pt x="2986044" y="0"/>
                  </a:lnTo>
                  <a:cubicBezTo>
                    <a:pt x="2994477" y="0"/>
                    <a:pt x="3002564" y="3350"/>
                    <a:pt x="3008527" y="9313"/>
                  </a:cubicBezTo>
                  <a:cubicBezTo>
                    <a:pt x="3014490" y="15276"/>
                    <a:pt x="3017840" y="23363"/>
                    <a:pt x="3017840" y="31796"/>
                  </a:cubicBezTo>
                  <a:lnTo>
                    <a:pt x="3017840" y="716457"/>
                  </a:lnTo>
                  <a:cubicBezTo>
                    <a:pt x="3017840" y="724890"/>
                    <a:pt x="3014490" y="732977"/>
                    <a:pt x="3008527" y="738940"/>
                  </a:cubicBezTo>
                  <a:cubicBezTo>
                    <a:pt x="3002564" y="744903"/>
                    <a:pt x="2994477" y="748253"/>
                    <a:pt x="2986044" y="748253"/>
                  </a:cubicBezTo>
                  <a:lnTo>
                    <a:pt x="31796" y="748253"/>
                  </a:lnTo>
                  <a:cubicBezTo>
                    <a:pt x="23363" y="748253"/>
                    <a:pt x="15276" y="744903"/>
                    <a:pt x="9313" y="738940"/>
                  </a:cubicBezTo>
                  <a:cubicBezTo>
                    <a:pt x="3350" y="732977"/>
                    <a:pt x="0" y="724890"/>
                    <a:pt x="0" y="716457"/>
                  </a:cubicBezTo>
                  <a:lnTo>
                    <a:pt x="0" y="31796"/>
                  </a:lnTo>
                  <a:cubicBezTo>
                    <a:pt x="0" y="23363"/>
                    <a:pt x="3350" y="15276"/>
                    <a:pt x="9313" y="9313"/>
                  </a:cubicBezTo>
                  <a:cubicBezTo>
                    <a:pt x="15276" y="3350"/>
                    <a:pt x="23363" y="0"/>
                    <a:pt x="31796" y="0"/>
                  </a:cubicBezTo>
                  <a:close/>
                </a:path>
              </a:pathLst>
            </a:custGeom>
            <a:blipFill>
              <a:blip r:embed="rId5"/>
              <a:stretch>
                <a:fillRect l="-89" t="0" r="-89" b="0"/>
              </a:stretch>
            </a:blipFill>
            <a:ln w="323850" cap="rnd">
              <a:gradFill>
                <a:gsLst>
                  <a:gs pos="0">
                    <a:srgbClr val="00D1FF">
                      <a:alpha val="100000"/>
                    </a:srgbClr>
                  </a:gs>
                  <a:gs pos="100000">
                    <a:srgbClr val="001496">
                      <a:alpha val="100000"/>
                    </a:srgbClr>
                  </a:gs>
                </a:gsLst>
                <a:path path="circle">
                  <a:fillToRect l="0" r="100000" t="0" b="100000"/>
                </a:path>
                <a:tileRect r="0" l="-100000" b="0" t="-100000"/>
              </a:gradFill>
              <a:prstDash val="solid"/>
              <a:round/>
            </a:ln>
          </p:spPr>
        </p:sp>
      </p:grpSp>
      <p:sp>
        <p:nvSpPr>
          <p:cNvPr name="TextBox 9" id="9"/>
          <p:cNvSpPr txBox="true"/>
          <p:nvPr/>
        </p:nvSpPr>
        <p:spPr>
          <a:xfrm rot="0">
            <a:off x="1436575" y="691565"/>
            <a:ext cx="3402138" cy="483919"/>
          </a:xfrm>
          <a:prstGeom prst="rect">
            <a:avLst/>
          </a:prstGeom>
        </p:spPr>
        <p:txBody>
          <a:bodyPr anchor="t" rtlCol="false" tIns="0" lIns="0" bIns="0" rIns="0">
            <a:spAutoFit/>
          </a:bodyPr>
          <a:lstStyle/>
          <a:p>
            <a:pPr algn="l" marL="0" indent="0" lvl="0">
              <a:lnSpc>
                <a:spcPts val="3777"/>
              </a:lnSpc>
            </a:pPr>
            <a:r>
              <a:rPr lang="en-US" b="true" sz="2698">
                <a:solidFill>
                  <a:srgbClr val="FFFFFF"/>
                </a:solidFill>
                <a:latin typeface="Poppins Ultra-Bold"/>
                <a:ea typeface="Poppins Ultra-Bold"/>
                <a:cs typeface="Poppins Ultra-Bold"/>
                <a:sym typeface="Poppins Ultra-Bold"/>
              </a:rPr>
              <a:t>Thynk Unlimited</a:t>
            </a:r>
          </a:p>
        </p:txBody>
      </p:sp>
      <p:sp>
        <p:nvSpPr>
          <p:cNvPr name="TextBox 10" id="10"/>
          <p:cNvSpPr txBox="true"/>
          <p:nvPr/>
        </p:nvSpPr>
        <p:spPr>
          <a:xfrm rot="0">
            <a:off x="1436575" y="2261923"/>
            <a:ext cx="8125881" cy="1962270"/>
          </a:xfrm>
          <a:prstGeom prst="rect">
            <a:avLst/>
          </a:prstGeom>
        </p:spPr>
        <p:txBody>
          <a:bodyPr anchor="t" rtlCol="false" tIns="0" lIns="0" bIns="0" rIns="0">
            <a:spAutoFit/>
          </a:bodyPr>
          <a:lstStyle/>
          <a:p>
            <a:pPr algn="just" marL="0" indent="0" lvl="0">
              <a:lnSpc>
                <a:spcPts val="7318"/>
              </a:lnSpc>
            </a:pPr>
            <a:r>
              <a:rPr lang="en-US" b="true" sz="7037">
                <a:solidFill>
                  <a:srgbClr val="FFFFFF"/>
                </a:solidFill>
                <a:latin typeface="Poppins Bold"/>
                <a:ea typeface="Poppins Bold"/>
                <a:cs typeface="Poppins Bold"/>
                <a:sym typeface="Poppins Bold"/>
              </a:rPr>
              <a:t>Accessibility &amp; Equality Analysis</a:t>
            </a:r>
          </a:p>
        </p:txBody>
      </p:sp>
      <p:sp>
        <p:nvSpPr>
          <p:cNvPr name="TextBox 11" id="11"/>
          <p:cNvSpPr txBox="true"/>
          <p:nvPr/>
        </p:nvSpPr>
        <p:spPr>
          <a:xfrm rot="0">
            <a:off x="10953864" y="2176198"/>
            <a:ext cx="5877692" cy="2211940"/>
          </a:xfrm>
          <a:prstGeom prst="rect">
            <a:avLst/>
          </a:prstGeom>
        </p:spPr>
        <p:txBody>
          <a:bodyPr anchor="t" rtlCol="false" tIns="0" lIns="0" bIns="0" rIns="0">
            <a:spAutoFit/>
          </a:bodyPr>
          <a:lstStyle/>
          <a:p>
            <a:pPr algn="just" marL="0" indent="0" lvl="0">
              <a:lnSpc>
                <a:spcPts val="2507"/>
              </a:lnSpc>
              <a:spcBef>
                <a:spcPct val="0"/>
              </a:spcBef>
            </a:pPr>
            <a:r>
              <a:rPr lang="en-US" sz="1790">
                <a:solidFill>
                  <a:srgbClr val="FFFFFF"/>
                </a:solidFill>
                <a:latin typeface="Poppins"/>
                <a:ea typeface="Poppins"/>
                <a:cs typeface="Poppins"/>
                <a:sym typeface="Poppins"/>
              </a:rPr>
              <a:t>Spatial mapping reveals significant mobility gaps across Bengaluru's zones. Low-income and peripheral areas show limited transit access, fewer stops, and longer travel times. Equity indicators highlight underserved communities lacking adequate public transport coverage, underscoring the need for inclusive infrastructure planning.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595607" y="-426477"/>
            <a:ext cx="19479214" cy="6313888"/>
            <a:chOff x="0" y="0"/>
            <a:chExt cx="3017840" cy="978186"/>
          </a:xfrm>
        </p:grpSpPr>
        <p:sp>
          <p:nvSpPr>
            <p:cNvPr name="Freeform 7" id="7"/>
            <p:cNvSpPr/>
            <p:nvPr/>
          </p:nvSpPr>
          <p:spPr>
            <a:xfrm flipH="false" flipV="false" rot="0">
              <a:off x="0" y="0"/>
              <a:ext cx="3017840" cy="978186"/>
            </a:xfrm>
            <a:custGeom>
              <a:avLst/>
              <a:gdLst/>
              <a:ahLst/>
              <a:cxnLst/>
              <a:rect r="r" b="b" t="t" l="l"/>
              <a:pathLst>
                <a:path h="978186" w="3017840">
                  <a:moveTo>
                    <a:pt x="31796" y="0"/>
                  </a:moveTo>
                  <a:lnTo>
                    <a:pt x="2986044" y="0"/>
                  </a:lnTo>
                  <a:cubicBezTo>
                    <a:pt x="2994477" y="0"/>
                    <a:pt x="3002564" y="3350"/>
                    <a:pt x="3008527" y="9313"/>
                  </a:cubicBezTo>
                  <a:cubicBezTo>
                    <a:pt x="3014490" y="15276"/>
                    <a:pt x="3017840" y="23363"/>
                    <a:pt x="3017840" y="31796"/>
                  </a:cubicBezTo>
                  <a:lnTo>
                    <a:pt x="3017840" y="946391"/>
                  </a:lnTo>
                  <a:cubicBezTo>
                    <a:pt x="3017840" y="954824"/>
                    <a:pt x="3014490" y="962911"/>
                    <a:pt x="3008527" y="968874"/>
                  </a:cubicBezTo>
                  <a:cubicBezTo>
                    <a:pt x="3002564" y="974837"/>
                    <a:pt x="2994477" y="978186"/>
                    <a:pt x="2986044" y="978186"/>
                  </a:cubicBezTo>
                  <a:lnTo>
                    <a:pt x="31796" y="978186"/>
                  </a:lnTo>
                  <a:cubicBezTo>
                    <a:pt x="23363" y="978186"/>
                    <a:pt x="15276" y="974837"/>
                    <a:pt x="9313" y="968874"/>
                  </a:cubicBezTo>
                  <a:cubicBezTo>
                    <a:pt x="3350" y="962911"/>
                    <a:pt x="0" y="954824"/>
                    <a:pt x="0" y="946391"/>
                  </a:cubicBezTo>
                  <a:lnTo>
                    <a:pt x="0" y="31796"/>
                  </a:lnTo>
                  <a:cubicBezTo>
                    <a:pt x="0" y="23363"/>
                    <a:pt x="3350" y="15276"/>
                    <a:pt x="9313" y="9313"/>
                  </a:cubicBezTo>
                  <a:cubicBezTo>
                    <a:pt x="15276" y="3350"/>
                    <a:pt x="23363" y="0"/>
                    <a:pt x="31796" y="0"/>
                  </a:cubicBezTo>
                  <a:close/>
                </a:path>
              </a:pathLst>
            </a:custGeom>
            <a:blipFill>
              <a:blip r:embed="rId3"/>
              <a:stretch>
                <a:fillRect l="0" t="-326" r="0" b="-326"/>
              </a:stretch>
            </a:blipFill>
            <a:ln w="323850" cap="rnd">
              <a:gradFill>
                <a:gsLst>
                  <a:gs pos="0">
                    <a:srgbClr val="00D1FF">
                      <a:alpha val="100000"/>
                    </a:srgbClr>
                  </a:gs>
                  <a:gs pos="100000">
                    <a:srgbClr val="001496">
                      <a:alpha val="100000"/>
                    </a:srgbClr>
                  </a:gs>
                </a:gsLst>
                <a:path path="circle">
                  <a:fillToRect l="0" r="100000" t="0" b="100000"/>
                </a:path>
                <a:tileRect r="0" l="-100000" b="0" t="-100000"/>
              </a:gradFill>
              <a:prstDash val="solid"/>
              <a:round/>
            </a:ln>
          </p:spPr>
        </p:sp>
      </p:grpSp>
      <p:sp>
        <p:nvSpPr>
          <p:cNvPr name="Freeform 8" id="8"/>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436575" y="691565"/>
            <a:ext cx="3402138" cy="483919"/>
          </a:xfrm>
          <a:prstGeom prst="rect">
            <a:avLst/>
          </a:prstGeom>
        </p:spPr>
        <p:txBody>
          <a:bodyPr anchor="t" rtlCol="false" tIns="0" lIns="0" bIns="0" rIns="0">
            <a:spAutoFit/>
          </a:bodyPr>
          <a:lstStyle/>
          <a:p>
            <a:pPr algn="l" marL="0" indent="0" lvl="0">
              <a:lnSpc>
                <a:spcPts val="3777"/>
              </a:lnSpc>
            </a:pPr>
            <a:r>
              <a:rPr lang="en-US" b="true" sz="2698">
                <a:solidFill>
                  <a:srgbClr val="FFFFFF"/>
                </a:solidFill>
                <a:latin typeface="Poppins Ultra-Bold"/>
                <a:ea typeface="Poppins Ultra-Bold"/>
                <a:cs typeface="Poppins Ultra-Bold"/>
                <a:sym typeface="Poppins Ultra-Bold"/>
              </a:rPr>
              <a:t>Thynk Unlimited</a:t>
            </a:r>
          </a:p>
        </p:txBody>
      </p:sp>
      <p:sp>
        <p:nvSpPr>
          <p:cNvPr name="TextBox 10" id="10"/>
          <p:cNvSpPr txBox="true"/>
          <p:nvPr/>
        </p:nvSpPr>
        <p:spPr>
          <a:xfrm rot="0">
            <a:off x="1436575" y="7004834"/>
            <a:ext cx="8795818" cy="1039981"/>
          </a:xfrm>
          <a:prstGeom prst="rect">
            <a:avLst/>
          </a:prstGeom>
        </p:spPr>
        <p:txBody>
          <a:bodyPr anchor="t" rtlCol="false" tIns="0" lIns="0" bIns="0" rIns="0">
            <a:spAutoFit/>
          </a:bodyPr>
          <a:lstStyle/>
          <a:p>
            <a:pPr algn="l" marL="0" indent="0" lvl="0">
              <a:lnSpc>
                <a:spcPts val="7318"/>
              </a:lnSpc>
            </a:pPr>
            <a:r>
              <a:rPr lang="en-US" b="true" sz="7037">
                <a:solidFill>
                  <a:srgbClr val="FFFFFF"/>
                </a:solidFill>
                <a:latin typeface="Poppins Bold"/>
                <a:ea typeface="Poppins Bold"/>
                <a:cs typeface="Poppins Bold"/>
                <a:sym typeface="Poppins Bold"/>
              </a:rPr>
              <a:t>Key Insights</a:t>
            </a:r>
          </a:p>
        </p:txBody>
      </p:sp>
      <p:sp>
        <p:nvSpPr>
          <p:cNvPr name="TextBox 11" id="11"/>
          <p:cNvSpPr txBox="true"/>
          <p:nvPr/>
        </p:nvSpPr>
        <p:spPr>
          <a:xfrm rot="0">
            <a:off x="10232393" y="7023675"/>
            <a:ext cx="6599163" cy="1832336"/>
          </a:xfrm>
          <a:prstGeom prst="rect">
            <a:avLst/>
          </a:prstGeom>
        </p:spPr>
        <p:txBody>
          <a:bodyPr anchor="t" rtlCol="false" tIns="0" lIns="0" bIns="0" rIns="0">
            <a:spAutoFit/>
          </a:bodyPr>
          <a:lstStyle/>
          <a:p>
            <a:pPr algn="just" marL="0" indent="0" lvl="0">
              <a:lnSpc>
                <a:spcPts val="2430"/>
              </a:lnSpc>
              <a:spcBef>
                <a:spcPct val="0"/>
              </a:spcBef>
            </a:pPr>
            <a:r>
              <a:rPr lang="en-US" sz="1735">
                <a:solidFill>
                  <a:srgbClr val="FFFFFF"/>
                </a:solidFill>
                <a:latin typeface="Poppins"/>
                <a:ea typeface="Poppins"/>
                <a:cs typeface="Poppins"/>
                <a:sym typeface="Poppins"/>
              </a:rPr>
              <a:t>Peak demand concentrated in Whitefield, Electronic City &amp; MG Road corridors. Over 62% of underserved zones lack last-mile connectivity. BMTC ridership gaps identified in 14 low-income wards. Metro usage skewed toward high-income areas, revealing critical mobility inequality across Bengaluru.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DAHU0sa1Tjw</dc:identifier>
  <dcterms:modified xsi:type="dcterms:W3CDTF">2011-08-01T06:04:30Z</dcterms:modified>
  <cp:revision>1</cp:revision>
  <dc:title>Milestone 4</dc:title>
</cp:coreProperties>
</file>