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Open Sans" charset="1" panose="00000000000000000000"/>
      <p:regular r:id="rId16"/>
    </p:embeddedFont>
    <p:embeddedFont>
      <p:font typeface="Open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84149"/>
            <a:ext cx="13205703" cy="6602851"/>
            <a:chOff x="0" y="0"/>
            <a:chExt cx="6604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45046" y="3684149"/>
            <a:ext cx="7242954" cy="6602851"/>
            <a:chOff x="0" y="0"/>
            <a:chExt cx="660400" cy="602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02037"/>
            </a:xfrm>
            <a:custGeom>
              <a:avLst/>
              <a:gdLst/>
              <a:ahLst/>
              <a:cxnLst/>
              <a:rect r="r" b="b" t="t" l="l"/>
              <a:pathLst>
                <a:path h="60203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3820"/>
                  </a:cubicBezTo>
                  <a:lnTo>
                    <a:pt x="660400" y="602037"/>
                  </a:lnTo>
                  <a:lnTo>
                    <a:pt x="0" y="602037"/>
                  </a:lnTo>
                  <a:lnTo>
                    <a:pt x="0" y="324027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513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63463" y="1275784"/>
            <a:ext cx="13017452" cy="175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86"/>
              </a:lnSpc>
            </a:pPr>
            <a:r>
              <a:rPr lang="en-US" b="true" sz="5061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Bengaluru</a:t>
            </a:r>
          </a:p>
          <a:p>
            <a:pPr algn="ctr" marL="0" indent="0" lvl="0">
              <a:lnSpc>
                <a:spcPts val="7086"/>
              </a:lnSpc>
            </a:pPr>
            <a:r>
              <a:rPr lang="en-US" b="true" sz="5061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Transport Dashboard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5262662"/>
            <a:ext cx="10048675" cy="5024338"/>
            <a:chOff x="0" y="0"/>
            <a:chExt cx="6604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21968" y="1028700"/>
            <a:ext cx="8337332" cy="8147438"/>
            <a:chOff x="0" y="0"/>
            <a:chExt cx="1291671" cy="1262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1671" cy="1262251"/>
            </a:xfrm>
            <a:custGeom>
              <a:avLst/>
              <a:gdLst/>
              <a:ahLst/>
              <a:cxnLst/>
              <a:rect r="r" b="b" t="t" l="l"/>
              <a:pathLst>
                <a:path h="1262251" w="1291671">
                  <a:moveTo>
                    <a:pt x="27858" y="0"/>
                  </a:moveTo>
                  <a:lnTo>
                    <a:pt x="1263813" y="0"/>
                  </a:lnTo>
                  <a:cubicBezTo>
                    <a:pt x="1279199" y="0"/>
                    <a:pt x="1291671" y="12472"/>
                    <a:pt x="1291671" y="27858"/>
                  </a:cubicBezTo>
                  <a:lnTo>
                    <a:pt x="1291671" y="1234394"/>
                  </a:lnTo>
                  <a:cubicBezTo>
                    <a:pt x="1291671" y="1249779"/>
                    <a:pt x="1279199" y="1262251"/>
                    <a:pt x="1263813" y="1262251"/>
                  </a:cubicBezTo>
                  <a:lnTo>
                    <a:pt x="27858" y="1262251"/>
                  </a:lnTo>
                  <a:cubicBezTo>
                    <a:pt x="12472" y="1262251"/>
                    <a:pt x="0" y="1249779"/>
                    <a:pt x="0" y="1234394"/>
                  </a:cubicBezTo>
                  <a:lnTo>
                    <a:pt x="0" y="27858"/>
                  </a:lnTo>
                  <a:cubicBezTo>
                    <a:pt x="0" y="12472"/>
                    <a:pt x="12472" y="0"/>
                    <a:pt x="2785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3" r="0" b="-33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200150"/>
            <a:ext cx="7484049" cy="21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9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778798"/>
            <a:ext cx="7223278" cy="310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6"/>
              </a:lnSpc>
            </a:pPr>
            <a:r>
              <a:rPr lang="en-US" sz="2197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This project analyzes Bengaluru's public transport network to uncover patterns in routes, passenger volumes, stop distribution, trip frequency, and travel direction.</a:t>
            </a:r>
          </a:p>
          <a:p>
            <a:pPr algn="l" marL="0" indent="0" lvl="0">
              <a:lnSpc>
                <a:spcPts val="3076"/>
              </a:lnSpc>
            </a:pPr>
            <a:r>
              <a:rPr lang="en-US" sz="2197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The goal is to transform raw transit data into actionable insights using data cleaning, exploratory analysis, and interactive Power BI visualizations — supporting smarter, data-driven urban mobility decisions.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21459"/>
            <a:ext cx="6276773" cy="3622041"/>
            <a:chOff x="0" y="0"/>
            <a:chExt cx="1653142" cy="953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3142" cy="953953"/>
            </a:xfrm>
            <a:custGeom>
              <a:avLst/>
              <a:gdLst/>
              <a:ahLst/>
              <a:cxnLst/>
              <a:rect r="r" b="b" t="t" l="l"/>
              <a:pathLst>
                <a:path h="953953" w="1653142">
                  <a:moveTo>
                    <a:pt x="0" y="0"/>
                  </a:moveTo>
                  <a:lnTo>
                    <a:pt x="1653142" y="0"/>
                  </a:lnTo>
                  <a:lnTo>
                    <a:pt x="1653142" y="953953"/>
                  </a:lnTo>
                  <a:lnTo>
                    <a:pt x="0" y="953953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3142" cy="992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656157"/>
            <a:ext cx="6276773" cy="3602143"/>
            <a:chOff x="0" y="0"/>
            <a:chExt cx="1653142" cy="94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3142" cy="948713"/>
            </a:xfrm>
            <a:custGeom>
              <a:avLst/>
              <a:gdLst/>
              <a:ahLst/>
              <a:cxnLst/>
              <a:rect r="r" b="b" t="t" l="l"/>
              <a:pathLst>
                <a:path h="948713" w="1653142">
                  <a:moveTo>
                    <a:pt x="0" y="0"/>
                  </a:moveTo>
                  <a:lnTo>
                    <a:pt x="1653142" y="0"/>
                  </a:lnTo>
                  <a:lnTo>
                    <a:pt x="1653142" y="948713"/>
                  </a:lnTo>
                  <a:lnTo>
                    <a:pt x="0" y="948713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53142" cy="98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3854" y="3204463"/>
            <a:ext cx="288798" cy="28879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8905" y="7235293"/>
            <a:ext cx="288798" cy="2887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43854" y="3792958"/>
            <a:ext cx="288798" cy="28879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8905" y="7823788"/>
            <a:ext cx="288798" cy="28879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3854" y="4377121"/>
            <a:ext cx="288798" cy="28879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58905" y="8407951"/>
            <a:ext cx="288798" cy="28879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5262662"/>
            <a:ext cx="10048675" cy="5024338"/>
            <a:chOff x="0" y="0"/>
            <a:chExt cx="660400" cy="330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18758" y="4334214"/>
            <a:ext cx="8740542" cy="4924086"/>
            <a:chOff x="0" y="0"/>
            <a:chExt cx="1354139" cy="7628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54139" cy="762870"/>
            </a:xfrm>
            <a:custGeom>
              <a:avLst/>
              <a:gdLst/>
              <a:ahLst/>
              <a:cxnLst/>
              <a:rect r="r" b="b" t="t" l="l"/>
              <a:pathLst>
                <a:path h="762870" w="1354139">
                  <a:moveTo>
                    <a:pt x="26572" y="0"/>
                  </a:moveTo>
                  <a:lnTo>
                    <a:pt x="1327566" y="0"/>
                  </a:lnTo>
                  <a:cubicBezTo>
                    <a:pt x="1342242" y="0"/>
                    <a:pt x="1354139" y="11897"/>
                    <a:pt x="1354139" y="26572"/>
                  </a:cubicBezTo>
                  <a:lnTo>
                    <a:pt x="1354139" y="736297"/>
                  </a:lnTo>
                  <a:cubicBezTo>
                    <a:pt x="1354139" y="743345"/>
                    <a:pt x="1351339" y="750104"/>
                    <a:pt x="1346356" y="755087"/>
                  </a:cubicBezTo>
                  <a:cubicBezTo>
                    <a:pt x="1341372" y="760070"/>
                    <a:pt x="1334614" y="762870"/>
                    <a:pt x="1327566" y="762870"/>
                  </a:cubicBezTo>
                  <a:lnTo>
                    <a:pt x="26572" y="762870"/>
                  </a:lnTo>
                  <a:cubicBezTo>
                    <a:pt x="19525" y="762870"/>
                    <a:pt x="12766" y="760070"/>
                    <a:pt x="7783" y="755087"/>
                  </a:cubicBezTo>
                  <a:cubicBezTo>
                    <a:pt x="2800" y="750104"/>
                    <a:pt x="0" y="743345"/>
                    <a:pt x="0" y="736297"/>
                  </a:cubicBezTo>
                  <a:lnTo>
                    <a:pt x="0" y="26572"/>
                  </a:lnTo>
                  <a:cubicBezTo>
                    <a:pt x="0" y="19525"/>
                    <a:pt x="2800" y="12766"/>
                    <a:pt x="7783" y="7783"/>
                  </a:cubicBezTo>
                  <a:cubicBezTo>
                    <a:pt x="12766" y="2800"/>
                    <a:pt x="19525" y="0"/>
                    <a:pt x="26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78" r="0" b="-47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632257" y="1692909"/>
            <a:ext cx="8513544" cy="212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8"/>
              </a:lnSpc>
            </a:pPr>
            <a:r>
              <a:rPr lang="en-US" b="true" sz="8271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43854" y="1953461"/>
            <a:ext cx="4340221" cy="34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Route &amp; Passenger Challenges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92051" y="3132981"/>
            <a:ext cx="283868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Unclear route coverage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92051" y="3721476"/>
            <a:ext cx="283868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Inconsistent passenger data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07103" y="7752305"/>
            <a:ext cx="283868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Irregular trip frequency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04878" y="7163810"/>
            <a:ext cx="283868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Uneven stop distribution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92051" y="4305639"/>
            <a:ext cx="283868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No demand-based analysis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07103" y="8336468"/>
            <a:ext cx="3319174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No direction-wise insights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8905" y="6027197"/>
            <a:ext cx="3694442" cy="34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Stop, Trip &amp; Direction Issues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18941"/>
            <a:ext cx="5213477" cy="2571087"/>
            <a:chOff x="0" y="0"/>
            <a:chExt cx="1373097" cy="677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61062" y="3918941"/>
            <a:ext cx="5213477" cy="2571087"/>
            <a:chOff x="0" y="0"/>
            <a:chExt cx="1373097" cy="677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687213"/>
            <a:ext cx="5213477" cy="2571087"/>
            <a:chOff x="0" y="0"/>
            <a:chExt cx="1373097" cy="677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61062" y="6687213"/>
            <a:ext cx="5213477" cy="2571087"/>
            <a:chOff x="0" y="0"/>
            <a:chExt cx="1373097" cy="677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27013" y="1028700"/>
            <a:ext cx="4927537" cy="8229600"/>
            <a:chOff x="0" y="0"/>
            <a:chExt cx="763404" cy="12749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3404" cy="1274980"/>
            </a:xfrm>
            <a:custGeom>
              <a:avLst/>
              <a:gdLst/>
              <a:ahLst/>
              <a:cxnLst/>
              <a:rect r="r" b="b" t="t" l="l"/>
              <a:pathLst>
                <a:path h="1274980" w="763404">
                  <a:moveTo>
                    <a:pt x="47135" y="0"/>
                  </a:moveTo>
                  <a:lnTo>
                    <a:pt x="716270" y="0"/>
                  </a:lnTo>
                  <a:cubicBezTo>
                    <a:pt x="742301" y="0"/>
                    <a:pt x="763404" y="21103"/>
                    <a:pt x="763404" y="47135"/>
                  </a:cubicBezTo>
                  <a:lnTo>
                    <a:pt x="763404" y="1227846"/>
                  </a:lnTo>
                  <a:cubicBezTo>
                    <a:pt x="763404" y="1240347"/>
                    <a:pt x="758438" y="1252336"/>
                    <a:pt x="749599" y="1261175"/>
                  </a:cubicBezTo>
                  <a:cubicBezTo>
                    <a:pt x="740759" y="1270014"/>
                    <a:pt x="728771" y="1274980"/>
                    <a:pt x="716270" y="1274980"/>
                  </a:cubicBezTo>
                  <a:lnTo>
                    <a:pt x="47135" y="1274980"/>
                  </a:lnTo>
                  <a:cubicBezTo>
                    <a:pt x="34634" y="1274980"/>
                    <a:pt x="22645" y="1270014"/>
                    <a:pt x="13805" y="1261175"/>
                  </a:cubicBezTo>
                  <a:cubicBezTo>
                    <a:pt x="4966" y="1252336"/>
                    <a:pt x="0" y="1240347"/>
                    <a:pt x="0" y="1227846"/>
                  </a:cubicBezTo>
                  <a:lnTo>
                    <a:pt x="0" y="47135"/>
                  </a:lnTo>
                  <a:cubicBezTo>
                    <a:pt x="0" y="34634"/>
                    <a:pt x="4966" y="22645"/>
                    <a:pt x="13805" y="13805"/>
                  </a:cubicBezTo>
                  <a:cubicBezTo>
                    <a:pt x="22645" y="4966"/>
                    <a:pt x="34634" y="0"/>
                    <a:pt x="47135" y="0"/>
                  </a:cubicBezTo>
                  <a:close/>
                </a:path>
              </a:pathLst>
            </a:custGeom>
            <a:blipFill>
              <a:blip r:embed="rId2"/>
              <a:stretch>
                <a:fillRect l="-208" t="0" r="-20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1200150"/>
            <a:ext cx="7484049" cy="21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9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</a:t>
            </a:r>
          </a:p>
          <a:p>
            <a:pPr algn="l" marL="0" indent="0" lvl="0">
              <a:lnSpc>
                <a:spcPts val="8409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1151" y="4438471"/>
            <a:ext cx="683348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01/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9702" y="4438471"/>
            <a:ext cx="683348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03/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3530" y="7206742"/>
            <a:ext cx="683348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2082" y="7206742"/>
            <a:ext cx="683348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04/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76878" y="4438471"/>
            <a:ext cx="2246529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Understand Dataset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45430" y="4438471"/>
            <a:ext cx="2246529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Analyze Transport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49258" y="7206742"/>
            <a:ext cx="2246529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 &amp; Prepare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17809" y="7206742"/>
            <a:ext cx="2246529" cy="2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  <a:spcBef>
                <a:spcPct val="0"/>
              </a:spcBef>
            </a:pPr>
            <a:r>
              <a:rPr lang="en-US" b="true" sz="1713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Visualize in Power BI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1151" y="5110149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Collect and explore route, passenger, stop and trip records from the Bengaluru transport dataset.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89702" y="5110149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Compute key transport measures including passenger counts, trip frequency and stop distribution.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3530" y="7878420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Remove inconsistencies, handle missing values and prepare clean data ready for analysis.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2082" y="7878420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Build an interactive Power BI dashboard to present findings through charts and KPI visuals.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8115300" cy="255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07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  <a:p>
            <a:pPr algn="l" marL="0" indent="0" lvl="0">
              <a:lnSpc>
                <a:spcPts val="10107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5262662"/>
            <a:ext cx="10048675" cy="5024338"/>
            <a:chOff x="0" y="0"/>
            <a:chExt cx="660400" cy="330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1968" y="1028700"/>
            <a:ext cx="8337332" cy="8147438"/>
            <a:chOff x="0" y="0"/>
            <a:chExt cx="1291671" cy="1262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1671" cy="1262251"/>
            </a:xfrm>
            <a:custGeom>
              <a:avLst/>
              <a:gdLst/>
              <a:ahLst/>
              <a:cxnLst/>
              <a:rect r="r" b="b" t="t" l="l"/>
              <a:pathLst>
                <a:path h="1262251" w="1291671">
                  <a:moveTo>
                    <a:pt x="27858" y="0"/>
                  </a:moveTo>
                  <a:lnTo>
                    <a:pt x="1263813" y="0"/>
                  </a:lnTo>
                  <a:cubicBezTo>
                    <a:pt x="1279199" y="0"/>
                    <a:pt x="1291671" y="12472"/>
                    <a:pt x="1291671" y="27858"/>
                  </a:cubicBezTo>
                  <a:lnTo>
                    <a:pt x="1291671" y="1234394"/>
                  </a:lnTo>
                  <a:cubicBezTo>
                    <a:pt x="1291671" y="1249779"/>
                    <a:pt x="1279199" y="1262251"/>
                    <a:pt x="1263813" y="1262251"/>
                  </a:cubicBezTo>
                  <a:lnTo>
                    <a:pt x="27858" y="1262251"/>
                  </a:lnTo>
                  <a:cubicBezTo>
                    <a:pt x="12472" y="1262251"/>
                    <a:pt x="0" y="1249779"/>
                    <a:pt x="0" y="1234394"/>
                  </a:cubicBezTo>
                  <a:lnTo>
                    <a:pt x="0" y="27858"/>
                  </a:lnTo>
                  <a:cubicBezTo>
                    <a:pt x="0" y="12472"/>
                    <a:pt x="12472" y="0"/>
                    <a:pt x="2785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3" r="0" b="-33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5778798"/>
            <a:ext cx="7223278" cy="325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6"/>
              </a:lnSpc>
            </a:pPr>
            <a:r>
              <a:rPr lang="en-US" sz="235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Key Fields in the Dataset:</a:t>
            </a:r>
          </a:p>
          <a:p>
            <a:pPr algn="l" marL="0" indent="0" lvl="0">
              <a:lnSpc>
                <a:spcPts val="3296"/>
              </a:lnSpc>
            </a:pPr>
            <a:r>
              <a:rPr lang="en-US" sz="235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Route Number – Unique identifier for each bus route</a:t>
            </a:r>
          </a:p>
          <a:p>
            <a:pPr algn="l" marL="0" indent="0" lvl="0">
              <a:lnSpc>
                <a:spcPts val="3296"/>
              </a:lnSpc>
            </a:pPr>
            <a:r>
              <a:rPr lang="en-US" sz="235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Passenger Count – Total passengers per route/trip</a:t>
            </a:r>
          </a:p>
          <a:p>
            <a:pPr algn="l" marL="0" indent="0" lvl="0">
              <a:lnSpc>
                <a:spcPts val="3296"/>
              </a:lnSpc>
            </a:pPr>
            <a:r>
              <a:rPr lang="en-US" sz="235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Stop Count – Number of stops along each route</a:t>
            </a:r>
          </a:p>
          <a:p>
            <a:pPr algn="l" marL="0" indent="0" lvl="0">
              <a:lnSpc>
                <a:spcPts val="3296"/>
              </a:lnSpc>
            </a:pPr>
            <a:r>
              <a:rPr lang="en-US" sz="235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Trip Count – Total trips made per route</a:t>
            </a:r>
          </a:p>
          <a:p>
            <a:pPr algn="l" marL="0" indent="0" lvl="0">
              <a:lnSpc>
                <a:spcPts val="3296"/>
              </a:lnSpc>
            </a:pPr>
            <a:r>
              <a:rPr lang="en-US" sz="235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Direction ID – Inbound or outbound direction indicator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18941"/>
            <a:ext cx="5213477" cy="2571087"/>
            <a:chOff x="0" y="0"/>
            <a:chExt cx="1373097" cy="677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61062" y="3918941"/>
            <a:ext cx="5213477" cy="2571087"/>
            <a:chOff x="0" y="0"/>
            <a:chExt cx="1373097" cy="677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687213"/>
            <a:ext cx="5213477" cy="2571087"/>
            <a:chOff x="0" y="0"/>
            <a:chExt cx="1373097" cy="677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61062" y="6687213"/>
            <a:ext cx="5213477" cy="2571087"/>
            <a:chOff x="0" y="0"/>
            <a:chExt cx="1373097" cy="677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3097" cy="677159"/>
            </a:xfrm>
            <a:custGeom>
              <a:avLst/>
              <a:gdLst/>
              <a:ahLst/>
              <a:cxnLst/>
              <a:rect r="r" b="b" t="t" l="l"/>
              <a:pathLst>
                <a:path h="677159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677159"/>
                  </a:lnTo>
                  <a:lnTo>
                    <a:pt x="0" y="67715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73097" cy="715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27013" y="1028700"/>
            <a:ext cx="4927537" cy="8229600"/>
            <a:chOff x="0" y="0"/>
            <a:chExt cx="763404" cy="12749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3404" cy="1274980"/>
            </a:xfrm>
            <a:custGeom>
              <a:avLst/>
              <a:gdLst/>
              <a:ahLst/>
              <a:cxnLst/>
              <a:rect r="r" b="b" t="t" l="l"/>
              <a:pathLst>
                <a:path h="1274980" w="763404">
                  <a:moveTo>
                    <a:pt x="47135" y="0"/>
                  </a:moveTo>
                  <a:lnTo>
                    <a:pt x="716270" y="0"/>
                  </a:lnTo>
                  <a:cubicBezTo>
                    <a:pt x="742301" y="0"/>
                    <a:pt x="763404" y="21103"/>
                    <a:pt x="763404" y="47135"/>
                  </a:cubicBezTo>
                  <a:lnTo>
                    <a:pt x="763404" y="1227846"/>
                  </a:lnTo>
                  <a:cubicBezTo>
                    <a:pt x="763404" y="1240347"/>
                    <a:pt x="758438" y="1252336"/>
                    <a:pt x="749599" y="1261175"/>
                  </a:cubicBezTo>
                  <a:cubicBezTo>
                    <a:pt x="740759" y="1270014"/>
                    <a:pt x="728771" y="1274980"/>
                    <a:pt x="716270" y="1274980"/>
                  </a:cubicBezTo>
                  <a:lnTo>
                    <a:pt x="47135" y="1274980"/>
                  </a:lnTo>
                  <a:cubicBezTo>
                    <a:pt x="34634" y="1274980"/>
                    <a:pt x="22645" y="1270014"/>
                    <a:pt x="13805" y="1261175"/>
                  </a:cubicBezTo>
                  <a:cubicBezTo>
                    <a:pt x="4966" y="1252336"/>
                    <a:pt x="0" y="1240347"/>
                    <a:pt x="0" y="1227846"/>
                  </a:cubicBezTo>
                  <a:lnTo>
                    <a:pt x="0" y="47135"/>
                  </a:lnTo>
                  <a:cubicBezTo>
                    <a:pt x="0" y="34634"/>
                    <a:pt x="4966" y="22645"/>
                    <a:pt x="13805" y="13805"/>
                  </a:cubicBezTo>
                  <a:cubicBezTo>
                    <a:pt x="22645" y="4966"/>
                    <a:pt x="34634" y="0"/>
                    <a:pt x="47135" y="0"/>
                  </a:cubicBezTo>
                  <a:close/>
                </a:path>
              </a:pathLst>
            </a:custGeom>
            <a:blipFill>
              <a:blip r:embed="rId2"/>
              <a:stretch>
                <a:fillRect l="-208" t="0" r="-20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1200150"/>
            <a:ext cx="7484049" cy="21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9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1151" y="4419421"/>
            <a:ext cx="683348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01/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9702" y="4419421"/>
            <a:ext cx="683348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03/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3530" y="7187692"/>
            <a:ext cx="683348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2082" y="7187692"/>
            <a:ext cx="683348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04/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76878" y="4419421"/>
            <a:ext cx="2246529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Raw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45430" y="4419421"/>
            <a:ext cx="2246529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Cleaning Steps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49258" y="7187692"/>
            <a:ext cx="2246529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17809" y="7187692"/>
            <a:ext cx="2246529" cy="3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9"/>
              </a:lnSpc>
              <a:spcBef>
                <a:spcPct val="0"/>
              </a:spcBef>
            </a:pPr>
            <a:r>
              <a:rPr lang="en-US" b="true" sz="2406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1151" y="5110149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Imported raw BMTC dataset with Route Number, Passenger Count, Stop Count, Trip Count and Direction ID fields.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89702" y="5110149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Removed duplicate rows, corrected inconsistent entries, handled missing values and standardised field formats.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3530" y="7878420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Checked for null values, out-of-range counts and mismatched Direction IDs to ensure data integrity.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2082" y="7878420"/>
            <a:ext cx="4283816" cy="84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0"/>
              </a:lnSpc>
            </a:pPr>
            <a:r>
              <a:rPr lang="en-US" sz="1621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Analysis-ready dataset with consistent structure, no nulls and verified records loaded into Power BI.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056" y="5449823"/>
            <a:ext cx="10048675" cy="5024338"/>
            <a:chOff x="0" y="0"/>
            <a:chExt cx="6604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66549" y="3901617"/>
            <a:ext cx="4066990" cy="2592617"/>
            <a:chOff x="0" y="0"/>
            <a:chExt cx="1071142" cy="682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1141" cy="682829"/>
            </a:xfrm>
            <a:custGeom>
              <a:avLst/>
              <a:gdLst/>
              <a:ahLst/>
              <a:cxnLst/>
              <a:rect r="r" b="b" t="t" l="l"/>
              <a:pathLst>
                <a:path h="682829" w="1071141">
                  <a:moveTo>
                    <a:pt x="0" y="0"/>
                  </a:moveTo>
                  <a:lnTo>
                    <a:pt x="1071141" y="0"/>
                  </a:lnTo>
                  <a:lnTo>
                    <a:pt x="1071141" y="682829"/>
                  </a:lnTo>
                  <a:lnTo>
                    <a:pt x="0" y="68282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1142" cy="72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66549" y="6665683"/>
            <a:ext cx="4066990" cy="2592617"/>
            <a:chOff x="0" y="0"/>
            <a:chExt cx="1071142" cy="6828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1141" cy="682829"/>
            </a:xfrm>
            <a:custGeom>
              <a:avLst/>
              <a:gdLst/>
              <a:ahLst/>
              <a:cxnLst/>
              <a:rect r="r" b="b" t="t" l="l"/>
              <a:pathLst>
                <a:path h="682829" w="1071141">
                  <a:moveTo>
                    <a:pt x="0" y="0"/>
                  </a:moveTo>
                  <a:lnTo>
                    <a:pt x="1071141" y="0"/>
                  </a:lnTo>
                  <a:lnTo>
                    <a:pt x="1071141" y="682829"/>
                  </a:lnTo>
                  <a:lnTo>
                    <a:pt x="0" y="68282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1142" cy="72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92310" y="3901617"/>
            <a:ext cx="4066990" cy="2592617"/>
            <a:chOff x="0" y="0"/>
            <a:chExt cx="1071142" cy="6828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141" cy="682829"/>
            </a:xfrm>
            <a:custGeom>
              <a:avLst/>
              <a:gdLst/>
              <a:ahLst/>
              <a:cxnLst/>
              <a:rect r="r" b="b" t="t" l="l"/>
              <a:pathLst>
                <a:path h="682829" w="1071141">
                  <a:moveTo>
                    <a:pt x="0" y="0"/>
                  </a:moveTo>
                  <a:lnTo>
                    <a:pt x="1071141" y="0"/>
                  </a:lnTo>
                  <a:lnTo>
                    <a:pt x="1071141" y="682829"/>
                  </a:lnTo>
                  <a:lnTo>
                    <a:pt x="0" y="68282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71142" cy="72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92310" y="6665683"/>
            <a:ext cx="4066990" cy="2592617"/>
            <a:chOff x="0" y="0"/>
            <a:chExt cx="1071142" cy="6828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1141" cy="682829"/>
            </a:xfrm>
            <a:custGeom>
              <a:avLst/>
              <a:gdLst/>
              <a:ahLst/>
              <a:cxnLst/>
              <a:rect r="r" b="b" t="t" l="l"/>
              <a:pathLst>
                <a:path h="682829" w="1071141">
                  <a:moveTo>
                    <a:pt x="0" y="0"/>
                  </a:moveTo>
                  <a:lnTo>
                    <a:pt x="1071141" y="0"/>
                  </a:lnTo>
                  <a:lnTo>
                    <a:pt x="1071141" y="682829"/>
                  </a:lnTo>
                  <a:lnTo>
                    <a:pt x="0" y="682829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1142" cy="72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206479"/>
            <a:ext cx="7271099" cy="5051821"/>
            <a:chOff x="0" y="0"/>
            <a:chExt cx="1126484" cy="7826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6484" cy="782659"/>
            </a:xfrm>
            <a:custGeom>
              <a:avLst/>
              <a:gdLst/>
              <a:ahLst/>
              <a:cxnLst/>
              <a:rect r="r" b="b" t="t" l="l"/>
              <a:pathLst>
                <a:path h="782659" w="1126484">
                  <a:moveTo>
                    <a:pt x="31943" y="0"/>
                  </a:moveTo>
                  <a:lnTo>
                    <a:pt x="1094541" y="0"/>
                  </a:lnTo>
                  <a:cubicBezTo>
                    <a:pt x="1112182" y="0"/>
                    <a:pt x="1126484" y="14301"/>
                    <a:pt x="1126484" y="31943"/>
                  </a:cubicBezTo>
                  <a:lnTo>
                    <a:pt x="1126484" y="750717"/>
                  </a:lnTo>
                  <a:cubicBezTo>
                    <a:pt x="1126484" y="768358"/>
                    <a:pt x="1112182" y="782659"/>
                    <a:pt x="1094541" y="782659"/>
                  </a:cubicBezTo>
                  <a:lnTo>
                    <a:pt x="31943" y="782659"/>
                  </a:lnTo>
                  <a:cubicBezTo>
                    <a:pt x="14301" y="782659"/>
                    <a:pt x="0" y="768358"/>
                    <a:pt x="0" y="750717"/>
                  </a:cubicBezTo>
                  <a:lnTo>
                    <a:pt x="0" y="31943"/>
                  </a:lnTo>
                  <a:cubicBezTo>
                    <a:pt x="0" y="14301"/>
                    <a:pt x="14301" y="0"/>
                    <a:pt x="3194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65" r="0" b="-46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8700" y="1038225"/>
            <a:ext cx="11147846" cy="245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84"/>
              </a:lnSpc>
            </a:pPr>
            <a:r>
              <a:rPr lang="en-US" b="true" sz="8138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</a:t>
            </a:r>
          </a:p>
          <a:p>
            <a:pPr algn="l" marL="0" indent="0" lvl="0">
              <a:lnSpc>
                <a:spcPts val="9684"/>
              </a:lnSpc>
            </a:pPr>
            <a:r>
              <a:rPr lang="en-US" b="true" sz="8138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39373" y="4368404"/>
            <a:ext cx="3554487" cy="107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6"/>
              </a:lnSpc>
            </a:pPr>
            <a:r>
              <a:rPr lang="en-US" b="true" sz="8138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39373" y="7132471"/>
            <a:ext cx="3554487" cy="107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6"/>
              </a:lnSpc>
            </a:pPr>
            <a:r>
              <a:rPr lang="en-US" b="true" sz="8138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5133" y="4368404"/>
            <a:ext cx="3554487" cy="107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6"/>
              </a:lnSpc>
            </a:pPr>
            <a:r>
              <a:rPr lang="en-US" b="true" sz="8138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65133" y="7132471"/>
            <a:ext cx="3554487" cy="107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6"/>
              </a:lnSpc>
            </a:pPr>
            <a:r>
              <a:rPr lang="en-US" b="true" sz="8138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39373" y="5661386"/>
            <a:ext cx="355448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Routes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39373" y="8425453"/>
            <a:ext cx="355448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Passengers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65133" y="5661386"/>
            <a:ext cx="355448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Trips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65133" y="8425453"/>
            <a:ext cx="355448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Avg. Stops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3462" y="3151535"/>
            <a:ext cx="5213477" cy="2940621"/>
            <a:chOff x="0" y="0"/>
            <a:chExt cx="1373097" cy="774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3097" cy="774484"/>
            </a:xfrm>
            <a:custGeom>
              <a:avLst/>
              <a:gdLst/>
              <a:ahLst/>
              <a:cxnLst/>
              <a:rect r="r" b="b" t="t" l="l"/>
              <a:pathLst>
                <a:path h="774484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774484"/>
                  </a:lnTo>
                  <a:lnTo>
                    <a:pt x="0" y="774484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3097" cy="81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45823" y="3151535"/>
            <a:ext cx="5213477" cy="2940621"/>
            <a:chOff x="0" y="0"/>
            <a:chExt cx="1373097" cy="774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3097" cy="774484"/>
            </a:xfrm>
            <a:custGeom>
              <a:avLst/>
              <a:gdLst/>
              <a:ahLst/>
              <a:cxnLst/>
              <a:rect r="r" b="b" t="t" l="l"/>
              <a:pathLst>
                <a:path h="774484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774484"/>
                  </a:lnTo>
                  <a:lnTo>
                    <a:pt x="0" y="774484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3097" cy="81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13462" y="6317679"/>
            <a:ext cx="5213477" cy="2940621"/>
            <a:chOff x="0" y="0"/>
            <a:chExt cx="1373097" cy="774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3097" cy="774484"/>
            </a:xfrm>
            <a:custGeom>
              <a:avLst/>
              <a:gdLst/>
              <a:ahLst/>
              <a:cxnLst/>
              <a:rect r="r" b="b" t="t" l="l"/>
              <a:pathLst>
                <a:path h="774484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774484"/>
                  </a:lnTo>
                  <a:lnTo>
                    <a:pt x="0" y="774484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73097" cy="81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45823" y="6317679"/>
            <a:ext cx="5213477" cy="2940621"/>
            <a:chOff x="0" y="0"/>
            <a:chExt cx="1373097" cy="7744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3097" cy="774484"/>
            </a:xfrm>
            <a:custGeom>
              <a:avLst/>
              <a:gdLst/>
              <a:ahLst/>
              <a:cxnLst/>
              <a:rect r="r" b="b" t="t" l="l"/>
              <a:pathLst>
                <a:path h="774484" w="1373097">
                  <a:moveTo>
                    <a:pt x="0" y="0"/>
                  </a:moveTo>
                  <a:lnTo>
                    <a:pt x="1373097" y="0"/>
                  </a:lnTo>
                  <a:lnTo>
                    <a:pt x="1373097" y="774484"/>
                  </a:lnTo>
                  <a:lnTo>
                    <a:pt x="0" y="774484"/>
                  </a:lnTo>
                  <a:close/>
                </a:path>
              </a:pathLst>
            </a:custGeom>
            <a:solidFill>
              <a:srgbClr val="36A6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73097" cy="81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53392" y="3684149"/>
            <a:ext cx="7242954" cy="6602851"/>
            <a:chOff x="0" y="0"/>
            <a:chExt cx="660400" cy="6020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602037"/>
            </a:xfrm>
            <a:custGeom>
              <a:avLst/>
              <a:gdLst/>
              <a:ahLst/>
              <a:cxnLst/>
              <a:rect r="r" b="b" t="t" l="l"/>
              <a:pathLst>
                <a:path h="60203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3820"/>
                  </a:cubicBezTo>
                  <a:lnTo>
                    <a:pt x="660400" y="602037"/>
                  </a:lnTo>
                  <a:lnTo>
                    <a:pt x="0" y="602037"/>
                  </a:lnTo>
                  <a:lnTo>
                    <a:pt x="0" y="324027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8900"/>
              <a:ext cx="660400" cy="513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943913"/>
            <a:ext cx="4927537" cy="6314387"/>
            <a:chOff x="0" y="0"/>
            <a:chExt cx="763404" cy="978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3404" cy="978264"/>
            </a:xfrm>
            <a:custGeom>
              <a:avLst/>
              <a:gdLst/>
              <a:ahLst/>
              <a:cxnLst/>
              <a:rect r="r" b="b" t="t" l="l"/>
              <a:pathLst>
                <a:path h="978264" w="763404">
                  <a:moveTo>
                    <a:pt x="47135" y="0"/>
                  </a:moveTo>
                  <a:lnTo>
                    <a:pt x="716270" y="0"/>
                  </a:lnTo>
                  <a:cubicBezTo>
                    <a:pt x="742301" y="0"/>
                    <a:pt x="763404" y="21103"/>
                    <a:pt x="763404" y="47135"/>
                  </a:cubicBezTo>
                  <a:lnTo>
                    <a:pt x="763404" y="931129"/>
                  </a:lnTo>
                  <a:cubicBezTo>
                    <a:pt x="763404" y="943630"/>
                    <a:pt x="758438" y="955619"/>
                    <a:pt x="749599" y="964458"/>
                  </a:cubicBezTo>
                  <a:cubicBezTo>
                    <a:pt x="740759" y="973298"/>
                    <a:pt x="728771" y="978264"/>
                    <a:pt x="716270" y="978264"/>
                  </a:cubicBezTo>
                  <a:lnTo>
                    <a:pt x="47135" y="978264"/>
                  </a:lnTo>
                  <a:cubicBezTo>
                    <a:pt x="34634" y="978264"/>
                    <a:pt x="22645" y="973298"/>
                    <a:pt x="13805" y="964458"/>
                  </a:cubicBezTo>
                  <a:cubicBezTo>
                    <a:pt x="4966" y="955619"/>
                    <a:pt x="0" y="943630"/>
                    <a:pt x="0" y="931129"/>
                  </a:cubicBezTo>
                  <a:lnTo>
                    <a:pt x="0" y="47135"/>
                  </a:lnTo>
                  <a:cubicBezTo>
                    <a:pt x="0" y="34634"/>
                    <a:pt x="4966" y="22645"/>
                    <a:pt x="13805" y="13805"/>
                  </a:cubicBezTo>
                  <a:cubicBezTo>
                    <a:pt x="22645" y="4966"/>
                    <a:pt x="34634" y="0"/>
                    <a:pt x="471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3" r="0" b="-2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277978" y="1248515"/>
            <a:ext cx="12581147" cy="98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1"/>
              </a:lnSpc>
            </a:pPr>
            <a:r>
              <a:rPr lang="en-US" b="true" sz="7426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Visualizations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51859" y="3640955"/>
            <a:ext cx="4270294" cy="98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1"/>
              </a:lnSpc>
            </a:pPr>
            <a:r>
              <a:rPr lang="en-US" b="true" sz="7426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📊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84220" y="3640955"/>
            <a:ext cx="4270294" cy="98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1"/>
              </a:lnSpc>
            </a:pPr>
            <a:r>
              <a:rPr lang="en-US" b="true" sz="7426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🗺️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24229" y="6759593"/>
            <a:ext cx="2914479" cy="98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1"/>
              </a:lnSpc>
            </a:pPr>
            <a:r>
              <a:rPr lang="en-US" b="true" sz="7426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🧭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51859" y="6711280"/>
            <a:ext cx="4270294" cy="98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1"/>
              </a:lnSpc>
            </a:pPr>
            <a:r>
              <a:rPr lang="en-US" b="true" sz="7426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67665" y="5230455"/>
            <a:ext cx="2838681" cy="38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6"/>
              </a:lnSpc>
              <a:spcBef>
                <a:spcPct val="0"/>
              </a:spcBef>
            </a:pPr>
            <a:r>
              <a:rPr lang="en-US" b="true" sz="2354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Passenger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67665" y="8396600"/>
            <a:ext cx="2838681" cy="38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6"/>
              </a:lnSpc>
              <a:spcBef>
                <a:spcPct val="0"/>
              </a:spcBef>
            </a:pPr>
            <a:r>
              <a:rPr lang="en-US" b="true" sz="2354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Stop Patterns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82580" y="5153003"/>
            <a:ext cx="2838681" cy="38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6"/>
              </a:lnSpc>
              <a:spcBef>
                <a:spcPct val="0"/>
              </a:spcBef>
            </a:pPr>
            <a:r>
              <a:rPr lang="en-US" b="true" sz="2354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Route Distribution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7935" y="8395913"/>
            <a:ext cx="3367970" cy="38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6"/>
              </a:lnSpc>
              <a:spcBef>
                <a:spcPct val="0"/>
              </a:spcBef>
            </a:pPr>
            <a:r>
              <a:rPr lang="en-US" b="true" sz="2354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Direction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2643" y="5412776"/>
            <a:ext cx="10048675" cy="5024338"/>
            <a:chOff x="0" y="0"/>
            <a:chExt cx="6604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8337332" cy="8147438"/>
            <a:chOff x="0" y="0"/>
            <a:chExt cx="1291671" cy="1262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1671" cy="1262251"/>
            </a:xfrm>
            <a:custGeom>
              <a:avLst/>
              <a:gdLst/>
              <a:ahLst/>
              <a:cxnLst/>
              <a:rect r="r" b="b" t="t" l="l"/>
              <a:pathLst>
                <a:path h="1262251" w="1291671">
                  <a:moveTo>
                    <a:pt x="27858" y="0"/>
                  </a:moveTo>
                  <a:lnTo>
                    <a:pt x="1263813" y="0"/>
                  </a:lnTo>
                  <a:cubicBezTo>
                    <a:pt x="1279199" y="0"/>
                    <a:pt x="1291671" y="12472"/>
                    <a:pt x="1291671" y="27858"/>
                  </a:cubicBezTo>
                  <a:lnTo>
                    <a:pt x="1291671" y="1234394"/>
                  </a:lnTo>
                  <a:cubicBezTo>
                    <a:pt x="1291671" y="1249779"/>
                    <a:pt x="1279199" y="1262251"/>
                    <a:pt x="1263813" y="1262251"/>
                  </a:cubicBezTo>
                  <a:lnTo>
                    <a:pt x="27858" y="1262251"/>
                  </a:lnTo>
                  <a:cubicBezTo>
                    <a:pt x="12472" y="1262251"/>
                    <a:pt x="0" y="1249779"/>
                    <a:pt x="0" y="1234394"/>
                  </a:cubicBezTo>
                  <a:lnTo>
                    <a:pt x="0" y="27858"/>
                  </a:lnTo>
                  <a:cubicBezTo>
                    <a:pt x="0" y="12472"/>
                    <a:pt x="12472" y="0"/>
                    <a:pt x="2785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3" r="0" b="-33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396836" y="1692909"/>
            <a:ext cx="6748966" cy="218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9"/>
              </a:lnSpc>
            </a:pPr>
            <a:r>
              <a:rPr lang="en-US" b="true" sz="8493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96836" y="5365151"/>
            <a:ext cx="7223278" cy="389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2"/>
              </a:lnSpc>
            </a:pPr>
            <a:r>
              <a:rPr lang="en-US" sz="2223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Passenger distribution varies significantly across routes, revealing high-demand corridors</a:t>
            </a:r>
          </a:p>
          <a:p>
            <a:pPr algn="l" marL="0" indent="0" lvl="0">
              <a:lnSpc>
                <a:spcPts val="3112"/>
              </a:lnSpc>
            </a:pPr>
            <a:r>
              <a:rPr lang="en-US" sz="2223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A small subset of routes accounts for the majority of total trip counts</a:t>
            </a:r>
          </a:p>
          <a:p>
            <a:pPr algn="l" marL="0" indent="0" lvl="0">
              <a:lnSpc>
                <a:spcPts val="3112"/>
              </a:lnSpc>
            </a:pPr>
            <a:r>
              <a:rPr lang="en-US" sz="2223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Stop count per route influences passenger load and service frequency</a:t>
            </a:r>
          </a:p>
          <a:p>
            <a:pPr algn="l" marL="0" indent="0" lvl="0">
              <a:lnSpc>
                <a:spcPts val="3112"/>
              </a:lnSpc>
            </a:pPr>
            <a:r>
              <a:rPr lang="en-US" sz="2223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Direction ID analysis highlights asymmetric ridership patterns (inbound vs. outbound)</a:t>
            </a:r>
          </a:p>
          <a:p>
            <a:pPr algn="l" marL="0" indent="0" lvl="0">
              <a:lnSpc>
                <a:spcPts val="3112"/>
              </a:lnSpc>
            </a:pPr>
            <a:r>
              <a:rPr lang="en-US" sz="2223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• Certain routes show consistently low activity, indicating optimization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DAHU0ivDMy8</dc:identifier>
  <dcterms:modified xsi:type="dcterms:W3CDTF">2011-08-01T06:04:30Z</dcterms:modified>
  <cp:revision>1</cp:revision>
  <dc:title>Milestone 1</dc:title>
</cp:coreProperties>
</file>