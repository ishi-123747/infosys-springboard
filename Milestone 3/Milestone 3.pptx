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DM Sans Bold" charset="1" panose="00000000000000000000"/>
      <p:regular r:id="rId16"/>
    </p:embeddedFont>
    <p:embeddedFont>
      <p:font typeface="Agrandir Bold" charset="1" panose="00000800000000000000"/>
      <p:regular r:id="rId17"/>
    </p:embeddedFont>
    <p:embeddedFont>
      <p:font typeface="DM Sans"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2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28.png" Type="http://schemas.openxmlformats.org/officeDocument/2006/relationships/image"/><Relationship Id="rId7" Target="../media/image29.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78890" y="3068057"/>
            <a:ext cx="629306" cy="4749482"/>
          </a:xfrm>
          <a:custGeom>
            <a:avLst/>
            <a:gdLst/>
            <a:ahLst/>
            <a:cxnLst/>
            <a:rect r="r" b="b" t="t" l="l"/>
            <a:pathLst>
              <a:path h="4749482" w="629306">
                <a:moveTo>
                  <a:pt x="0" y="0"/>
                </a:moveTo>
                <a:lnTo>
                  <a:pt x="629306" y="0"/>
                </a:lnTo>
                <a:lnTo>
                  <a:pt x="629306" y="4749482"/>
                </a:lnTo>
                <a:lnTo>
                  <a:pt x="0" y="4749482"/>
                </a:lnTo>
                <a:lnTo>
                  <a:pt x="0" y="0"/>
                </a:lnTo>
                <a:close/>
              </a:path>
            </a:pathLst>
          </a:custGeom>
          <a:blipFill>
            <a:blip r:embed="rId2"/>
            <a:stretch>
              <a:fillRect l="0" t="0" r="0" b="0"/>
            </a:stretch>
          </a:blipFill>
        </p:spPr>
      </p:sp>
      <p:sp>
        <p:nvSpPr>
          <p:cNvPr name="Freeform 9" id="9"/>
          <p:cNvSpPr/>
          <p:nvPr/>
        </p:nvSpPr>
        <p:spPr>
          <a:xfrm flipH="false" flipV="false" rot="0">
            <a:off x="14484787" y="8103440"/>
            <a:ext cx="5045482" cy="3166040"/>
          </a:xfrm>
          <a:custGeom>
            <a:avLst/>
            <a:gdLst/>
            <a:ahLst/>
            <a:cxnLst/>
            <a:rect r="r" b="b" t="t" l="l"/>
            <a:pathLst>
              <a:path h="3166040" w="5045482">
                <a:moveTo>
                  <a:pt x="0" y="0"/>
                </a:moveTo>
                <a:lnTo>
                  <a:pt x="5045482" y="0"/>
                </a:lnTo>
                <a:lnTo>
                  <a:pt x="5045482" y="3166039"/>
                </a:lnTo>
                <a:lnTo>
                  <a:pt x="0" y="3166039"/>
                </a:lnTo>
                <a:lnTo>
                  <a:pt x="0" y="0"/>
                </a:lnTo>
                <a:close/>
              </a:path>
            </a:pathLst>
          </a:custGeom>
          <a:blipFill>
            <a:blip r:embed="rId3"/>
            <a:stretch>
              <a:fillRect l="0" t="0" r="0" b="0"/>
            </a:stretch>
          </a:blipFill>
        </p:spPr>
      </p:sp>
      <p:sp>
        <p:nvSpPr>
          <p:cNvPr name="Freeform 10" id="10"/>
          <p:cNvSpPr/>
          <p:nvPr/>
        </p:nvSpPr>
        <p:spPr>
          <a:xfrm flipH="false" flipV="false" rot="0">
            <a:off x="14366548" y="-838410"/>
            <a:ext cx="4522194" cy="4324468"/>
          </a:xfrm>
          <a:custGeom>
            <a:avLst/>
            <a:gdLst/>
            <a:ahLst/>
            <a:cxnLst/>
            <a:rect r="r" b="b" t="t" l="l"/>
            <a:pathLst>
              <a:path h="4324468" w="4522194">
                <a:moveTo>
                  <a:pt x="0" y="0"/>
                </a:moveTo>
                <a:lnTo>
                  <a:pt x="4522194" y="0"/>
                </a:lnTo>
                <a:lnTo>
                  <a:pt x="4522194" y="4324468"/>
                </a:lnTo>
                <a:lnTo>
                  <a:pt x="0" y="4324468"/>
                </a:lnTo>
                <a:lnTo>
                  <a:pt x="0" y="0"/>
                </a:lnTo>
                <a:close/>
              </a:path>
            </a:pathLst>
          </a:custGeom>
          <a:blipFill>
            <a:blip r:embed="rId4"/>
            <a:stretch>
              <a:fillRect l="0" t="0" r="0" b="0"/>
            </a:stretch>
          </a:blipFill>
        </p:spPr>
      </p:sp>
      <p:sp>
        <p:nvSpPr>
          <p:cNvPr name="Freeform 11" id="11"/>
          <p:cNvSpPr/>
          <p:nvPr/>
        </p:nvSpPr>
        <p:spPr>
          <a:xfrm flipH="false" flipV="false" rot="0">
            <a:off x="-1745555" y="2528152"/>
            <a:ext cx="3473851" cy="5536018"/>
          </a:xfrm>
          <a:custGeom>
            <a:avLst/>
            <a:gdLst/>
            <a:ahLst/>
            <a:cxnLst/>
            <a:rect r="r" b="b" t="t" l="l"/>
            <a:pathLst>
              <a:path h="5536018" w="3473851">
                <a:moveTo>
                  <a:pt x="0" y="0"/>
                </a:moveTo>
                <a:lnTo>
                  <a:pt x="3473852" y="0"/>
                </a:lnTo>
                <a:lnTo>
                  <a:pt x="3473852" y="5536018"/>
                </a:lnTo>
                <a:lnTo>
                  <a:pt x="0" y="5536018"/>
                </a:lnTo>
                <a:lnTo>
                  <a:pt x="0" y="0"/>
                </a:lnTo>
                <a:close/>
              </a:path>
            </a:pathLst>
          </a:custGeom>
          <a:blipFill>
            <a:blip r:embed="rId5"/>
            <a:stretch>
              <a:fillRect l="0" t="0" r="0" b="0"/>
            </a:stretch>
          </a:blipFill>
        </p:spPr>
      </p:sp>
      <p:sp>
        <p:nvSpPr>
          <p:cNvPr name="TextBox 12" id="12"/>
          <p:cNvSpPr txBox="true"/>
          <p:nvPr/>
        </p:nvSpPr>
        <p:spPr>
          <a:xfrm rot="0">
            <a:off x="3912036" y="2694003"/>
            <a:ext cx="10492502" cy="1485825"/>
          </a:xfrm>
          <a:prstGeom prst="rect">
            <a:avLst/>
          </a:prstGeom>
        </p:spPr>
        <p:txBody>
          <a:bodyPr anchor="t" rtlCol="false" tIns="0" lIns="0" bIns="0" rIns="0">
            <a:spAutoFit/>
          </a:bodyPr>
          <a:lstStyle/>
          <a:p>
            <a:pPr algn="ctr" marL="0" indent="0" lvl="0">
              <a:lnSpc>
                <a:spcPts val="5548"/>
              </a:lnSpc>
            </a:pPr>
            <a:r>
              <a:rPr lang="en-US" b="true" sz="6936" spc="-305">
                <a:solidFill>
                  <a:srgbClr val="000000"/>
                </a:solidFill>
                <a:latin typeface="DM Sans Bold"/>
                <a:ea typeface="DM Sans Bold"/>
                <a:cs typeface="DM Sans Bold"/>
                <a:sym typeface="DM Sans Bold"/>
              </a:rPr>
              <a:t>Bengaluru Transport</a:t>
            </a:r>
          </a:p>
          <a:p>
            <a:pPr algn="ctr" marL="0" indent="0" lvl="0">
              <a:lnSpc>
                <a:spcPts val="5548"/>
              </a:lnSpc>
            </a:pPr>
            <a:r>
              <a:rPr lang="en-US" b="true" sz="6936" spc="-305">
                <a:solidFill>
                  <a:srgbClr val="000000"/>
                </a:solidFill>
                <a:latin typeface="DM Sans Bold"/>
                <a:ea typeface="DM Sans Bold"/>
                <a:cs typeface="DM Sans Bold"/>
                <a:sym typeface="DM Sans Bold"/>
              </a:rPr>
              <a:t>Demand Prediction</a:t>
            </a:r>
          </a:p>
        </p:txBody>
      </p:sp>
      <p:sp>
        <p:nvSpPr>
          <p:cNvPr name="TextBox 13" id="13"/>
          <p:cNvSpPr txBox="true"/>
          <p:nvPr/>
        </p:nvSpPr>
        <p:spPr>
          <a:xfrm rot="0">
            <a:off x="2447114" y="4361270"/>
            <a:ext cx="13393773" cy="2438312"/>
          </a:xfrm>
          <a:prstGeom prst="rect">
            <a:avLst/>
          </a:prstGeom>
        </p:spPr>
        <p:txBody>
          <a:bodyPr anchor="t" rtlCol="false" tIns="0" lIns="0" bIns="0" rIns="0">
            <a:spAutoFit/>
          </a:bodyPr>
          <a:lstStyle/>
          <a:p>
            <a:pPr algn="ctr" marL="0" indent="0" lvl="0">
              <a:lnSpc>
                <a:spcPts val="13648"/>
              </a:lnSpc>
            </a:pPr>
            <a:r>
              <a:rPr lang="en-US" b="true" sz="17060" spc="-750">
                <a:solidFill>
                  <a:srgbClr val="000000"/>
                </a:solidFill>
                <a:latin typeface="Agrandir Bold"/>
                <a:ea typeface="Agrandir Bold"/>
                <a:cs typeface="Agrandir Bold"/>
                <a:sym typeface="Agrandir Bold"/>
              </a:rPr>
              <a:t>MILESTONE 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7554" y="3297290"/>
            <a:ext cx="688107" cy="4334529"/>
          </a:xfrm>
          <a:custGeom>
            <a:avLst/>
            <a:gdLst/>
            <a:ahLst/>
            <a:cxnLst/>
            <a:rect r="r" b="b" t="t" l="l"/>
            <a:pathLst>
              <a:path h="4334529" w="688107">
                <a:moveTo>
                  <a:pt x="0" y="0"/>
                </a:moveTo>
                <a:lnTo>
                  <a:pt x="688107" y="0"/>
                </a:lnTo>
                <a:lnTo>
                  <a:pt x="688107" y="4334529"/>
                </a:lnTo>
                <a:lnTo>
                  <a:pt x="0" y="4334529"/>
                </a:lnTo>
                <a:lnTo>
                  <a:pt x="0" y="0"/>
                </a:lnTo>
                <a:close/>
              </a:path>
            </a:pathLst>
          </a:custGeom>
          <a:blipFill>
            <a:blip r:embed="rId2"/>
            <a:stretch>
              <a:fillRect l="0" t="0" r="0" b="0"/>
            </a:stretch>
          </a:blipFill>
        </p:spPr>
      </p:sp>
      <p:sp>
        <p:nvSpPr>
          <p:cNvPr name="Freeform 9" id="9"/>
          <p:cNvSpPr/>
          <p:nvPr/>
        </p:nvSpPr>
        <p:spPr>
          <a:xfrm flipH="false" flipV="false" rot="0">
            <a:off x="14591677" y="8160388"/>
            <a:ext cx="5092150" cy="3087116"/>
          </a:xfrm>
          <a:custGeom>
            <a:avLst/>
            <a:gdLst/>
            <a:ahLst/>
            <a:cxnLst/>
            <a:rect r="r" b="b" t="t" l="l"/>
            <a:pathLst>
              <a:path h="3087116" w="5092150">
                <a:moveTo>
                  <a:pt x="0" y="0"/>
                </a:moveTo>
                <a:lnTo>
                  <a:pt x="5092150" y="0"/>
                </a:lnTo>
                <a:lnTo>
                  <a:pt x="5092150" y="3087116"/>
                </a:lnTo>
                <a:lnTo>
                  <a:pt x="0" y="3087116"/>
                </a:lnTo>
                <a:lnTo>
                  <a:pt x="0" y="0"/>
                </a:lnTo>
                <a:close/>
              </a:path>
            </a:pathLst>
          </a:custGeom>
          <a:blipFill>
            <a:blip r:embed="rId3"/>
            <a:stretch>
              <a:fillRect l="0" t="0" r="0" b="0"/>
            </a:stretch>
          </a:blipFill>
        </p:spPr>
      </p:sp>
      <p:sp>
        <p:nvSpPr>
          <p:cNvPr name="Freeform 10" id="10"/>
          <p:cNvSpPr/>
          <p:nvPr/>
        </p:nvSpPr>
        <p:spPr>
          <a:xfrm flipH="false" flipV="false" rot="0">
            <a:off x="14180659" y="-599929"/>
            <a:ext cx="5183155" cy="3064541"/>
          </a:xfrm>
          <a:custGeom>
            <a:avLst/>
            <a:gdLst/>
            <a:ahLst/>
            <a:cxnLst/>
            <a:rect r="r" b="b" t="t" l="l"/>
            <a:pathLst>
              <a:path h="3064541" w="5183155">
                <a:moveTo>
                  <a:pt x="0" y="0"/>
                </a:moveTo>
                <a:lnTo>
                  <a:pt x="5183155" y="0"/>
                </a:lnTo>
                <a:lnTo>
                  <a:pt x="5183155" y="3064541"/>
                </a:lnTo>
                <a:lnTo>
                  <a:pt x="0" y="3064541"/>
                </a:lnTo>
                <a:lnTo>
                  <a:pt x="0" y="0"/>
                </a:lnTo>
                <a:close/>
              </a:path>
            </a:pathLst>
          </a:custGeom>
          <a:blipFill>
            <a:blip r:embed="rId4"/>
            <a:stretch>
              <a:fillRect l="0" t="0" r="0" b="0"/>
            </a:stretch>
          </a:blipFill>
        </p:spPr>
      </p:sp>
      <p:sp>
        <p:nvSpPr>
          <p:cNvPr name="TextBox 11" id="11"/>
          <p:cNvSpPr txBox="true"/>
          <p:nvPr/>
        </p:nvSpPr>
        <p:spPr>
          <a:xfrm rot="0">
            <a:off x="4995148" y="1688841"/>
            <a:ext cx="8297704" cy="1349087"/>
          </a:xfrm>
          <a:prstGeom prst="rect">
            <a:avLst/>
          </a:prstGeom>
        </p:spPr>
        <p:txBody>
          <a:bodyPr anchor="t" rtlCol="false" tIns="0" lIns="0" bIns="0" rIns="0">
            <a:spAutoFit/>
          </a:bodyPr>
          <a:lstStyle/>
          <a:p>
            <a:pPr algn="ctr" marL="0" indent="0" lvl="0">
              <a:lnSpc>
                <a:spcPts val="7595"/>
              </a:lnSpc>
            </a:pPr>
            <a:r>
              <a:rPr lang="en-US" b="true" sz="9494" spc="-417">
                <a:solidFill>
                  <a:srgbClr val="000000"/>
                </a:solidFill>
                <a:latin typeface="Agrandir Bold"/>
                <a:ea typeface="Agrandir Bold"/>
                <a:cs typeface="Agrandir Bold"/>
                <a:sym typeface="Agrandir Bold"/>
              </a:rPr>
              <a:t>Introduction</a:t>
            </a:r>
          </a:p>
        </p:txBody>
      </p:sp>
      <p:sp>
        <p:nvSpPr>
          <p:cNvPr name="TextBox 12" id="12"/>
          <p:cNvSpPr txBox="true"/>
          <p:nvPr/>
        </p:nvSpPr>
        <p:spPr>
          <a:xfrm rot="0">
            <a:off x="3461492" y="6203065"/>
            <a:ext cx="11365016" cy="1773169"/>
          </a:xfrm>
          <a:prstGeom prst="rect">
            <a:avLst/>
          </a:prstGeom>
        </p:spPr>
        <p:txBody>
          <a:bodyPr anchor="t" rtlCol="false" tIns="0" lIns="0" bIns="0" rIns="0">
            <a:spAutoFit/>
          </a:bodyPr>
          <a:lstStyle/>
          <a:p>
            <a:pPr algn="just" marL="0" indent="0" lvl="0">
              <a:lnSpc>
                <a:spcPts val="3591"/>
              </a:lnSpc>
            </a:pPr>
            <a:r>
              <a:rPr lang="en-US" sz="2565" spc="-87">
                <a:solidFill>
                  <a:srgbClr val="000000"/>
                </a:solidFill>
                <a:latin typeface="DM Sans"/>
                <a:ea typeface="DM Sans"/>
                <a:cs typeface="DM Sans"/>
                <a:sym typeface="DM Sans"/>
              </a:rPr>
              <a:t>Without accurate demand forecasting, transit authorities struggle to allocate resources effectively — leading to overcrowded routes, underutilized buses, and poor service quality. Predictive analytics enables proactive scheduling, optimized routing, and improved passenger experience across the city's bus network.</a:t>
            </a:r>
          </a:p>
        </p:txBody>
      </p:sp>
      <p:sp>
        <p:nvSpPr>
          <p:cNvPr name="TextBox 13" id="13"/>
          <p:cNvSpPr txBox="true"/>
          <p:nvPr/>
        </p:nvSpPr>
        <p:spPr>
          <a:xfrm rot="0">
            <a:off x="3468636" y="4030949"/>
            <a:ext cx="11357873" cy="1773169"/>
          </a:xfrm>
          <a:prstGeom prst="rect">
            <a:avLst/>
          </a:prstGeom>
        </p:spPr>
        <p:txBody>
          <a:bodyPr anchor="t" rtlCol="false" tIns="0" lIns="0" bIns="0" rIns="0">
            <a:spAutoFit/>
          </a:bodyPr>
          <a:lstStyle/>
          <a:p>
            <a:pPr algn="just" marL="0" indent="0" lvl="0">
              <a:lnSpc>
                <a:spcPts val="3591"/>
              </a:lnSpc>
            </a:pPr>
            <a:r>
              <a:rPr lang="en-US" sz="2565" spc="-87">
                <a:solidFill>
                  <a:srgbClr val="000000"/>
                </a:solidFill>
                <a:latin typeface="DM Sans"/>
                <a:ea typeface="DM Sans"/>
                <a:cs typeface="DM Sans"/>
                <a:sym typeface="DM Sans"/>
              </a:rPr>
              <a:t>Bengaluru, one of India's fastest-growing cities, faces escalating public transport challenges. Rapid urbanization, rising commuter volumes, and unpredictable peak-hour congestion demand smarter, data-driven transit planning to ensure efficiency and reliability.</a:t>
            </a:r>
          </a:p>
        </p:txBody>
      </p:sp>
      <p:sp>
        <p:nvSpPr>
          <p:cNvPr name="Freeform 14" id="14"/>
          <p:cNvSpPr/>
          <p:nvPr/>
        </p:nvSpPr>
        <p:spPr>
          <a:xfrm flipH="false" flipV="false" rot="0">
            <a:off x="-1730124" y="3312592"/>
            <a:ext cx="2911017" cy="4785808"/>
          </a:xfrm>
          <a:custGeom>
            <a:avLst/>
            <a:gdLst/>
            <a:ahLst/>
            <a:cxnLst/>
            <a:rect r="r" b="b" t="t" l="l"/>
            <a:pathLst>
              <a:path h="4785808" w="2911017">
                <a:moveTo>
                  <a:pt x="0" y="0"/>
                </a:moveTo>
                <a:lnTo>
                  <a:pt x="2911017" y="0"/>
                </a:lnTo>
                <a:lnTo>
                  <a:pt x="2911017" y="4785809"/>
                </a:lnTo>
                <a:lnTo>
                  <a:pt x="0" y="4785809"/>
                </a:lnTo>
                <a:lnTo>
                  <a:pt x="0" y="0"/>
                </a:lnTo>
                <a:close/>
              </a:path>
            </a:pathLst>
          </a:custGeom>
          <a:blipFill>
            <a:blip r:embed="rId5"/>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60266"/>
            <a:ext cx="8297704" cy="1035375"/>
          </a:xfrm>
          <a:prstGeom prst="rect">
            <a:avLst/>
          </a:prstGeom>
        </p:spPr>
        <p:txBody>
          <a:bodyPr anchor="t" rtlCol="false" tIns="0" lIns="0" bIns="0" rIns="0">
            <a:spAutoFit/>
          </a:bodyPr>
          <a:lstStyle/>
          <a:p>
            <a:pPr algn="ctr" marL="0" indent="0" lvl="0">
              <a:lnSpc>
                <a:spcPts val="5805"/>
              </a:lnSpc>
            </a:pPr>
            <a:r>
              <a:rPr lang="en-US" b="true" sz="7256" spc="-319">
                <a:solidFill>
                  <a:srgbClr val="000000"/>
                </a:solidFill>
                <a:latin typeface="Agrandir Bold"/>
                <a:ea typeface="Agrandir Bold"/>
                <a:cs typeface="Agrandir Bold"/>
                <a:sym typeface="Agrandir Bold"/>
              </a:rPr>
              <a:t>Problem Statement</a:t>
            </a:r>
          </a:p>
        </p:txBody>
      </p:sp>
      <p:sp>
        <p:nvSpPr>
          <p:cNvPr name="TextBox 12" id="12"/>
          <p:cNvSpPr txBox="true"/>
          <p:nvPr/>
        </p:nvSpPr>
        <p:spPr>
          <a:xfrm rot="0">
            <a:off x="3669977" y="6085860"/>
            <a:ext cx="10948045" cy="1098425"/>
          </a:xfrm>
          <a:prstGeom prst="rect">
            <a:avLst/>
          </a:prstGeom>
        </p:spPr>
        <p:txBody>
          <a:bodyPr anchor="t" rtlCol="false" tIns="0" lIns="0" bIns="0" rIns="0">
            <a:spAutoFit/>
          </a:bodyPr>
          <a:lstStyle/>
          <a:p>
            <a:pPr algn="just" marL="0" indent="0" lvl="0">
              <a:lnSpc>
                <a:spcPts val="2981"/>
              </a:lnSpc>
            </a:pPr>
            <a:r>
              <a:rPr lang="en-US" sz="2129" spc="-72">
                <a:solidFill>
                  <a:srgbClr val="000000"/>
                </a:solidFill>
                <a:latin typeface="DM Sans"/>
                <a:ea typeface="DM Sans"/>
                <a:cs typeface="DM Sans"/>
                <a:sym typeface="DM Sans"/>
              </a:rPr>
              <a:t>The core challenge lies in predicting future passenger demand at the route and stop level, identifying peak-hour surges, and enabling data-driven decisions for capacity planning, fleet allocation, and route optimization across Bengaluru's dynamic urban transport network.</a:t>
            </a:r>
          </a:p>
        </p:txBody>
      </p:sp>
      <p:sp>
        <p:nvSpPr>
          <p:cNvPr name="TextBox 13" id="13"/>
          <p:cNvSpPr txBox="true"/>
          <p:nvPr/>
        </p:nvSpPr>
        <p:spPr>
          <a:xfrm rot="0">
            <a:off x="3632763" y="4243339"/>
            <a:ext cx="11022474" cy="1469900"/>
          </a:xfrm>
          <a:prstGeom prst="rect">
            <a:avLst/>
          </a:prstGeom>
        </p:spPr>
        <p:txBody>
          <a:bodyPr anchor="t" rtlCol="false" tIns="0" lIns="0" bIns="0" rIns="0">
            <a:spAutoFit/>
          </a:bodyPr>
          <a:lstStyle/>
          <a:p>
            <a:pPr algn="just" marL="0" indent="0" lvl="0">
              <a:lnSpc>
                <a:spcPts val="2981"/>
              </a:lnSpc>
            </a:pPr>
            <a:r>
              <a:rPr lang="en-US" sz="2129" spc="-72">
                <a:solidFill>
                  <a:srgbClr val="000000"/>
                </a:solidFill>
                <a:latin typeface="DM Sans"/>
                <a:ea typeface="DM Sans"/>
                <a:cs typeface="DM Sans"/>
                <a:sym typeface="DM Sans"/>
              </a:rPr>
              <a:t>Bengaluru's public transport network spans thousands of routes and millions of daily commuters. Without accurate demand forecasting, transit authorities struggle to anticipate passenger volumes across routes and time periods — leading to overcrowded buses, underutilized services, and inefficient scheduling.</a:t>
            </a:r>
          </a:p>
        </p:txBody>
      </p:sp>
      <p:sp>
        <p:nvSpPr>
          <p:cNvPr name="Freeform 14" id="14"/>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4995148" y="1688841"/>
            <a:ext cx="8297704" cy="1349087"/>
          </a:xfrm>
          <a:prstGeom prst="rect">
            <a:avLst/>
          </a:prstGeom>
        </p:spPr>
        <p:txBody>
          <a:bodyPr anchor="t" rtlCol="false" tIns="0" lIns="0" bIns="0" rIns="0">
            <a:spAutoFit/>
          </a:bodyPr>
          <a:lstStyle/>
          <a:p>
            <a:pPr algn="ctr" marL="0" indent="0" lvl="0">
              <a:lnSpc>
                <a:spcPts val="7595"/>
              </a:lnSpc>
            </a:pPr>
            <a:r>
              <a:rPr lang="en-US" b="true" sz="9494" spc="-417">
                <a:solidFill>
                  <a:srgbClr val="000000"/>
                </a:solidFill>
                <a:latin typeface="Agrandir Bold"/>
                <a:ea typeface="Agrandir Bold"/>
                <a:cs typeface="Agrandir Bold"/>
                <a:sym typeface="Agrandir Bold"/>
              </a:rPr>
              <a:t>Objectives</a:t>
            </a:r>
          </a:p>
        </p:txBody>
      </p:sp>
      <p:sp>
        <p:nvSpPr>
          <p:cNvPr name="Freeform 12" id="1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3" id="13"/>
          <p:cNvSpPr txBox="true"/>
          <p:nvPr/>
        </p:nvSpPr>
        <p:spPr>
          <a:xfrm rot="0">
            <a:off x="2821635" y="4413677"/>
            <a:ext cx="2912953" cy="359475"/>
          </a:xfrm>
          <a:prstGeom prst="rect">
            <a:avLst/>
          </a:prstGeom>
        </p:spPr>
        <p:txBody>
          <a:bodyPr anchor="t" rtlCol="false" tIns="0" lIns="0" bIns="0" rIns="0">
            <a:spAutoFit/>
          </a:bodyPr>
          <a:lstStyle/>
          <a:p>
            <a:pPr algn="l" marL="0" indent="0" lvl="0">
              <a:lnSpc>
                <a:spcPts val="2511"/>
              </a:lnSpc>
            </a:pPr>
            <a:r>
              <a:rPr lang="en-US" b="true" sz="3138" spc="-138">
                <a:solidFill>
                  <a:srgbClr val="000000"/>
                </a:solidFill>
                <a:latin typeface="DM Sans Bold"/>
                <a:ea typeface="DM Sans Bold"/>
                <a:cs typeface="DM Sans Bold"/>
                <a:sym typeface="DM Sans Bold"/>
              </a:rPr>
              <a:t>Prediction Goals</a:t>
            </a:r>
          </a:p>
        </p:txBody>
      </p:sp>
      <p:sp>
        <p:nvSpPr>
          <p:cNvPr name="TextBox 14" id="14"/>
          <p:cNvSpPr txBox="true"/>
          <p:nvPr/>
        </p:nvSpPr>
        <p:spPr>
          <a:xfrm rot="0">
            <a:off x="10181500" y="4413677"/>
            <a:ext cx="2990833" cy="359475"/>
          </a:xfrm>
          <a:prstGeom prst="rect">
            <a:avLst/>
          </a:prstGeom>
        </p:spPr>
        <p:txBody>
          <a:bodyPr anchor="t" rtlCol="false" tIns="0" lIns="0" bIns="0" rIns="0">
            <a:spAutoFit/>
          </a:bodyPr>
          <a:lstStyle/>
          <a:p>
            <a:pPr algn="l" marL="0" indent="0" lvl="0">
              <a:lnSpc>
                <a:spcPts val="2511"/>
              </a:lnSpc>
            </a:pPr>
            <a:r>
              <a:rPr lang="en-US" b="true" sz="3138" spc="-138">
                <a:solidFill>
                  <a:srgbClr val="000000"/>
                </a:solidFill>
                <a:latin typeface="DM Sans Bold"/>
                <a:ea typeface="DM Sans Bold"/>
                <a:cs typeface="DM Sans Bold"/>
                <a:sym typeface="DM Sans Bold"/>
              </a:rPr>
              <a:t>Planning Goals</a:t>
            </a:r>
          </a:p>
        </p:txBody>
      </p:sp>
      <p:sp>
        <p:nvSpPr>
          <p:cNvPr name="TextBox 15" id="15"/>
          <p:cNvSpPr txBox="true"/>
          <p:nvPr/>
        </p:nvSpPr>
        <p:spPr>
          <a:xfrm rot="0">
            <a:off x="10181500" y="5095875"/>
            <a:ext cx="5284865" cy="2836582"/>
          </a:xfrm>
          <a:prstGeom prst="rect">
            <a:avLst/>
          </a:prstGeom>
        </p:spPr>
        <p:txBody>
          <a:bodyPr anchor="t" rtlCol="false" tIns="0" lIns="0" bIns="0" rIns="0">
            <a:spAutoFit/>
          </a:bodyPr>
          <a:lstStyle/>
          <a:p>
            <a:pPr algn="just" marL="0" indent="0" lvl="0">
              <a:lnSpc>
                <a:spcPts val="3777"/>
              </a:lnSpc>
            </a:pPr>
            <a:r>
              <a:rPr lang="en-US" sz="2698" spc="-91">
                <a:solidFill>
                  <a:srgbClr val="000000"/>
                </a:solidFill>
                <a:latin typeface="DM Sans"/>
                <a:ea typeface="DM Sans"/>
                <a:cs typeface="DM Sans"/>
                <a:sym typeface="DM Sans"/>
              </a:rPr>
              <a:t>Optimize route planning based on demand forecasts. Enable smarter allocation of buses to high-demand corridors and support long-term public transport network expansion strategies.</a:t>
            </a:r>
          </a:p>
        </p:txBody>
      </p:sp>
      <p:sp>
        <p:nvSpPr>
          <p:cNvPr name="TextBox 16" id="16"/>
          <p:cNvSpPr txBox="true"/>
          <p:nvPr/>
        </p:nvSpPr>
        <p:spPr>
          <a:xfrm rot="0">
            <a:off x="2821635" y="5095875"/>
            <a:ext cx="5284865" cy="2836582"/>
          </a:xfrm>
          <a:prstGeom prst="rect">
            <a:avLst/>
          </a:prstGeom>
        </p:spPr>
        <p:txBody>
          <a:bodyPr anchor="t" rtlCol="false" tIns="0" lIns="0" bIns="0" rIns="0">
            <a:spAutoFit/>
          </a:bodyPr>
          <a:lstStyle/>
          <a:p>
            <a:pPr algn="just" marL="0" indent="0" lvl="0">
              <a:lnSpc>
                <a:spcPts val="3777"/>
              </a:lnSpc>
            </a:pPr>
            <a:r>
              <a:rPr lang="en-US" sz="2698" spc="-91">
                <a:solidFill>
                  <a:srgbClr val="000000"/>
                </a:solidFill>
                <a:latin typeface="DM Sans"/>
                <a:ea typeface="DM Sans"/>
                <a:cs typeface="DM Sans"/>
                <a:sym typeface="DM Sans"/>
              </a:rPr>
              <a:t>Predict future passenger demand across Bengaluru bus routes using historical trip and stop data. Identify peak-hour periods to enable data-driven operational decisions and improve service reliability.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2350658" y="3533767"/>
            <a:ext cx="13586683" cy="986486"/>
            <a:chOff x="0" y="0"/>
            <a:chExt cx="3578386" cy="259815"/>
          </a:xfrm>
        </p:grpSpPr>
        <p:sp>
          <p:nvSpPr>
            <p:cNvPr name="Freeform 12" id="12"/>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3" id="13"/>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14" id="14"/>
          <p:cNvSpPr txBox="true"/>
          <p:nvPr/>
        </p:nvSpPr>
        <p:spPr>
          <a:xfrm rot="0">
            <a:off x="2907324" y="3405547"/>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Route Data</a:t>
            </a:r>
          </a:p>
        </p:txBody>
      </p:sp>
      <p:grpSp>
        <p:nvGrpSpPr>
          <p:cNvPr name="Group 15" id="15"/>
          <p:cNvGrpSpPr/>
          <p:nvPr/>
        </p:nvGrpSpPr>
        <p:grpSpPr>
          <a:xfrm rot="0">
            <a:off x="2350658" y="4684847"/>
            <a:ext cx="13586683" cy="986486"/>
            <a:chOff x="0" y="0"/>
            <a:chExt cx="3578386" cy="259815"/>
          </a:xfrm>
        </p:grpSpPr>
        <p:sp>
          <p:nvSpPr>
            <p:cNvPr name="Freeform 16" id="16"/>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17" id="17"/>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18" id="18"/>
          <p:cNvSpPr txBox="true"/>
          <p:nvPr/>
        </p:nvSpPr>
        <p:spPr>
          <a:xfrm rot="0">
            <a:off x="2907324" y="4569053"/>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Passenger Counts</a:t>
            </a:r>
          </a:p>
        </p:txBody>
      </p:sp>
      <p:grpSp>
        <p:nvGrpSpPr>
          <p:cNvPr name="Group 19" id="19"/>
          <p:cNvGrpSpPr/>
          <p:nvPr/>
        </p:nvGrpSpPr>
        <p:grpSpPr>
          <a:xfrm rot="0">
            <a:off x="2364946" y="5833258"/>
            <a:ext cx="13586683" cy="986486"/>
            <a:chOff x="0" y="0"/>
            <a:chExt cx="3578386" cy="259815"/>
          </a:xfrm>
        </p:grpSpPr>
        <p:sp>
          <p:nvSpPr>
            <p:cNvPr name="Freeform 20" id="20"/>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21" id="21"/>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22" id="22"/>
          <p:cNvSpPr txBox="true"/>
          <p:nvPr/>
        </p:nvSpPr>
        <p:spPr>
          <a:xfrm rot="0">
            <a:off x="2907324" y="5732560"/>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Trip Records</a:t>
            </a:r>
          </a:p>
        </p:txBody>
      </p:sp>
      <p:grpSp>
        <p:nvGrpSpPr>
          <p:cNvPr name="Group 23" id="23"/>
          <p:cNvGrpSpPr/>
          <p:nvPr/>
        </p:nvGrpSpPr>
        <p:grpSpPr>
          <a:xfrm rot="0">
            <a:off x="2364946" y="6981669"/>
            <a:ext cx="13586683" cy="986486"/>
            <a:chOff x="0" y="0"/>
            <a:chExt cx="3578386" cy="259815"/>
          </a:xfrm>
        </p:grpSpPr>
        <p:sp>
          <p:nvSpPr>
            <p:cNvPr name="Freeform 24" id="24"/>
            <p:cNvSpPr/>
            <p:nvPr/>
          </p:nvSpPr>
          <p:spPr>
            <a:xfrm flipH="false" flipV="false" rot="0">
              <a:off x="0" y="0"/>
              <a:ext cx="3578386" cy="259815"/>
            </a:xfrm>
            <a:custGeom>
              <a:avLst/>
              <a:gdLst/>
              <a:ahLst/>
              <a:cxnLst/>
              <a:rect r="r" b="b" t="t" l="l"/>
              <a:pathLst>
                <a:path h="259815" w="3578386">
                  <a:moveTo>
                    <a:pt x="21083" y="0"/>
                  </a:moveTo>
                  <a:lnTo>
                    <a:pt x="3557303" y="0"/>
                  </a:lnTo>
                  <a:cubicBezTo>
                    <a:pt x="3568946" y="0"/>
                    <a:pt x="3578386" y="9439"/>
                    <a:pt x="3578386" y="21083"/>
                  </a:cubicBezTo>
                  <a:lnTo>
                    <a:pt x="3578386" y="238732"/>
                  </a:lnTo>
                  <a:cubicBezTo>
                    <a:pt x="3578386" y="250376"/>
                    <a:pt x="3568946" y="259815"/>
                    <a:pt x="3557303" y="259815"/>
                  </a:cubicBezTo>
                  <a:lnTo>
                    <a:pt x="21083" y="259815"/>
                  </a:lnTo>
                  <a:cubicBezTo>
                    <a:pt x="9439" y="259815"/>
                    <a:pt x="0" y="250376"/>
                    <a:pt x="0" y="238732"/>
                  </a:cubicBezTo>
                  <a:lnTo>
                    <a:pt x="0" y="21083"/>
                  </a:lnTo>
                  <a:cubicBezTo>
                    <a:pt x="0" y="9439"/>
                    <a:pt x="9439" y="0"/>
                    <a:pt x="21083" y="0"/>
                  </a:cubicBezTo>
                  <a:close/>
                </a:path>
              </a:pathLst>
            </a:custGeom>
            <a:solidFill>
              <a:srgbClr val="393939"/>
            </a:solidFill>
            <a:ln w="47625" cap="rnd">
              <a:solidFill>
                <a:srgbClr val="FDD56F"/>
              </a:solidFill>
              <a:prstDash val="solid"/>
              <a:round/>
            </a:ln>
          </p:spPr>
        </p:sp>
        <p:sp>
          <p:nvSpPr>
            <p:cNvPr name="TextBox 25" id="25"/>
            <p:cNvSpPr txBox="true"/>
            <p:nvPr/>
          </p:nvSpPr>
          <p:spPr>
            <a:xfrm>
              <a:off x="0" y="-38100"/>
              <a:ext cx="3578386" cy="297915"/>
            </a:xfrm>
            <a:prstGeom prst="rect">
              <a:avLst/>
            </a:prstGeom>
          </p:spPr>
          <p:txBody>
            <a:bodyPr anchor="ctr" rtlCol="false" tIns="50800" lIns="50800" bIns="50800" rIns="50800"/>
            <a:lstStyle/>
            <a:p>
              <a:pPr algn="ctr" marL="0" indent="0" lvl="0">
                <a:lnSpc>
                  <a:spcPts val="2659"/>
                </a:lnSpc>
              </a:pPr>
            </a:p>
          </p:txBody>
        </p:sp>
      </p:grpSp>
      <p:sp>
        <p:nvSpPr>
          <p:cNvPr name="TextBox 26" id="26"/>
          <p:cNvSpPr txBox="true"/>
          <p:nvPr/>
        </p:nvSpPr>
        <p:spPr>
          <a:xfrm rot="0">
            <a:off x="2907324" y="6896066"/>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Stop Information</a:t>
            </a:r>
          </a:p>
        </p:txBody>
      </p:sp>
      <p:sp>
        <p:nvSpPr>
          <p:cNvPr name="TextBox 27" id="27"/>
          <p:cNvSpPr txBox="true"/>
          <p:nvPr/>
        </p:nvSpPr>
        <p:spPr>
          <a:xfrm rot="0">
            <a:off x="10024900" y="3396022"/>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Travel Direction</a:t>
            </a:r>
          </a:p>
        </p:txBody>
      </p:sp>
      <p:sp>
        <p:nvSpPr>
          <p:cNvPr name="TextBox 28" id="28"/>
          <p:cNvSpPr txBox="true"/>
          <p:nvPr/>
        </p:nvSpPr>
        <p:spPr>
          <a:xfrm rot="0">
            <a:off x="9977275" y="4559528"/>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Date &amp; Time</a:t>
            </a:r>
          </a:p>
        </p:txBody>
      </p:sp>
      <p:sp>
        <p:nvSpPr>
          <p:cNvPr name="TextBox 29" id="29"/>
          <p:cNvSpPr txBox="true"/>
          <p:nvPr/>
        </p:nvSpPr>
        <p:spPr>
          <a:xfrm rot="0">
            <a:off x="9929650" y="5723035"/>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Temporal Attributes</a:t>
            </a:r>
          </a:p>
        </p:txBody>
      </p:sp>
      <p:sp>
        <p:nvSpPr>
          <p:cNvPr name="TextBox 30" id="30"/>
          <p:cNvSpPr txBox="true"/>
          <p:nvPr/>
        </p:nvSpPr>
        <p:spPr>
          <a:xfrm rot="0">
            <a:off x="9882025" y="6886541"/>
            <a:ext cx="5094018" cy="913563"/>
          </a:xfrm>
          <a:prstGeom prst="rect">
            <a:avLst/>
          </a:prstGeom>
        </p:spPr>
        <p:txBody>
          <a:bodyPr anchor="t" rtlCol="false" tIns="0" lIns="0" bIns="0" rIns="0">
            <a:spAutoFit/>
          </a:bodyPr>
          <a:lstStyle/>
          <a:p>
            <a:pPr algn="just" marL="0" indent="0" lvl="0">
              <a:lnSpc>
                <a:spcPts val="8078"/>
              </a:lnSpc>
            </a:pPr>
            <a:r>
              <a:rPr lang="en-US" sz="4039" spc="-137">
                <a:solidFill>
                  <a:srgbClr val="FFFFFF"/>
                </a:solidFill>
                <a:latin typeface="DM Sans"/>
                <a:ea typeface="DM Sans"/>
                <a:cs typeface="DM Sans"/>
                <a:sym typeface="DM Sans"/>
              </a:rPr>
              <a:t>Operational Data</a:t>
            </a:r>
          </a:p>
        </p:txBody>
      </p:sp>
      <p:sp>
        <p:nvSpPr>
          <p:cNvPr name="TextBox 31" id="31"/>
          <p:cNvSpPr txBox="true"/>
          <p:nvPr/>
        </p:nvSpPr>
        <p:spPr>
          <a:xfrm rot="0">
            <a:off x="5009436" y="1695385"/>
            <a:ext cx="8297704" cy="1349087"/>
          </a:xfrm>
          <a:prstGeom prst="rect">
            <a:avLst/>
          </a:prstGeom>
        </p:spPr>
        <p:txBody>
          <a:bodyPr anchor="t" rtlCol="false" tIns="0" lIns="0" bIns="0" rIns="0">
            <a:spAutoFit/>
          </a:bodyPr>
          <a:lstStyle/>
          <a:p>
            <a:pPr algn="ctr" marL="0" indent="0" lvl="0">
              <a:lnSpc>
                <a:spcPts val="7595"/>
              </a:lnSpc>
            </a:pPr>
            <a:r>
              <a:rPr lang="en-US" b="true" sz="9494" spc="-417">
                <a:solidFill>
                  <a:srgbClr val="000000"/>
                </a:solidFill>
                <a:latin typeface="Agrandir Bold"/>
                <a:ea typeface="Agrandir Bold"/>
                <a:cs typeface="Agrandir Bold"/>
                <a:sym typeface="Agrandir Bold"/>
              </a:rPr>
              <a:t>Dataset</a:t>
            </a:r>
          </a:p>
        </p:txBody>
      </p:sp>
      <p:sp>
        <p:nvSpPr>
          <p:cNvPr name="Freeform 32" id="32"/>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79027" y="2075287"/>
            <a:ext cx="639667" cy="6733336"/>
          </a:xfrm>
          <a:custGeom>
            <a:avLst/>
            <a:gdLst/>
            <a:ahLst/>
            <a:cxnLst/>
            <a:rect r="r" b="b" t="t" l="l"/>
            <a:pathLst>
              <a:path h="6733336" w="639667">
                <a:moveTo>
                  <a:pt x="0" y="0"/>
                </a:moveTo>
                <a:lnTo>
                  <a:pt x="639667" y="0"/>
                </a:lnTo>
                <a:lnTo>
                  <a:pt x="639667" y="6733336"/>
                </a:lnTo>
                <a:lnTo>
                  <a:pt x="0" y="6733336"/>
                </a:lnTo>
                <a:lnTo>
                  <a:pt x="0" y="0"/>
                </a:lnTo>
                <a:close/>
              </a:path>
            </a:pathLst>
          </a:custGeom>
          <a:blipFill>
            <a:blip r:embed="rId2"/>
            <a:stretch>
              <a:fillRect l="0" t="0" r="0" b="0"/>
            </a:stretch>
          </a:blipFill>
        </p:spPr>
      </p:sp>
      <p:sp>
        <p:nvSpPr>
          <p:cNvPr name="Freeform 9" id="9"/>
          <p:cNvSpPr/>
          <p:nvPr/>
        </p:nvSpPr>
        <p:spPr>
          <a:xfrm flipH="false" flipV="false" rot="0">
            <a:off x="14405884" y="8432643"/>
            <a:ext cx="4581937" cy="2915257"/>
          </a:xfrm>
          <a:custGeom>
            <a:avLst/>
            <a:gdLst/>
            <a:ahLst/>
            <a:cxnLst/>
            <a:rect r="r" b="b" t="t" l="l"/>
            <a:pathLst>
              <a:path h="2915257" w="4581937">
                <a:moveTo>
                  <a:pt x="0" y="0"/>
                </a:moveTo>
                <a:lnTo>
                  <a:pt x="4581937" y="0"/>
                </a:lnTo>
                <a:lnTo>
                  <a:pt x="4581937" y="2915257"/>
                </a:lnTo>
                <a:lnTo>
                  <a:pt x="0" y="2915257"/>
                </a:lnTo>
                <a:lnTo>
                  <a:pt x="0" y="0"/>
                </a:lnTo>
                <a:close/>
              </a:path>
            </a:pathLst>
          </a:custGeom>
          <a:blipFill>
            <a:blip r:embed="rId3"/>
            <a:stretch>
              <a:fillRect l="0" t="0" r="0" b="0"/>
            </a:stretch>
          </a:blipFill>
        </p:spPr>
      </p:sp>
      <p:sp>
        <p:nvSpPr>
          <p:cNvPr name="Freeform 10" id="10"/>
          <p:cNvSpPr/>
          <p:nvPr/>
        </p:nvSpPr>
        <p:spPr>
          <a:xfrm flipH="false" flipV="false" rot="0">
            <a:off x="14914129" y="-638524"/>
            <a:ext cx="4278089" cy="2561506"/>
          </a:xfrm>
          <a:custGeom>
            <a:avLst/>
            <a:gdLst/>
            <a:ahLst/>
            <a:cxnLst/>
            <a:rect r="r" b="b" t="t" l="l"/>
            <a:pathLst>
              <a:path h="2561506" w="4278089">
                <a:moveTo>
                  <a:pt x="0" y="0"/>
                </a:moveTo>
                <a:lnTo>
                  <a:pt x="4278089" y="0"/>
                </a:lnTo>
                <a:lnTo>
                  <a:pt x="4278089" y="2561506"/>
                </a:lnTo>
                <a:lnTo>
                  <a:pt x="0" y="2561506"/>
                </a:lnTo>
                <a:lnTo>
                  <a:pt x="0" y="0"/>
                </a:lnTo>
                <a:close/>
              </a:path>
            </a:pathLst>
          </a:custGeom>
          <a:blipFill>
            <a:blip r:embed="rId4"/>
            <a:stretch>
              <a:fillRect l="0" t="0" r="0" b="0"/>
            </a:stretch>
          </a:blipFill>
        </p:spPr>
      </p:sp>
      <p:sp>
        <p:nvSpPr>
          <p:cNvPr name="TextBox 11" id="11"/>
          <p:cNvSpPr txBox="true"/>
          <p:nvPr/>
        </p:nvSpPr>
        <p:spPr>
          <a:xfrm rot="0">
            <a:off x="4995148" y="1669791"/>
            <a:ext cx="8297704" cy="1154521"/>
          </a:xfrm>
          <a:prstGeom prst="rect">
            <a:avLst/>
          </a:prstGeom>
        </p:spPr>
        <p:txBody>
          <a:bodyPr anchor="t" rtlCol="false" tIns="0" lIns="0" bIns="0" rIns="0">
            <a:spAutoFit/>
          </a:bodyPr>
          <a:lstStyle/>
          <a:p>
            <a:pPr algn="ctr" marL="0" indent="0" lvl="0">
              <a:lnSpc>
                <a:spcPts val="6481"/>
              </a:lnSpc>
            </a:pPr>
            <a:r>
              <a:rPr lang="en-US" b="true" sz="8101" spc="-356">
                <a:solidFill>
                  <a:srgbClr val="000000"/>
                </a:solidFill>
                <a:latin typeface="Agrandir Bold"/>
                <a:ea typeface="Agrandir Bold"/>
                <a:cs typeface="Agrandir Bold"/>
                <a:sym typeface="Agrandir Bold"/>
              </a:rPr>
              <a:t>Data Preparation</a:t>
            </a:r>
          </a:p>
        </p:txBody>
      </p:sp>
      <p:sp>
        <p:nvSpPr>
          <p:cNvPr name="TextBox 12" id="12"/>
          <p:cNvSpPr txBox="true"/>
          <p:nvPr/>
        </p:nvSpPr>
        <p:spPr>
          <a:xfrm rot="0">
            <a:off x="3461492" y="6203065"/>
            <a:ext cx="11365016" cy="1810229"/>
          </a:xfrm>
          <a:prstGeom prst="rect">
            <a:avLst/>
          </a:prstGeom>
        </p:spPr>
        <p:txBody>
          <a:bodyPr anchor="t" rtlCol="false" tIns="0" lIns="0" bIns="0" rIns="0">
            <a:spAutoFit/>
          </a:bodyPr>
          <a:lstStyle/>
          <a:p>
            <a:pPr algn="just" marL="0" indent="0" lvl="0">
              <a:lnSpc>
                <a:spcPts val="3648"/>
              </a:lnSpc>
            </a:pPr>
            <a:r>
              <a:rPr lang="en-US" sz="2606" spc="-88">
                <a:solidFill>
                  <a:srgbClr val="000000"/>
                </a:solidFill>
                <a:latin typeface="DM Sans"/>
                <a:ea typeface="DM Sans"/>
                <a:cs typeface="DM Sans"/>
                <a:sym typeface="DM Sans"/>
              </a:rPr>
              <a:t>Feature engineering involved extracting hour-of-day, day-of-week, and peak/off-peak labels from timestamps. Route direction and stop sequence were encoded as categorical features. The final structured dataset was validated for consistency and split into training and testing subsets for model input.</a:t>
            </a:r>
          </a:p>
        </p:txBody>
      </p:sp>
      <p:sp>
        <p:nvSpPr>
          <p:cNvPr name="TextBox 13" id="13"/>
          <p:cNvSpPr txBox="true"/>
          <p:nvPr/>
        </p:nvSpPr>
        <p:spPr>
          <a:xfrm rot="0">
            <a:off x="3468636" y="4030949"/>
            <a:ext cx="11357873" cy="1810229"/>
          </a:xfrm>
          <a:prstGeom prst="rect">
            <a:avLst/>
          </a:prstGeom>
        </p:spPr>
        <p:txBody>
          <a:bodyPr anchor="t" rtlCol="false" tIns="0" lIns="0" bIns="0" rIns="0">
            <a:spAutoFit/>
          </a:bodyPr>
          <a:lstStyle/>
          <a:p>
            <a:pPr algn="just" marL="0" indent="0" lvl="0">
              <a:lnSpc>
                <a:spcPts val="3648"/>
              </a:lnSpc>
            </a:pPr>
            <a:r>
              <a:rPr lang="en-US" sz="2606" spc="-88">
                <a:solidFill>
                  <a:srgbClr val="000000"/>
                </a:solidFill>
                <a:latin typeface="DM Sans"/>
                <a:ea typeface="DM Sans"/>
                <a:cs typeface="DM Sans"/>
                <a:sym typeface="DM Sans"/>
              </a:rPr>
              <a:t>Raw transport data was cleaned and structured for analysis. Steps included removing duplicate trip records, handling missing passenger counts and stop identifiers, and standardizing time formats (HH:MM:SS) across all route logs. Outliers in passenger load data were filtered using IQR-based thresholds.</a:t>
            </a:r>
          </a:p>
        </p:txBody>
      </p:sp>
      <p:sp>
        <p:nvSpPr>
          <p:cNvPr name="Freeform 14" id="14"/>
          <p:cNvSpPr/>
          <p:nvPr/>
        </p:nvSpPr>
        <p:spPr>
          <a:xfrm flipH="false" flipV="false" rot="0">
            <a:off x="-1736828" y="-3287832"/>
            <a:ext cx="2846927" cy="17519552"/>
          </a:xfrm>
          <a:custGeom>
            <a:avLst/>
            <a:gdLst/>
            <a:ahLst/>
            <a:cxnLst/>
            <a:rect r="r" b="b" t="t" l="l"/>
            <a:pathLst>
              <a:path h="17519552" w="2846927">
                <a:moveTo>
                  <a:pt x="0" y="0"/>
                </a:moveTo>
                <a:lnTo>
                  <a:pt x="2846927" y="0"/>
                </a:lnTo>
                <a:lnTo>
                  <a:pt x="2846927" y="17519553"/>
                </a:lnTo>
                <a:lnTo>
                  <a:pt x="0" y="17519553"/>
                </a:lnTo>
                <a:lnTo>
                  <a:pt x="0" y="0"/>
                </a:lnTo>
                <a:close/>
              </a:path>
            </a:pathLst>
          </a:custGeom>
          <a:blipFill>
            <a:blip r:embed="rId5"/>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69791"/>
            <a:ext cx="8297704" cy="1195730"/>
          </a:xfrm>
          <a:prstGeom prst="rect">
            <a:avLst/>
          </a:prstGeom>
        </p:spPr>
        <p:txBody>
          <a:bodyPr anchor="t" rtlCol="false" tIns="0" lIns="0" bIns="0" rIns="0">
            <a:spAutoFit/>
          </a:bodyPr>
          <a:lstStyle/>
          <a:p>
            <a:pPr algn="ctr" marL="0" indent="0" lvl="0">
              <a:lnSpc>
                <a:spcPts val="6680"/>
              </a:lnSpc>
            </a:pPr>
            <a:r>
              <a:rPr lang="en-US" b="true" sz="8350" spc="-367">
                <a:solidFill>
                  <a:srgbClr val="000000"/>
                </a:solidFill>
                <a:latin typeface="Agrandir Bold"/>
                <a:ea typeface="Agrandir Bold"/>
                <a:cs typeface="Agrandir Bold"/>
                <a:sym typeface="Agrandir Bold"/>
              </a:rPr>
              <a:t>Demand Analysis</a:t>
            </a:r>
          </a:p>
        </p:txBody>
      </p:sp>
      <p:pic>
        <p:nvPicPr>
          <p:cNvPr name="Picture 13" id="13"/>
          <p:cNvPicPr>
            <a:picLocks noChangeAspect="true"/>
          </p:cNvPicPr>
          <p:nvPr/>
        </p:nvPicPr>
        <p:blipFill>
          <a:blip r:embed="rId8"/>
          <a:stretch>
            <a:fillRect/>
          </a:stretch>
        </p:blipFill>
        <p:spPr>
          <a:xfrm rot="0">
            <a:off x="9943066" y="3484829"/>
            <a:ext cx="5867137" cy="4806865"/>
          </a:xfrm>
          <a:prstGeom prst="rect">
            <a:avLst/>
          </a:prstGeom>
        </p:spPr>
      </p:pic>
      <p:sp>
        <p:nvSpPr>
          <p:cNvPr name="TextBox 14" id="14"/>
          <p:cNvSpPr txBox="true"/>
          <p:nvPr/>
        </p:nvSpPr>
        <p:spPr>
          <a:xfrm rot="0">
            <a:off x="2715202" y="4596463"/>
            <a:ext cx="6030290" cy="2896433"/>
          </a:xfrm>
          <a:prstGeom prst="rect">
            <a:avLst/>
          </a:prstGeom>
        </p:spPr>
        <p:txBody>
          <a:bodyPr anchor="t" rtlCol="false" tIns="0" lIns="0" bIns="0" rIns="0">
            <a:spAutoFit/>
          </a:bodyPr>
          <a:lstStyle/>
          <a:p>
            <a:pPr algn="just" marL="0" indent="0" lvl="0">
              <a:lnSpc>
                <a:spcPts val="2579"/>
              </a:lnSpc>
            </a:pPr>
            <a:r>
              <a:rPr lang="en-US" sz="1842" spc="-62">
                <a:solidFill>
                  <a:srgbClr val="000000"/>
                </a:solidFill>
                <a:latin typeface="DM Sans"/>
                <a:ea typeface="DM Sans"/>
                <a:cs typeface="DM Sans"/>
                <a:sym typeface="DM Sans"/>
              </a:rPr>
              <a:t>Route-wise analysis reveals that Routes 500C, 401G, and 335E record the highest average daily passenger loads, exceeding 1,200 boardings per trip during peak windows. Time-wise demand shows sharp spikes between 8–10 AM and 5–8 PM, with off-peak hours (11 AM–3 PM) showing 40–60% lower ridership. Weekend patterns differ significantly, with leisure routes peaking later in the day. These demand variations form the basis for predictive modelling in the next phase.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C8DDFD"/>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50741"/>
            <a:ext cx="8297704" cy="816708"/>
          </a:xfrm>
          <a:prstGeom prst="rect">
            <a:avLst/>
          </a:prstGeom>
        </p:spPr>
        <p:txBody>
          <a:bodyPr anchor="t" rtlCol="false" tIns="0" lIns="0" bIns="0" rIns="0">
            <a:spAutoFit/>
          </a:bodyPr>
          <a:lstStyle/>
          <a:p>
            <a:pPr algn="ctr" marL="0" indent="0" lvl="0">
              <a:lnSpc>
                <a:spcPts val="4611"/>
              </a:lnSpc>
            </a:pPr>
            <a:r>
              <a:rPr lang="en-US" b="true" sz="5764" spc="-253">
                <a:solidFill>
                  <a:srgbClr val="000000"/>
                </a:solidFill>
                <a:latin typeface="Agrandir Bold"/>
                <a:ea typeface="Agrandir Bold"/>
                <a:cs typeface="Agrandir Bold"/>
                <a:sym typeface="Agrandir Bold"/>
              </a:rPr>
              <a:t>Prediction &amp; Forecasting</a:t>
            </a:r>
          </a:p>
        </p:txBody>
      </p:sp>
      <p:sp>
        <p:nvSpPr>
          <p:cNvPr name="TextBox 13" id="13"/>
          <p:cNvSpPr txBox="true"/>
          <p:nvPr/>
        </p:nvSpPr>
        <p:spPr>
          <a:xfrm rot="0">
            <a:off x="2724892" y="4577413"/>
            <a:ext cx="6030290" cy="2890381"/>
          </a:xfrm>
          <a:prstGeom prst="rect">
            <a:avLst/>
          </a:prstGeom>
        </p:spPr>
        <p:txBody>
          <a:bodyPr anchor="t" rtlCol="false" tIns="0" lIns="0" bIns="0" rIns="0">
            <a:spAutoFit/>
          </a:bodyPr>
          <a:lstStyle/>
          <a:p>
            <a:pPr algn="just" marL="0" indent="0" lvl="0">
              <a:lnSpc>
                <a:spcPts val="2912"/>
              </a:lnSpc>
            </a:pPr>
            <a:r>
              <a:rPr lang="en-US" sz="2080" spc="-70">
                <a:solidFill>
                  <a:srgbClr val="000000"/>
                </a:solidFill>
                <a:latin typeface="DM Sans"/>
                <a:ea typeface="DM Sans"/>
                <a:cs typeface="DM Sans"/>
                <a:sym typeface="DM Sans"/>
              </a:rPr>
              <a:t>A time-series forecasting model was applied to predict future passenger demand across Bengaluru bus routes. Peak periods were identified as 8–10 AM and 5–8 PM on weekdays. High-demand corridors showed 35% surge during peak hours. The pie chart illustrates demand share distribution across peak and off-peak windows, enabling smarter resource allocation and route scheduling.</a:t>
            </a:r>
          </a:p>
        </p:txBody>
      </p:sp>
      <p:pic>
        <p:nvPicPr>
          <p:cNvPr name="Picture 14" id="14"/>
          <p:cNvPicPr>
            <a:picLocks noChangeAspect="true"/>
          </p:cNvPicPr>
          <p:nvPr/>
        </p:nvPicPr>
        <p:blipFill>
          <a:blip r:embed="rId8"/>
          <a:stretch>
            <a:fillRect/>
          </a:stretch>
        </p:blipFill>
        <p:spPr>
          <a:xfrm rot="0">
            <a:off x="10921418" y="3842489"/>
            <a:ext cx="4742868" cy="4437947"/>
          </a:xfrm>
          <a:prstGeom prst="rect">
            <a:avLst/>
          </a:prstGeom>
        </p:spPr>
      </p:pic>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173320"/>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0">
            <a:off x="17445106" y="3383088"/>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4894180" y="8313555"/>
            <a:ext cx="4213489" cy="2750259"/>
          </a:xfrm>
          <a:custGeom>
            <a:avLst/>
            <a:gdLst/>
            <a:ahLst/>
            <a:cxnLst/>
            <a:rect r="r" b="b" t="t" l="l"/>
            <a:pathLst>
              <a:path h="2750259" w="4213489">
                <a:moveTo>
                  <a:pt x="0" y="0"/>
                </a:moveTo>
                <a:lnTo>
                  <a:pt x="4213489" y="0"/>
                </a:lnTo>
                <a:lnTo>
                  <a:pt x="4213489" y="2750259"/>
                </a:lnTo>
                <a:lnTo>
                  <a:pt x="0" y="27502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true" rot="0">
            <a:off x="14894180" y="-767346"/>
            <a:ext cx="4213489" cy="2750259"/>
          </a:xfrm>
          <a:custGeom>
            <a:avLst/>
            <a:gdLst/>
            <a:ahLst/>
            <a:cxnLst/>
            <a:rect r="r" b="b" t="t" l="l"/>
            <a:pathLst>
              <a:path h="2750259" w="4213489">
                <a:moveTo>
                  <a:pt x="0" y="2750259"/>
                </a:moveTo>
                <a:lnTo>
                  <a:pt x="4213489" y="2750259"/>
                </a:lnTo>
                <a:lnTo>
                  <a:pt x="4213489" y="0"/>
                </a:lnTo>
                <a:lnTo>
                  <a:pt x="0" y="0"/>
                </a:lnTo>
                <a:lnTo>
                  <a:pt x="0" y="275025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995148" y="1688841"/>
            <a:ext cx="8297704" cy="1349087"/>
          </a:xfrm>
          <a:prstGeom prst="rect">
            <a:avLst/>
          </a:prstGeom>
        </p:spPr>
        <p:txBody>
          <a:bodyPr anchor="t" rtlCol="false" tIns="0" lIns="0" bIns="0" rIns="0">
            <a:spAutoFit/>
          </a:bodyPr>
          <a:lstStyle/>
          <a:p>
            <a:pPr algn="ctr" marL="0" indent="0" lvl="0">
              <a:lnSpc>
                <a:spcPts val="7595"/>
              </a:lnSpc>
            </a:pPr>
            <a:r>
              <a:rPr lang="en-US" b="true" sz="9494" spc="-417">
                <a:solidFill>
                  <a:srgbClr val="000000"/>
                </a:solidFill>
                <a:latin typeface="Agrandir Bold"/>
                <a:ea typeface="Agrandir Bold"/>
                <a:cs typeface="Agrandir Bold"/>
                <a:sym typeface="Agrandir Bold"/>
              </a:rPr>
              <a:t>Key Insights</a:t>
            </a:r>
          </a:p>
        </p:txBody>
      </p:sp>
      <p:pic>
        <p:nvPicPr>
          <p:cNvPr name="Picture 13" id="13"/>
          <p:cNvPicPr>
            <a:picLocks noChangeAspect="true"/>
          </p:cNvPicPr>
          <p:nvPr/>
        </p:nvPicPr>
        <p:blipFill>
          <a:blip r:embed="rId8"/>
          <a:stretch>
            <a:fillRect/>
          </a:stretch>
        </p:blipFill>
        <p:spPr>
          <a:xfrm rot="0">
            <a:off x="9943066" y="3484829"/>
            <a:ext cx="5867137" cy="4806865"/>
          </a:xfrm>
          <a:prstGeom prst="rect">
            <a:avLst/>
          </a:prstGeom>
        </p:spPr>
      </p:pic>
      <p:sp>
        <p:nvSpPr>
          <p:cNvPr name="TextBox 14" id="14"/>
          <p:cNvSpPr txBox="true"/>
          <p:nvPr/>
        </p:nvSpPr>
        <p:spPr>
          <a:xfrm rot="0">
            <a:off x="2715202" y="4596463"/>
            <a:ext cx="6030290" cy="2896433"/>
          </a:xfrm>
          <a:prstGeom prst="rect">
            <a:avLst/>
          </a:prstGeom>
        </p:spPr>
        <p:txBody>
          <a:bodyPr anchor="t" rtlCol="false" tIns="0" lIns="0" bIns="0" rIns="0">
            <a:spAutoFit/>
          </a:bodyPr>
          <a:lstStyle/>
          <a:p>
            <a:pPr algn="just" marL="0" indent="0" lvl="0">
              <a:lnSpc>
                <a:spcPts val="2579"/>
              </a:lnSpc>
            </a:pPr>
            <a:r>
              <a:rPr lang="en-US" sz="1842" spc="-62">
                <a:solidFill>
                  <a:srgbClr val="000000"/>
                </a:solidFill>
                <a:latin typeface="DM Sans"/>
                <a:ea typeface="DM Sans"/>
                <a:cs typeface="DM Sans"/>
                <a:sym typeface="DM Sans"/>
              </a:rPr>
              <a:t>• Routes 5, 12 &amp; 18 consistently show highest passenger demand across all time windows.</a:t>
            </a:r>
          </a:p>
          <a:p>
            <a:pPr algn="just" marL="0" indent="0" lvl="0">
              <a:lnSpc>
                <a:spcPts val="2579"/>
              </a:lnSpc>
            </a:pPr>
            <a:r>
              <a:rPr lang="en-US" sz="1842" spc="-62">
                <a:solidFill>
                  <a:srgbClr val="000000"/>
                </a:solidFill>
                <a:latin typeface="DM Sans"/>
                <a:ea typeface="DM Sans"/>
                <a:cs typeface="DM Sans"/>
                <a:sym typeface="DM Sans"/>
              </a:rPr>
              <a:t>• Peak hours identified: 8–10 AM and 5–7 PM on weekdays.</a:t>
            </a:r>
          </a:p>
          <a:p>
            <a:pPr algn="just" marL="0" indent="0" lvl="0">
              <a:lnSpc>
                <a:spcPts val="2579"/>
              </a:lnSpc>
            </a:pPr>
            <a:r>
              <a:rPr lang="en-US" sz="1842" spc="-62">
                <a:solidFill>
                  <a:srgbClr val="000000"/>
                </a:solidFill>
                <a:latin typeface="DM Sans"/>
                <a:ea typeface="DM Sans"/>
                <a:cs typeface="DM Sans"/>
                <a:sym typeface="DM Sans"/>
              </a:rPr>
              <a:t>• Weekend demand drops ~35% vs. weekday averages on most routes.</a:t>
            </a:r>
          </a:p>
          <a:p>
            <a:pPr algn="just" marL="0" indent="0" lvl="0">
              <a:lnSpc>
                <a:spcPts val="2579"/>
              </a:lnSpc>
            </a:pPr>
            <a:r>
              <a:rPr lang="en-US" sz="1842" spc="-62">
                <a:solidFill>
                  <a:srgbClr val="000000"/>
                </a:solidFill>
                <a:latin typeface="DM Sans"/>
                <a:ea typeface="DM Sans"/>
                <a:cs typeface="DM Sans"/>
                <a:sym typeface="DM Sans"/>
              </a:rPr>
              <a:t>• Inbound city-center routes outperform outbound by 2.1× during morning peak.</a:t>
            </a:r>
          </a:p>
          <a:p>
            <a:pPr algn="just" marL="0" indent="0" lvl="0">
              <a:lnSpc>
                <a:spcPts val="2579"/>
              </a:lnSpc>
            </a:pPr>
            <a:r>
              <a:rPr lang="en-US" sz="1842" spc="-62">
                <a:solidFill>
                  <a:srgbClr val="000000"/>
                </a:solidFill>
                <a:latin typeface="DM Sans"/>
                <a:ea typeface="DM Sans"/>
                <a:cs typeface="DM Sans"/>
                <a:sym typeface="DM Sans"/>
              </a:rPr>
              <a:t>• Recurring demand spikes align with school and office zones along key corridors.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03030"/>
        </a:solidFill>
      </p:bgPr>
    </p:bg>
    <p:spTree>
      <p:nvGrpSpPr>
        <p:cNvPr id="1" name=""/>
        <p:cNvGrpSpPr/>
        <p:nvPr/>
      </p:nvGrpSpPr>
      <p:grpSpPr>
        <a:xfrm>
          <a:off x="0" y="0"/>
          <a:ext cx="0" cy="0"/>
          <a:chOff x="0" y="0"/>
          <a:chExt cx="0" cy="0"/>
        </a:xfrm>
      </p:grpSpPr>
      <p:grpSp>
        <p:nvGrpSpPr>
          <p:cNvPr name="Group 2" id="2"/>
          <p:cNvGrpSpPr/>
          <p:nvPr/>
        </p:nvGrpSpPr>
        <p:grpSpPr>
          <a:xfrm rot="0">
            <a:off x="1028700" y="-243205"/>
            <a:ext cx="16230600" cy="10773410"/>
            <a:chOff x="0" y="0"/>
            <a:chExt cx="4274726" cy="2837441"/>
          </a:xfrm>
        </p:grpSpPr>
        <p:sp>
          <p:nvSpPr>
            <p:cNvPr name="Freeform 3" id="3"/>
            <p:cNvSpPr/>
            <p:nvPr/>
          </p:nvSpPr>
          <p:spPr>
            <a:xfrm flipH="false" flipV="false" rot="0">
              <a:off x="0" y="0"/>
              <a:ext cx="4274726" cy="2837441"/>
            </a:xfrm>
            <a:custGeom>
              <a:avLst/>
              <a:gdLst/>
              <a:ahLst/>
              <a:cxnLst/>
              <a:rect r="r" b="b" t="t" l="l"/>
              <a:pathLst>
                <a:path h="2837441" w="4274726">
                  <a:moveTo>
                    <a:pt x="24327" y="0"/>
                  </a:moveTo>
                  <a:lnTo>
                    <a:pt x="4250399" y="0"/>
                  </a:lnTo>
                  <a:cubicBezTo>
                    <a:pt x="4263834" y="0"/>
                    <a:pt x="4274726" y="10891"/>
                    <a:pt x="4274726" y="24327"/>
                  </a:cubicBezTo>
                  <a:lnTo>
                    <a:pt x="4274726" y="2813114"/>
                  </a:lnTo>
                  <a:cubicBezTo>
                    <a:pt x="4274726" y="2826550"/>
                    <a:pt x="4263834" y="2837441"/>
                    <a:pt x="4250399" y="2837441"/>
                  </a:cubicBezTo>
                  <a:lnTo>
                    <a:pt x="24327" y="2837441"/>
                  </a:lnTo>
                  <a:cubicBezTo>
                    <a:pt x="10891" y="2837441"/>
                    <a:pt x="0" y="2826550"/>
                    <a:pt x="0" y="2813114"/>
                  </a:cubicBezTo>
                  <a:lnTo>
                    <a:pt x="0" y="24327"/>
                  </a:lnTo>
                  <a:cubicBezTo>
                    <a:pt x="0" y="10891"/>
                    <a:pt x="10891" y="0"/>
                    <a:pt x="24327" y="0"/>
                  </a:cubicBezTo>
                  <a:close/>
                </a:path>
              </a:pathLst>
            </a:custGeom>
            <a:solidFill>
              <a:srgbClr val="FFFFFF"/>
            </a:solidFill>
            <a:ln w="38100" cap="rnd">
              <a:solidFill>
                <a:srgbClr val="FDD56F"/>
              </a:solidFill>
              <a:prstDash val="solid"/>
              <a:round/>
            </a:ln>
          </p:spPr>
        </p:sp>
        <p:sp>
          <p:nvSpPr>
            <p:cNvPr name="TextBox 4" id="4"/>
            <p:cNvSpPr txBox="true"/>
            <p:nvPr/>
          </p:nvSpPr>
          <p:spPr>
            <a:xfrm>
              <a:off x="0" y="-38100"/>
              <a:ext cx="4274726" cy="2875541"/>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5400000">
            <a:off x="-6768597" y="2628077"/>
            <a:ext cx="11422547" cy="5030847"/>
            <a:chOff x="0" y="0"/>
            <a:chExt cx="3008407" cy="1324997"/>
          </a:xfrm>
        </p:grpSpPr>
        <p:sp>
          <p:nvSpPr>
            <p:cNvPr name="Freeform 6" id="6"/>
            <p:cNvSpPr/>
            <p:nvPr/>
          </p:nvSpPr>
          <p:spPr>
            <a:xfrm flipH="false" flipV="false" rot="0">
              <a:off x="0" y="0"/>
              <a:ext cx="3008407" cy="1324997"/>
            </a:xfrm>
            <a:custGeom>
              <a:avLst/>
              <a:gdLst/>
              <a:ahLst/>
              <a:cxnLst/>
              <a:rect r="r" b="b" t="t" l="l"/>
              <a:pathLst>
                <a:path h="1324997" w="3008407">
                  <a:moveTo>
                    <a:pt x="0" y="0"/>
                  </a:moveTo>
                  <a:lnTo>
                    <a:pt x="3008407" y="0"/>
                  </a:lnTo>
                  <a:lnTo>
                    <a:pt x="3008407" y="1324997"/>
                  </a:lnTo>
                  <a:lnTo>
                    <a:pt x="0" y="1324997"/>
                  </a:lnTo>
                  <a:close/>
                </a:path>
              </a:pathLst>
            </a:custGeom>
            <a:solidFill>
              <a:srgbClr val="FDD56F"/>
            </a:solidFill>
          </p:spPr>
        </p:sp>
        <p:sp>
          <p:nvSpPr>
            <p:cNvPr name="TextBox 7" id="7"/>
            <p:cNvSpPr txBox="true"/>
            <p:nvPr/>
          </p:nvSpPr>
          <p:spPr>
            <a:xfrm>
              <a:off x="0" y="-38100"/>
              <a:ext cx="3008407" cy="1363097"/>
            </a:xfrm>
            <a:prstGeom prst="rect">
              <a:avLst/>
            </a:prstGeom>
          </p:spPr>
          <p:txBody>
            <a:bodyPr anchor="ctr" rtlCol="false" tIns="50800" lIns="50800" bIns="50800" rIns="50800"/>
            <a:lstStyle/>
            <a:p>
              <a:pPr algn="ctr" marL="0" indent="0" lvl="0">
                <a:lnSpc>
                  <a:spcPts val="2659"/>
                </a:lnSpc>
              </a:pPr>
            </a:p>
          </p:txBody>
        </p:sp>
      </p:grpSp>
      <p:sp>
        <p:nvSpPr>
          <p:cNvPr name="Freeform 8" id="8"/>
          <p:cNvSpPr/>
          <p:nvPr/>
        </p:nvSpPr>
        <p:spPr>
          <a:xfrm flipH="false" flipV="false" rot="5400000">
            <a:off x="8471887" y="6200247"/>
            <a:ext cx="673331" cy="4114800"/>
          </a:xfrm>
          <a:custGeom>
            <a:avLst/>
            <a:gdLst/>
            <a:ahLst/>
            <a:cxnLst/>
            <a:rect r="r" b="b" t="t" l="l"/>
            <a:pathLst>
              <a:path h="4114800" w="673331">
                <a:moveTo>
                  <a:pt x="0" y="0"/>
                </a:moveTo>
                <a:lnTo>
                  <a:pt x="673331" y="0"/>
                </a:lnTo>
                <a:lnTo>
                  <a:pt x="67333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731957" y="3383088"/>
            <a:ext cx="2760657" cy="4114800"/>
          </a:xfrm>
          <a:custGeom>
            <a:avLst/>
            <a:gdLst/>
            <a:ahLst/>
            <a:cxnLst/>
            <a:rect r="r" b="b" t="t" l="l"/>
            <a:pathLst>
              <a:path h="4114800" w="2760657">
                <a:moveTo>
                  <a:pt x="0" y="0"/>
                </a:moveTo>
                <a:lnTo>
                  <a:pt x="2760657" y="0"/>
                </a:lnTo>
                <a:lnTo>
                  <a:pt x="2760657" y="4114800"/>
                </a:lnTo>
                <a:lnTo>
                  <a:pt x="0" y="41148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2754150" y="3604371"/>
            <a:ext cx="12779699" cy="2236596"/>
          </a:xfrm>
          <a:prstGeom prst="rect">
            <a:avLst/>
          </a:prstGeom>
        </p:spPr>
        <p:txBody>
          <a:bodyPr anchor="t" rtlCol="false" tIns="0" lIns="0" bIns="0" rIns="0">
            <a:spAutoFit/>
          </a:bodyPr>
          <a:lstStyle/>
          <a:p>
            <a:pPr algn="ctr" marL="0" indent="0" lvl="0">
              <a:lnSpc>
                <a:spcPts val="7321"/>
              </a:lnSpc>
            </a:pPr>
            <a:r>
              <a:rPr lang="en-US" b="true" sz="9152" spc="-402">
                <a:solidFill>
                  <a:srgbClr val="000000"/>
                </a:solidFill>
                <a:latin typeface="Agrandir Bold"/>
                <a:ea typeface="Agrandir Bold"/>
                <a:cs typeface="Agrandir Bold"/>
                <a:sym typeface="Agrandir Bold"/>
              </a:rPr>
              <a:t>Conclusion &amp; Future Scope</a:t>
            </a:r>
          </a:p>
        </p:txBody>
      </p:sp>
      <p:sp>
        <p:nvSpPr>
          <p:cNvPr name="TextBox 11" id="11"/>
          <p:cNvSpPr txBox="true"/>
          <p:nvPr/>
        </p:nvSpPr>
        <p:spPr>
          <a:xfrm rot="0">
            <a:off x="4243940" y="5927553"/>
            <a:ext cx="9800119" cy="786267"/>
          </a:xfrm>
          <a:prstGeom prst="rect">
            <a:avLst/>
          </a:prstGeom>
        </p:spPr>
        <p:txBody>
          <a:bodyPr anchor="t" rtlCol="false" tIns="0" lIns="0" bIns="0" rIns="0">
            <a:spAutoFit/>
          </a:bodyPr>
          <a:lstStyle/>
          <a:p>
            <a:pPr algn="ctr" marL="0" indent="0" lvl="0">
              <a:lnSpc>
                <a:spcPts val="2080"/>
              </a:lnSpc>
            </a:pPr>
            <a:r>
              <a:rPr lang="en-US" b="true" sz="2080" spc="-91">
                <a:solidFill>
                  <a:srgbClr val="000000"/>
                </a:solidFill>
                <a:latin typeface="DM Sans Bold"/>
                <a:ea typeface="DM Sans Bold"/>
                <a:cs typeface="DM Sans Bold"/>
                <a:sym typeface="DM Sans Bold"/>
              </a:rPr>
              <a:t>Demand prediction enables smarter, data-driven transport planning for Bengaluru.</a:t>
            </a:r>
          </a:p>
          <a:p>
            <a:pPr algn="ctr" marL="0" indent="0" lvl="0">
              <a:lnSpc>
                <a:spcPts val="2080"/>
              </a:lnSpc>
            </a:pPr>
            <a:r>
              <a:rPr lang="en-US" b="true" sz="2080" spc="-91">
                <a:solidFill>
                  <a:srgbClr val="000000"/>
                </a:solidFill>
                <a:latin typeface="DM Sans Bold"/>
                <a:ea typeface="DM Sans Bold"/>
                <a:cs typeface="DM Sans Bold"/>
                <a:sym typeface="DM Sans Bold"/>
              </a:rPr>
              <a:t>Future scope: real-time data integration, deep learning models &amp; dynamic route optimization.</a:t>
            </a:r>
          </a:p>
        </p:txBody>
      </p:sp>
      <p:sp>
        <p:nvSpPr>
          <p:cNvPr name="Freeform 12" id="12"/>
          <p:cNvSpPr/>
          <p:nvPr/>
        </p:nvSpPr>
        <p:spPr>
          <a:xfrm flipH="true" flipV="true" rot="0">
            <a:off x="17727341" y="3383088"/>
            <a:ext cx="2760657" cy="4114800"/>
          </a:xfrm>
          <a:custGeom>
            <a:avLst/>
            <a:gdLst/>
            <a:ahLst/>
            <a:cxnLst/>
            <a:rect r="r" b="b" t="t" l="l"/>
            <a:pathLst>
              <a:path h="4114800" w="2760657">
                <a:moveTo>
                  <a:pt x="2760657" y="4114800"/>
                </a:moveTo>
                <a:lnTo>
                  <a:pt x="0" y="4114800"/>
                </a:lnTo>
                <a:lnTo>
                  <a:pt x="0" y="0"/>
                </a:lnTo>
                <a:lnTo>
                  <a:pt x="2760657" y="0"/>
                </a:lnTo>
                <a:lnTo>
                  <a:pt x="2760657"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DAHU0tG7OOw</dc:identifier>
  <dcterms:modified xsi:type="dcterms:W3CDTF">2011-08-01T06:04:30Z</dcterms:modified>
  <cp:revision>1</cp:revision>
  <dc:title>Milestone 3</dc:title>
</cp:coreProperties>
</file>